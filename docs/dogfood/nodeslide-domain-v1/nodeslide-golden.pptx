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NodeSlide / 01. Keep the spoken transition focused on “Build the story. Keep every decision editable.”
Evidence note: Content is based on the supplied creation brief. Illustrative examples are not independently verified; replace them with measured evidence before external publication.
NodeSlide sources
[source_fe3f18f3463dcd91585199a0d62f9eff]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Scenario / 02. Keep the spoken transition focused on “Keep source context attached as the story moves.”
Evidence note: Content is based on the supplied creation brief. Illustrative examples are not independently verified; replace them with measured evidence before external publication.
NodeSlide sources
[source_fe3f18f3463dcd91585199a0d62f9eff] NodeSlide product brief
Citation: Show how NodeSlide turns presentation work into a traceable, editable, reviewable system.
Disclaimer: Internal working material
[source_cdf31d0bdc30c453c8c14d285e0f87bf] Golden workflow scenario
Citation: Qualitative product-workflow scenario for demonstrating NodeSlide; no measured customer benchmark is claimed.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Foundation / 03. Keep the spoken transition focused on “Structure turns a visual artifact into an operating surface.”
Evidence note: Content is based on the supplied creation brief. Illustrative examples are not independently verified; replace them with measured evidence before external publication.
NodeSlide sources
[source_fe3f18f3463dcd91585199a0d62f9eff]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Workflow / 04. Keep the spoken transition focused on “Plan → propose → commit, with scope checked at every boundary.”
Evidence note: Content is based on the supplied creation brief. Illustrative examples are not independently verified; replace them with measured evidence before external publication.
NodeSlide sources
[source_fe3f18f3463dcd91585199a0d62f9eff]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Proof / 05. Keep the spoken transition focused on “A beautiful deck still needs deterministic gates.”
Evidence note: Content is based on the supplied creation brief. Illustrative examples are not independently verified; replace them with measured evidence before external publication.
NodeSlide sources
[source_fe3f18f3463dcd91585199a0d62f9eff] NodeSlide product brief
Citation: Show how NodeSlide turns presentation work into a traceable, editable, reviewable system.
Disclaimer: Internal working material
[source_cdf31d0bdc30c453c8c14d285e0f87bf] Golden workflow scenario
Citation: Qualitative product-workflow scenario for demonstrating NodeSlide; no measured customer benchmark is claimed.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Trust / 06. Keep the spoken transition focused on “Comments become context. Patches remain choices.”
Evidence note: Content is based on the supplied creation brief. Illustrative examples are not independently verified; replace them with measured evidence before external publication.
NodeSlide sources
[source_fe3f18f3463dcd91585199a0d62f9eff]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Next / 07. Keep the spoken transition focused on “Move at presentation speed without giving up engineering-grade trust.”
Evidence note: Content is based on the supplied creation brief. Illustrative examples are not independently verified; replace them with measured evidence before external publication.
NodeSlide sources
[source_fe3f18f3463dcd91585199a0d62f9eff]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53b47f7716ac7ee776b60dc98b6c44a3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66e80d5e2b81ef916f8835f547d706d3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/ 01</a:t>
            </a:r>
            <a:endParaRPr lang="en-US" sz="1500" dirty="0"/>
          </a:p>
        </p:txBody>
      </p:sp>
      <p:sp>
        <p:nvSpPr>
          <p:cNvPr id="4" name="element_349c18e5b264cb65bae0730d88074d1c"/>
          <p:cNvSpPr txBox="1"/>
          <p:nvPr/>
        </p:nvSpPr>
        <p:spPr>
          <a:xfrm>
            <a:off x="853419" y="1028700"/>
            <a:ext cx="9631439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Build the story. Keep every decision editable.</a:t>
            </a:r>
            <a:endParaRPr lang="en-US" sz="4800" dirty="0"/>
          </a:p>
        </p:txBody>
      </p:sp>
      <p:sp>
        <p:nvSpPr>
          <p:cNvPr id="5" name="element_f7c0240db9c7ebd58b411e85a657754f"/>
          <p:cNvSpPr txBox="1"/>
          <p:nvPr/>
        </p:nvSpPr>
        <p:spPr>
          <a:xfrm>
            <a:off x="853419" y="3291840"/>
            <a:ext cx="8046519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NodeSlide treats a deck as a typed system: narrative, geometry, sources, comments, and changes stay connected from first brief to final room.</a:t>
            </a:r>
            <a:endParaRPr lang="en-US" sz="1900" dirty="0"/>
          </a:p>
        </p:txBody>
      </p:sp>
      <p:sp>
        <p:nvSpPr>
          <p:cNvPr id="6" name="element_d1bdecc8294567284b5905502c7a7c41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Structured canvas</a:t>
            </a:r>
            <a:endParaRPr lang="en-US" sz="1600" dirty="0"/>
          </a:p>
        </p:txBody>
      </p:sp>
      <p:sp>
        <p:nvSpPr>
          <p:cNvPr id="7" name="element_2e4f2c69c89f5d8b8e430a46fb18de26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Guarded edits</a:t>
            </a:r>
            <a:endParaRPr lang="en-US" sz="1600" dirty="0"/>
          </a:p>
        </p:txBody>
      </p:sp>
      <p:sp>
        <p:nvSpPr>
          <p:cNvPr id="8" name="element_71a52c1059eb45d6c2cdf88dc6fc4857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Traceable claims</a:t>
            </a:r>
            <a:endParaRPr lang="en-US" sz="1600" dirty="0"/>
          </a:p>
        </p:txBody>
      </p:sp>
      <p:sp>
        <p:nvSpPr>
          <p:cNvPr id="9" name="element_9aa0ef692abcc00b9331a3ead8fe1f7b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d4b8594043f56a9be200a1b811f8d83d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cbcc8de14cb7481c51229c1af336a05f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832b2226326dc765766ed6882c405f61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SCENARIO / 02</a:t>
            </a:r>
            <a:endParaRPr lang="en-US" sz="1500" dirty="0"/>
          </a:p>
        </p:txBody>
      </p:sp>
      <p:sp>
        <p:nvSpPr>
          <p:cNvPr id="4" name="element_2a053b0990de5a774a4dba0578cda7da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Keep source context attached as the story moves.</a:t>
            </a:r>
            <a:endParaRPr lang="en-US" sz="3800" dirty="0"/>
          </a:p>
        </p:txBody>
      </p:sp>
      <p:sp>
        <p:nvSpPr>
          <p:cNvPr id="5" name="element_40334008af738053147f12e7af8f088c"/>
          <p:cNvSpPr txBox="1"/>
          <p:nvPr/>
        </p:nvSpPr>
        <p:spPr>
          <a:xfrm>
            <a:off x="853419" y="2743200"/>
            <a:ext cx="47547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This golden scenario focuses on one design goal: keep copy, layout, citations, and feedback connected through drafting, review, revision, and handoff.</a:t>
            </a:r>
            <a:endParaRPr lang="en-US" sz="1900" dirty="0"/>
          </a:p>
        </p:txBody>
      </p:sp>
      <p:sp>
        <p:nvSpPr>
          <p:cNvPr id="6" name="element_4e167ccdb490292c7b0fba15a315ecef"/>
          <p:cNvSpPr txBox="1"/>
          <p:nvPr/>
        </p:nvSpPr>
        <p:spPr>
          <a:xfrm>
            <a:off x="853419" y="425196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Draft with source context</a:t>
            </a:r>
            <a:endParaRPr lang="en-US" sz="1700" dirty="0"/>
          </a:p>
        </p:txBody>
      </p:sp>
      <p:sp>
        <p:nvSpPr>
          <p:cNvPr id="7" name="element_bd69d5283543b3fb21ae6483a302d4d7"/>
          <p:cNvSpPr txBox="1"/>
          <p:nvPr/>
        </p:nvSpPr>
        <p:spPr>
          <a:xfrm>
            <a:off x="853419" y="507492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Review on stable anchors</a:t>
            </a:r>
            <a:endParaRPr lang="en-US" sz="1700" dirty="0"/>
          </a:p>
        </p:txBody>
      </p:sp>
      <p:sp>
        <p:nvSpPr>
          <p:cNvPr id="8" name="element_c7fbd294d269b565c5f2bcae80df495b"/>
          <p:cNvSpPr txBox="1"/>
          <p:nvPr/>
        </p:nvSpPr>
        <p:spPr>
          <a:xfrm>
            <a:off x="853419" y="589788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Hand off editable structure</a:t>
            </a:r>
            <a:endParaRPr lang="en-US" sz="1700" dirty="0"/>
          </a:p>
        </p:txBody>
      </p:sp>
      <p:sp>
        <p:nvSpPr>
          <p:cNvPr id="9" name="element_4d99e843358969f04da70874256da0b1"/>
          <p:cNvSpPr txBox="1"/>
          <p:nvPr/>
        </p:nvSpPr>
        <p:spPr>
          <a:xfrm>
            <a:off x="6827349" y="2811780"/>
            <a:ext cx="4145176" cy="1028700"/>
          </a:xfrm>
          <a:prstGeom prst="rect">
            <a:avLst/>
          </a:prstGeom>
          <a:noFill/>
          <a:ln/>
        </p:spPr>
        <p:txBody>
          <a:bodyPr wrap="square" lIns="254000" tIns="254000" rIns="254000" bIns="2540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34452C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CONTEXT</a:t>
            </a:r>
            <a:endParaRPr lang="en-US" sz="4300" dirty="0"/>
          </a:p>
        </p:txBody>
      </p:sp>
      <p:sp>
        <p:nvSpPr>
          <p:cNvPr id="10" name="element_225bc32d00a91bbe4b5d246eb1aa26d1"/>
          <p:cNvSpPr txBox="1"/>
          <p:nvPr/>
        </p:nvSpPr>
        <p:spPr>
          <a:xfrm>
            <a:off x="7193100" y="3977640"/>
            <a:ext cx="353559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Qualitative workflow label — not a measured benchmark</a:t>
            </a:r>
            <a:endParaRPr lang="en-US" sz="1500" dirty="0"/>
          </a:p>
        </p:txBody>
      </p:sp>
      <p:sp>
        <p:nvSpPr>
          <p:cNvPr id="11" name="element_c13faa5abad08aecc5282aed3dc1f672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2" name="element_7d3cbd704f6c42e0ec9efe2f5cb50a8a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3647a6b20b587bdbb12ae59305dee26b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43fd065848fe8d854b5a4ae14bcf6686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FOUNDATION / 03</a:t>
            </a:r>
            <a:endParaRPr lang="en-US" sz="1500" dirty="0"/>
          </a:p>
        </p:txBody>
      </p:sp>
      <p:sp>
        <p:nvSpPr>
          <p:cNvPr id="4" name="element_6d402bdba9ed12a19bd42efc3fc9bd1e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Structure turns a visual artifact into an operating surface.</a:t>
            </a:r>
            <a:endParaRPr lang="en-US" sz="3800" dirty="0"/>
          </a:p>
        </p:txBody>
      </p:sp>
      <p:sp>
        <p:nvSpPr>
          <p:cNvPr id="5" name="element_db2264064c280e50d2eb7751d12ad471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Slides and elements carry stable IDs, normalized geometry, source links, export capability, locks, and independent versions.</a:t>
            </a:r>
            <a:endParaRPr lang="en-US" sz="1900" dirty="0"/>
          </a:p>
        </p:txBody>
      </p:sp>
      <p:sp>
        <p:nvSpPr>
          <p:cNvPr id="6" name="element_2a2624b7e1e658b405bc07bb10b5cee3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Stable IDs survive every view</a:t>
            </a:r>
            <a:endParaRPr lang="en-US" sz="1700" dirty="0"/>
          </a:p>
        </p:txBody>
      </p:sp>
      <p:sp>
        <p:nvSpPr>
          <p:cNvPr id="7" name="element_bd7374a44f1ec979fdd8f069c158da7c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Normalized boxes travel across renderers</a:t>
            </a:r>
            <a:endParaRPr lang="en-US" sz="1700" dirty="0"/>
          </a:p>
        </p:txBody>
      </p:sp>
      <p:sp>
        <p:nvSpPr>
          <p:cNvPr id="8" name="element_0d534e0069da27efafdd1bf9b5430ca4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Locks protect intent</a:t>
            </a:r>
            <a:endParaRPr lang="en-US" sz="1700" dirty="0"/>
          </a:p>
        </p:txBody>
      </p:sp>
      <p:sp>
        <p:nvSpPr>
          <p:cNvPr id="9" name="element_fc8710ce90ca0f1dec56695b94ce2d21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ba0cb98647b302edc5c2fb15794534d7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1c1be18343a0f638d3b0588a8b7f3124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40f2507663d2717ac27a77f51bb1e5e4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WORKFLOW / 04</a:t>
            </a:r>
            <a:endParaRPr lang="en-US" sz="1500" dirty="0"/>
          </a:p>
        </p:txBody>
      </p:sp>
      <p:sp>
        <p:nvSpPr>
          <p:cNvPr id="4" name="element_66ff8fc9034013e53d12d31b8131840a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Plan → propose → commit, with scope checked at every boundary.</a:t>
            </a:r>
            <a:endParaRPr lang="en-US" sz="3800" dirty="0"/>
          </a:p>
        </p:txBody>
      </p:sp>
      <p:sp>
        <p:nvSpPr>
          <p:cNvPr id="5" name="element_e9be460b5c4f49085481a78efbc0c0f7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The agent can reason broadly, but it may only write inside the explicit deck, slide, element, comment, or bounding-box scope.</a:t>
            </a:r>
            <a:endParaRPr lang="en-US" sz="1900" dirty="0"/>
          </a:p>
        </p:txBody>
      </p:sp>
      <p:sp>
        <p:nvSpPr>
          <p:cNvPr id="6" name="element_ad3ecacdd1c141637eb417fc6746a1ee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Read context</a:t>
            </a:r>
            <a:endParaRPr lang="en-US" sz="1700" dirty="0"/>
          </a:p>
        </p:txBody>
      </p:sp>
      <p:sp>
        <p:nvSpPr>
          <p:cNvPr id="7" name="element_f403681ef0f5833b7d0b7f6b55baf02f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Propose an inspectable patch</a:t>
            </a:r>
            <a:endParaRPr lang="en-US" sz="1700" dirty="0"/>
          </a:p>
        </p:txBody>
      </p:sp>
      <p:sp>
        <p:nvSpPr>
          <p:cNvPr id="8" name="element_3301b22f6dfdd33fb4d9a7f1ee4379b9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Validate and accept atomically</a:t>
            </a:r>
            <a:endParaRPr lang="en-US" sz="1700" dirty="0"/>
          </a:p>
        </p:txBody>
      </p:sp>
      <p:sp>
        <p:nvSpPr>
          <p:cNvPr id="9" name="element_19bf74ea977cba1d6ea974e5b0561610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2227e14e2c08b3d20ba1b2416440d3fc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6c59da1c9425b8d2937c8a23fa4538f9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f062dabc9bf1deb419aff68f46ea022c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PROOF / 05</a:t>
            </a:r>
            <a:endParaRPr lang="en-US" sz="1500" dirty="0"/>
          </a:p>
        </p:txBody>
      </p:sp>
      <p:sp>
        <p:nvSpPr>
          <p:cNvPr id="4" name="element_9cf22a76d2c6486c863f73f6a59a1225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A beautiful deck still needs deterministic gates.</a:t>
            </a:r>
            <a:endParaRPr lang="en-US" sz="3800" dirty="0"/>
          </a:p>
        </p:txBody>
      </p:sp>
      <p:sp>
        <p:nvSpPr>
          <p:cNvPr id="5" name="element_c3c93b3900b0ab2846fac09c8068db23"/>
          <p:cNvSpPr txBox="1"/>
          <p:nvPr/>
        </p:nvSpPr>
        <p:spPr>
          <a:xfrm>
            <a:off x="853419" y="2743200"/>
            <a:ext cx="47547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Structural, geometry, source, and export checks produce separate signals for basic validity, publishing safety, and a clean handoff.</a:t>
            </a:r>
            <a:endParaRPr lang="en-US" sz="1900" dirty="0"/>
          </a:p>
        </p:txBody>
      </p:sp>
      <p:sp>
        <p:nvSpPr>
          <p:cNvPr id="6" name="element_c6fdf159c7579e5e5e34bde7db2af42c"/>
          <p:cNvSpPr txBox="1"/>
          <p:nvPr/>
        </p:nvSpPr>
        <p:spPr>
          <a:xfrm>
            <a:off x="853419" y="425196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ok · structurally valid</a:t>
            </a:r>
            <a:endParaRPr lang="en-US" sz="1700" dirty="0"/>
          </a:p>
        </p:txBody>
      </p:sp>
      <p:sp>
        <p:nvSpPr>
          <p:cNvPr id="7" name="element_2767722c982282015c119479cc633ca0"/>
          <p:cNvSpPr txBox="1"/>
          <p:nvPr/>
        </p:nvSpPr>
        <p:spPr>
          <a:xfrm>
            <a:off x="853419" y="507492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publishOk · safe to present</a:t>
            </a:r>
            <a:endParaRPr lang="en-US" sz="1700" dirty="0"/>
          </a:p>
        </p:txBody>
      </p:sp>
      <p:sp>
        <p:nvSpPr>
          <p:cNvPr id="8" name="element_ae9fff346f77b8b6b4eb92152c9dce10"/>
          <p:cNvSpPr txBox="1"/>
          <p:nvPr/>
        </p:nvSpPr>
        <p:spPr>
          <a:xfrm>
            <a:off x="853419" y="589788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cleanOk · no warnings</a:t>
            </a:r>
            <a:endParaRPr lang="en-US" sz="1700" dirty="0"/>
          </a:p>
        </p:txBody>
      </p:sp>
      <p:sp>
        <p:nvSpPr>
          <p:cNvPr id="9" name="element_718abc118afcc1683aad02b5bb2e4ed8"/>
          <p:cNvSpPr txBox="1"/>
          <p:nvPr/>
        </p:nvSpPr>
        <p:spPr>
          <a:xfrm>
            <a:off x="6827349" y="2811780"/>
            <a:ext cx="4145176" cy="1028700"/>
          </a:xfrm>
          <a:prstGeom prst="rect">
            <a:avLst/>
          </a:prstGeom>
          <a:noFill/>
          <a:ln/>
        </p:spPr>
        <p:txBody>
          <a:bodyPr wrap="square" lIns="254000" tIns="254000" rIns="254000" bIns="2540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34452C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3 gates</a:t>
            </a:r>
            <a:endParaRPr lang="en-US" sz="4300" dirty="0"/>
          </a:p>
        </p:txBody>
      </p:sp>
      <p:sp>
        <p:nvSpPr>
          <p:cNvPr id="10" name="element_9dae0dd68d5ea9b727b2144d18dc0224"/>
          <p:cNvSpPr txBox="1"/>
          <p:nvPr/>
        </p:nvSpPr>
        <p:spPr>
          <a:xfrm>
            <a:off x="7193100" y="3977640"/>
            <a:ext cx="353559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independent validation signals: ok, publishOk, cleanOk</a:t>
            </a:r>
            <a:endParaRPr lang="en-US" sz="1500" dirty="0"/>
          </a:p>
        </p:txBody>
      </p:sp>
      <p:sp>
        <p:nvSpPr>
          <p:cNvPr id="11" name="element_34b89ff3bb1701c41cd6ed807d1b96a0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2" name="element_a3a8636f20b8117af7d3e4ce6bb9ba45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800b2f113b338f30bd9a870c07d15a37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830eef9a4f57f16c5d1409477dbc2e92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TRUST / 06</a:t>
            </a:r>
            <a:endParaRPr lang="en-US" sz="1500" dirty="0"/>
          </a:p>
        </p:txBody>
      </p:sp>
      <p:sp>
        <p:nvSpPr>
          <p:cNvPr id="4" name="element_c48d6a65b2b68554164e634a802ded7d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Comments become context. Patches remain choices.</a:t>
            </a:r>
            <a:endParaRPr lang="en-US" sz="3800" dirty="0"/>
          </a:p>
        </p:txBody>
      </p:sp>
      <p:sp>
        <p:nvSpPr>
          <p:cNvPr id="5" name="element_d98dd9d286f1364587c5d1525b9b723f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 reviewer can anchor feedback to a deck, slide, element, or region; link the resolution to an accepted patch; and restore any prior snapshot.</a:t>
            </a:r>
            <a:endParaRPr lang="en-US" sz="1900" dirty="0"/>
          </a:p>
        </p:txBody>
      </p:sp>
      <p:sp>
        <p:nvSpPr>
          <p:cNvPr id="6" name="element_a6f5c447aa37ce6e76fe83cd0dc87938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Anchored discussion</a:t>
            </a:r>
            <a:endParaRPr lang="en-US" sz="1700" dirty="0"/>
          </a:p>
        </p:txBody>
      </p:sp>
      <p:sp>
        <p:nvSpPr>
          <p:cNvPr id="7" name="element_344edf4cc83f40fe76c1cc569ba4ed9e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Compare-and-set acceptance</a:t>
            </a:r>
            <a:endParaRPr lang="en-US" sz="1700" dirty="0"/>
          </a:p>
        </p:txBody>
      </p:sp>
      <p:sp>
        <p:nvSpPr>
          <p:cNvPr id="8" name="element_f2e23a39e10c391a91aa50c8b927e6a8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Version recovery</a:t>
            </a:r>
            <a:endParaRPr lang="en-US" sz="1700" dirty="0"/>
          </a:p>
        </p:txBody>
      </p:sp>
      <p:sp>
        <p:nvSpPr>
          <p:cNvPr id="9" name="element_9a8b030e5eae68f982a55a608969958f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7c2513557ea4b3f3c2d7b0089460b10e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c94d091cdc3e11e427e266892f4a4017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7ac643218aa6bd00285c8ac93fa3ca30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NEXT / 07</a:t>
            </a:r>
            <a:endParaRPr lang="en-US" sz="1500" dirty="0"/>
          </a:p>
        </p:txBody>
      </p:sp>
      <p:sp>
        <p:nvSpPr>
          <p:cNvPr id="4" name="element_b90864e07e3c485affc98c58f4b40234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Move at presentation speed without giving up engineering-grade trust.</a:t>
            </a:r>
            <a:endParaRPr lang="en-US" sz="3800" dirty="0"/>
          </a:p>
        </p:txBody>
      </p:sp>
      <p:sp>
        <p:nvSpPr>
          <p:cNvPr id="5" name="element_a8e135f63583f24efd8b955ac404e63c"/>
          <p:cNvSpPr txBox="1"/>
          <p:nvPr/>
        </p:nvSpPr>
        <p:spPr>
          <a:xfrm>
            <a:off x="853419" y="2743200"/>
            <a:ext cx="80465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Start with a brief, shape the narrative together, and leave with a deck whose content, sources, changes, and exports are still yours.</a:t>
            </a:r>
            <a:endParaRPr lang="en-US" sz="1900" dirty="0"/>
          </a:p>
        </p:txBody>
      </p:sp>
      <p:sp>
        <p:nvSpPr>
          <p:cNvPr id="6" name="element_68a25cb60e3026ce87be8282cc5c293e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Create from brief</a:t>
            </a:r>
            <a:endParaRPr lang="en-US" sz="1600" dirty="0"/>
          </a:p>
        </p:txBody>
      </p:sp>
      <p:sp>
        <p:nvSpPr>
          <p:cNvPr id="7" name="element_1e31cfa434cc9a946f89b7cc06710c96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Review every change</a:t>
            </a:r>
            <a:endParaRPr lang="en-US" sz="1600" dirty="0"/>
          </a:p>
        </p:txBody>
      </p:sp>
      <p:sp>
        <p:nvSpPr>
          <p:cNvPr id="8" name="element_2889b1f64385cb62dcba74677cf33e2c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Present with confidence</a:t>
            </a:r>
            <a:endParaRPr lang="en-US" sz="1600" dirty="0"/>
          </a:p>
        </p:txBody>
      </p:sp>
      <p:sp>
        <p:nvSpPr>
          <p:cNvPr id="9" name="element_24b34ae693595a9403db115430298cd4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1e0d799f00077c09182d90dda0d43f00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raunces Variab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 Variabl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Parity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NodeSlide — stories with structure</dc:title>
  <dc:subject>Demonstrate the NodeSlide product story with a credible, polished golden deck</dc:subject>
  <dc:creator>NodeSlide</dc:creator>
  <cp:lastModifiedBy>NodeSlide</cp:lastModifiedBy>
  <cp:revision>1</cp:revision>
  <dcterms:created xsi:type="dcterms:W3CDTF">2026-07-12T21:54:42Z</dcterms:created>
  <dcterms:modified xsi:type="dcterms:W3CDTF">2026-07-12T21:54:42Z</dcterms:modified>
</cp:coreProperties>
</file>