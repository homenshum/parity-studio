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NodeSlide / 01. Keep the spoken transition focused on “Build the story. Keep every decision editable.”
Evidence note: Content is based on the supplied creation brief. Illustrative examples are not independently verified; replace them with measured evidence before external publication.
NodeSlide sources
[source_01o5drc] NodeSlide product brief
Citation: Show how NodeSlide turns presentation work into a traceable, editable, reviewable system.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Scenario / 02. Keep the spoken transition focused on “Keep source context attached as the story moves.”
Evidence note: Content is based on the supplied creation brief. Illustrative examples are not independently verified; replace them with measured evidence before external publication.
NodeSlide sources
[source_01o5drc] NodeSlide product brief
Citation: Show how NodeSlide turns presentation work into a traceable, editable, reviewable system.
Disclaimer: Internal working material
[source_1vu07vp] Golden workflow scenario
Citation: Qualitative product-workflow scenario for demonstrating NodeSlide; no measured customer benchmark is claimed.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Foundation / 03. Keep the spoken transition focused on “Structure turns a visual artifact into an operating surface.”
Evidence note: Content is based on the supplied creation brief. Illustrative examples are not independently verified; replace them with measured evidence before external publication.
NodeSlide sources
[source_01o5drc] NodeSlide product brief
Citation: Show how NodeSlide turns presentation work into a traceable, editable, reviewable system.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Workflow / 04. Keep the spoken transition focused on “Plan → propose → commit, with scope checked at every boundary.”
Evidence note: Content is based on the supplied creation brief. Illustrative examples are not independently verified; replace them with measured evidence before external publication.
NodeSlide sources
[source_01o5drc] NodeSlide product brief
Citation: Show how NodeSlide turns presentation work into a traceable, editable, reviewable system.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Proof / 05. Keep the spoken transition focused on “A beautiful deck still needs deterministic gates.”
Evidence note: Content is based on the supplied creation brief. Illustrative examples are not independently verified; replace them with measured evidence before external publication.
NodeSlide sources
[source_01o5drc] NodeSlide product brief
Citation: Show how NodeSlide turns presentation work into a traceable, editable, reviewable system.
Disclaimer: Internal working material
[source_1vu07vp] Golden workflow scenario
Citation: Qualitative product-workflow scenario for demonstrating NodeSlide; no measured customer benchmark is claimed.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Trust / 06. Keep the spoken transition focused on “Comments become context. Patches remain choices.”
Evidence note: Content is based on the supplied creation brief. Illustrative examples are not independently verified; replace them with measured evidence before external publication.
NodeSlide sources
[source_01o5drc] NodeSlide product brief
Citation: Show how NodeSlide turns presentation work into a traceable, editable, reviewable system.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Next / 07. Keep the spoken transition focused on “Move at presentation speed without giving up engineering-grade trust.”
Evidence note: Content is based on the supplied creation brief. Illustrative examples are not independently verified; replace them with measured evidence before external publication.
NodeSlide sources
[source_01o5drc] NodeSlide product brief
Citation: Show how NodeSlide turns presentation work into a traceable, editable, reviewable system.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14ye96s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05vc09q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/ 01</a:t>
            </a:r>
            <a:endParaRPr lang="en-US" sz="1500" dirty="0"/>
          </a:p>
        </p:txBody>
      </p:sp>
      <p:sp>
        <p:nvSpPr>
          <p:cNvPr id="4" name="element_1bytkp7"/>
          <p:cNvSpPr txBox="1"/>
          <p:nvPr/>
        </p:nvSpPr>
        <p:spPr>
          <a:xfrm>
            <a:off x="853419" y="1028700"/>
            <a:ext cx="9631439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Build the story. Keep every decision editable.</a:t>
            </a:r>
            <a:endParaRPr lang="en-US" sz="4800" dirty="0"/>
          </a:p>
        </p:txBody>
      </p:sp>
      <p:sp>
        <p:nvSpPr>
          <p:cNvPr id="5" name="element_0bhdbpv"/>
          <p:cNvSpPr txBox="1"/>
          <p:nvPr/>
        </p:nvSpPr>
        <p:spPr>
          <a:xfrm>
            <a:off x="853419" y="3291840"/>
            <a:ext cx="8046519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NodeSlide treats a deck as a typed system: narrative, geometry, sources, comments, and changes stay connected from first brief to final room.</a:t>
            </a:r>
            <a:endParaRPr lang="en-US" sz="1900" dirty="0"/>
          </a:p>
        </p:txBody>
      </p:sp>
      <p:sp>
        <p:nvSpPr>
          <p:cNvPr id="6" name="element_1eqxy61"/>
          <p:cNvSpPr txBox="1"/>
          <p:nvPr/>
        </p:nvSpPr>
        <p:spPr>
          <a:xfrm>
            <a:off x="853419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Structured canvas</a:t>
            </a:r>
            <a:endParaRPr lang="en-US" sz="1600" dirty="0"/>
          </a:p>
        </p:txBody>
      </p:sp>
      <p:sp>
        <p:nvSpPr>
          <p:cNvPr id="7" name="element_1dwz534"/>
          <p:cNvSpPr txBox="1"/>
          <p:nvPr/>
        </p:nvSpPr>
        <p:spPr>
          <a:xfrm>
            <a:off x="4267093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Guarded edits</a:t>
            </a:r>
            <a:endParaRPr lang="en-US" sz="1600" dirty="0"/>
          </a:p>
        </p:txBody>
      </p:sp>
      <p:sp>
        <p:nvSpPr>
          <p:cNvPr id="8" name="element_1e6yqs3"/>
          <p:cNvSpPr txBox="1"/>
          <p:nvPr/>
        </p:nvSpPr>
        <p:spPr>
          <a:xfrm>
            <a:off x="7680768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Traceable claims</a:t>
            </a:r>
            <a:endParaRPr lang="en-US" sz="1600" dirty="0"/>
          </a:p>
        </p:txBody>
      </p:sp>
      <p:sp>
        <p:nvSpPr>
          <p:cNvPr id="9" name="element_17g0fj4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0496nna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19ntmqs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0ghktha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SCENARIO / 02</a:t>
            </a:r>
            <a:endParaRPr lang="en-US" sz="1500" dirty="0"/>
          </a:p>
        </p:txBody>
      </p:sp>
      <p:sp>
        <p:nvSpPr>
          <p:cNvPr id="4" name="element_1igwodn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Keep source context attached as the story moves.</a:t>
            </a:r>
            <a:endParaRPr lang="en-US" sz="3800" dirty="0"/>
          </a:p>
        </p:txBody>
      </p:sp>
      <p:sp>
        <p:nvSpPr>
          <p:cNvPr id="5" name="element_0i6r377"/>
          <p:cNvSpPr txBox="1"/>
          <p:nvPr/>
        </p:nvSpPr>
        <p:spPr>
          <a:xfrm>
            <a:off x="853419" y="2743200"/>
            <a:ext cx="47547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This golden scenario focuses on one design goal: keep copy, layout, citations, and feedback connected through drafting, review, revision, and handoff.</a:t>
            </a:r>
            <a:endParaRPr lang="en-US" sz="1900" dirty="0"/>
          </a:p>
        </p:txBody>
      </p:sp>
      <p:sp>
        <p:nvSpPr>
          <p:cNvPr id="6" name="element_0a2msux"/>
          <p:cNvSpPr txBox="1"/>
          <p:nvPr/>
        </p:nvSpPr>
        <p:spPr>
          <a:xfrm>
            <a:off x="853419" y="425196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Draft with source context</a:t>
            </a:r>
            <a:endParaRPr lang="en-US" sz="1700" dirty="0"/>
          </a:p>
        </p:txBody>
      </p:sp>
      <p:sp>
        <p:nvSpPr>
          <p:cNvPr id="7" name="element_098nzs0"/>
          <p:cNvSpPr txBox="1"/>
          <p:nvPr/>
        </p:nvSpPr>
        <p:spPr>
          <a:xfrm>
            <a:off x="853419" y="507492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Review on stable anchors</a:t>
            </a:r>
            <a:endParaRPr lang="en-US" sz="1700" dirty="0"/>
          </a:p>
        </p:txBody>
      </p:sp>
      <p:sp>
        <p:nvSpPr>
          <p:cNvPr id="8" name="element_09inlgz"/>
          <p:cNvSpPr txBox="1"/>
          <p:nvPr/>
        </p:nvSpPr>
        <p:spPr>
          <a:xfrm>
            <a:off x="853419" y="589788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Hand off editable structure</a:t>
            </a:r>
            <a:endParaRPr lang="en-US" sz="1700" dirty="0"/>
          </a:p>
        </p:txBody>
      </p:sp>
      <p:sp>
        <p:nvSpPr>
          <p:cNvPr id="9" name="element_1u12qon"/>
          <p:cNvSpPr txBox="1"/>
          <p:nvPr/>
        </p:nvSpPr>
        <p:spPr>
          <a:xfrm>
            <a:off x="6827349" y="2811780"/>
            <a:ext cx="4145176" cy="1028700"/>
          </a:xfrm>
          <a:prstGeom prst="rect">
            <a:avLst/>
          </a:prstGeom>
          <a:noFill/>
          <a:ln/>
        </p:spPr>
        <p:txBody>
          <a:bodyPr wrap="square" lIns="254000" tIns="254000" rIns="254000" bIns="2540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34452C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CONTEXT</a:t>
            </a:r>
            <a:endParaRPr lang="en-US" sz="4300" dirty="0"/>
          </a:p>
        </p:txBody>
      </p:sp>
      <p:sp>
        <p:nvSpPr>
          <p:cNvPr id="10" name="element_1deh10k"/>
          <p:cNvSpPr txBox="1"/>
          <p:nvPr/>
        </p:nvSpPr>
        <p:spPr>
          <a:xfrm>
            <a:off x="7193100" y="3977640"/>
            <a:ext cx="353559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Qualitative workflow label — not a measured benchmark</a:t>
            </a:r>
            <a:endParaRPr lang="en-US" sz="1500" dirty="0"/>
          </a:p>
        </p:txBody>
      </p:sp>
      <p:sp>
        <p:nvSpPr>
          <p:cNvPr id="11" name="element_0im6dq8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2" name="element_136uc5y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1ponpq9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1mrsm9n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FOUNDATION / 03</a:t>
            </a:r>
            <a:endParaRPr lang="en-US" sz="1500" dirty="0"/>
          </a:p>
        </p:txBody>
      </p:sp>
      <p:sp>
        <p:nvSpPr>
          <p:cNvPr id="4" name="element_19j4az8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Structure turns a visual artifact into an operating surface.</a:t>
            </a:r>
            <a:endParaRPr lang="en-US" sz="3800" dirty="0"/>
          </a:p>
        </p:txBody>
      </p:sp>
      <p:sp>
        <p:nvSpPr>
          <p:cNvPr id="5" name="element_1oyh9o8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Slides and elements carry stable IDs, normalized geometry, source links, export capability, locks, and independent versions.</a:t>
            </a:r>
            <a:endParaRPr lang="en-US" sz="1900" dirty="0"/>
          </a:p>
        </p:txBody>
      </p:sp>
      <p:sp>
        <p:nvSpPr>
          <p:cNvPr id="6" name="element_194d7xa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Stable IDs survive every view</a:t>
            </a:r>
            <a:endParaRPr lang="en-US" sz="1700" dirty="0"/>
          </a:p>
        </p:txBody>
      </p:sp>
      <p:sp>
        <p:nvSpPr>
          <p:cNvPr id="7" name="element_18udm8b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Normalized boxes travel across renderers</a:t>
            </a:r>
            <a:endParaRPr lang="en-US" sz="1700" dirty="0"/>
          </a:p>
        </p:txBody>
      </p:sp>
      <p:sp>
        <p:nvSpPr>
          <p:cNvPr id="8" name="element_18ke0jc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Locks protect intent</a:t>
            </a:r>
            <a:endParaRPr lang="en-US" sz="1700" dirty="0"/>
          </a:p>
        </p:txBody>
      </p:sp>
      <p:sp>
        <p:nvSpPr>
          <p:cNvPr id="9" name="element_09ndggn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1235d23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1wubebu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06xhkpo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WORKFLOW / 04</a:t>
            </a:r>
            <a:endParaRPr lang="en-US" sz="1500" dirty="0"/>
          </a:p>
        </p:txBody>
      </p:sp>
      <p:sp>
        <p:nvSpPr>
          <p:cNvPr id="4" name="element_12a6eyh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Plan → propose → commit, with scope checked at every boundary.</a:t>
            </a:r>
            <a:endParaRPr lang="en-US" sz="3800" dirty="0"/>
          </a:p>
        </p:txBody>
      </p:sp>
      <p:sp>
        <p:nvSpPr>
          <p:cNvPr id="5" name="element_1thd5qd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The agent can reason broadly, but it may only write inside the explicit deck, slide, element, comment, or bounding-box scope.</a:t>
            </a:r>
            <a:endParaRPr lang="en-US" sz="1900" dirty="0"/>
          </a:p>
        </p:txBody>
      </p:sp>
      <p:sp>
        <p:nvSpPr>
          <p:cNvPr id="6" name="element_1cu2e87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Read context</a:t>
            </a:r>
            <a:endParaRPr lang="en-US" sz="1700" dirty="0"/>
          </a:p>
        </p:txBody>
      </p:sp>
      <p:sp>
        <p:nvSpPr>
          <p:cNvPr id="7" name="element_1d41zx6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Propose an inspectable patch</a:t>
            </a:r>
            <a:endParaRPr lang="en-US" sz="1700" dirty="0"/>
          </a:p>
        </p:txBody>
      </p:sp>
      <p:sp>
        <p:nvSpPr>
          <p:cNvPr id="8" name="element_1de1lm5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Validate and accept atomically</a:t>
            </a:r>
            <a:endParaRPr lang="en-US" sz="1700" dirty="0"/>
          </a:p>
        </p:txBody>
      </p:sp>
      <p:sp>
        <p:nvSpPr>
          <p:cNvPr id="9" name="element_1ir3uw2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0yess9o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0nwkuyj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15u2ojh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PROOF / 05</a:t>
            </a:r>
            <a:endParaRPr lang="en-US" sz="1500" dirty="0"/>
          </a:p>
        </p:txBody>
      </p:sp>
      <p:sp>
        <p:nvSpPr>
          <p:cNvPr id="4" name="element_16q181a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A beautiful deck still needs deterministic gates.</a:t>
            </a:r>
            <a:endParaRPr lang="en-US" sz="3800" dirty="0"/>
          </a:p>
        </p:txBody>
      </p:sp>
      <p:sp>
        <p:nvSpPr>
          <p:cNvPr id="5" name="element_0emlxnq"/>
          <p:cNvSpPr txBox="1"/>
          <p:nvPr/>
        </p:nvSpPr>
        <p:spPr>
          <a:xfrm>
            <a:off x="853419" y="2743200"/>
            <a:ext cx="47547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Structural, geometry, source, and export checks produce separate signals for basic validity, publishing safety, and a clean handoff.</a:t>
            </a:r>
            <a:endParaRPr lang="en-US" sz="1900" dirty="0"/>
          </a:p>
        </p:txBody>
      </p:sp>
      <p:sp>
        <p:nvSpPr>
          <p:cNvPr id="6" name="element_1u1zeiw"/>
          <p:cNvSpPr txBox="1"/>
          <p:nvPr/>
        </p:nvSpPr>
        <p:spPr>
          <a:xfrm>
            <a:off x="853419" y="425196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ok · structurally valid</a:t>
            </a:r>
            <a:endParaRPr lang="en-US" sz="1700" dirty="0"/>
          </a:p>
        </p:txBody>
      </p:sp>
      <p:sp>
        <p:nvSpPr>
          <p:cNvPr id="7" name="element_1uvy7lt"/>
          <p:cNvSpPr txBox="1"/>
          <p:nvPr/>
        </p:nvSpPr>
        <p:spPr>
          <a:xfrm>
            <a:off x="853419" y="507492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publishOk · safe to present</a:t>
            </a:r>
            <a:endParaRPr lang="en-US" sz="1700" dirty="0"/>
          </a:p>
        </p:txBody>
      </p:sp>
      <p:sp>
        <p:nvSpPr>
          <p:cNvPr id="8" name="element_1ulylwu"/>
          <p:cNvSpPr txBox="1"/>
          <p:nvPr/>
        </p:nvSpPr>
        <p:spPr>
          <a:xfrm>
            <a:off x="853419" y="589788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cleanOk · no warnings</a:t>
            </a:r>
            <a:endParaRPr lang="en-US" sz="1700" dirty="0"/>
          </a:p>
        </p:txBody>
      </p:sp>
      <p:sp>
        <p:nvSpPr>
          <p:cNvPr id="9" name="element_1oklf46"/>
          <p:cNvSpPr txBox="1"/>
          <p:nvPr/>
        </p:nvSpPr>
        <p:spPr>
          <a:xfrm>
            <a:off x="6827349" y="2811780"/>
            <a:ext cx="4145176" cy="1028700"/>
          </a:xfrm>
          <a:prstGeom prst="rect">
            <a:avLst/>
          </a:prstGeom>
          <a:noFill/>
          <a:ln/>
        </p:spPr>
        <p:txBody>
          <a:bodyPr wrap="square" lIns="254000" tIns="254000" rIns="254000" bIns="2540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34452C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3 gates</a:t>
            </a:r>
            <a:endParaRPr lang="en-US" sz="4300" dirty="0"/>
          </a:p>
        </p:txBody>
      </p:sp>
      <p:sp>
        <p:nvSpPr>
          <p:cNvPr id="10" name="element_0vfsy8p"/>
          <p:cNvSpPr txBox="1"/>
          <p:nvPr/>
        </p:nvSpPr>
        <p:spPr>
          <a:xfrm>
            <a:off x="7193100" y="3977640"/>
            <a:ext cx="353559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independent validation signals: ok, publishOk, cleanOk</a:t>
            </a:r>
            <a:endParaRPr lang="en-US" sz="1500" dirty="0"/>
          </a:p>
        </p:txBody>
      </p:sp>
      <p:sp>
        <p:nvSpPr>
          <p:cNvPr id="11" name="element_0iqroet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2" name="element_1sy9z0d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0qd9akz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0ue0fad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TRUST / 06</a:t>
            </a:r>
            <a:endParaRPr lang="en-US" sz="1500" dirty="0"/>
          </a:p>
        </p:txBody>
      </p:sp>
      <p:sp>
        <p:nvSpPr>
          <p:cNvPr id="4" name="element_18asepi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Comments become context. Patches remain choices.</a:t>
            </a:r>
            <a:endParaRPr lang="en-US" sz="3800" dirty="0"/>
          </a:p>
        </p:txBody>
      </p:sp>
      <p:sp>
        <p:nvSpPr>
          <p:cNvPr id="5" name="element_1o5typa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A reviewer can anchor feedback to a deck, slide, element, or region; link the resolution to an accepted patch; and restore any prior snapshot.</a:t>
            </a:r>
            <a:endParaRPr lang="en-US" sz="1900" dirty="0"/>
          </a:p>
        </p:txBody>
      </p:sp>
      <p:sp>
        <p:nvSpPr>
          <p:cNvPr id="6" name="element_1b3r18g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Anchored discussion</a:t>
            </a:r>
            <a:endParaRPr lang="en-US" sz="1700" dirty="0"/>
          </a:p>
        </p:txBody>
      </p:sp>
      <p:sp>
        <p:nvSpPr>
          <p:cNvPr id="7" name="element_1bxpubd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Compare-and-set acceptance</a:t>
            </a:r>
            <a:endParaRPr lang="en-US" sz="1700" dirty="0"/>
          </a:p>
        </p:txBody>
      </p:sp>
      <p:sp>
        <p:nvSpPr>
          <p:cNvPr id="8" name="element_1bnq8me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Version recovery</a:t>
            </a:r>
            <a:endParaRPr lang="en-US" sz="1700" dirty="0"/>
          </a:p>
        </p:txBody>
      </p:sp>
      <p:sp>
        <p:nvSpPr>
          <p:cNvPr id="9" name="element_0arzv0d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0qilvut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1sm3vsq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B44A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0kro0ek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NEXT / 07</a:t>
            </a:r>
            <a:endParaRPr lang="en-US" sz="1500" dirty="0"/>
          </a:p>
        </p:txBody>
      </p:sp>
      <p:sp>
        <p:nvSpPr>
          <p:cNvPr id="4" name="element_1w8teh5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26221D"/>
                </a:solidFill>
                <a:latin typeface="Fraunces Variable" pitchFamily="34" charset="0"/>
                <a:ea typeface="Fraunces Variable" pitchFamily="34" charset="-122"/>
                <a:cs typeface="Fraunces Variable" pitchFamily="34" charset="-120"/>
              </a:rPr>
              <a:t>Move at presentation speed without giving up engineering-grade trust.</a:t>
            </a:r>
            <a:endParaRPr lang="en-US" sz="3800" dirty="0"/>
          </a:p>
        </p:txBody>
      </p:sp>
      <p:sp>
        <p:nvSpPr>
          <p:cNvPr id="5" name="element_0h6h6lx"/>
          <p:cNvSpPr txBox="1"/>
          <p:nvPr/>
        </p:nvSpPr>
        <p:spPr>
          <a:xfrm>
            <a:off x="853419" y="2743200"/>
            <a:ext cx="80465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756B61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Start with a brief, shape the narrative together, and leave with a deck whose content, sources, changes, and exports are still yours.</a:t>
            </a:r>
            <a:endParaRPr lang="en-US" sz="1900" dirty="0"/>
          </a:p>
        </p:txBody>
      </p:sp>
      <p:sp>
        <p:nvSpPr>
          <p:cNvPr id="6" name="element_1rb8e5z"/>
          <p:cNvSpPr txBox="1"/>
          <p:nvPr/>
        </p:nvSpPr>
        <p:spPr>
          <a:xfrm>
            <a:off x="853419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Create from brief</a:t>
            </a:r>
            <a:endParaRPr lang="en-US" sz="1600" dirty="0"/>
          </a:p>
        </p:txBody>
      </p:sp>
      <p:sp>
        <p:nvSpPr>
          <p:cNvPr id="7" name="element_1rl7zuy"/>
          <p:cNvSpPr txBox="1"/>
          <p:nvPr/>
        </p:nvSpPr>
        <p:spPr>
          <a:xfrm>
            <a:off x="4267093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Review every change</a:t>
            </a:r>
            <a:endParaRPr lang="en-US" sz="1600" dirty="0"/>
          </a:p>
        </p:txBody>
      </p:sp>
      <p:sp>
        <p:nvSpPr>
          <p:cNvPr id="8" name="element_1rv7ljx"/>
          <p:cNvSpPr txBox="1"/>
          <p:nvPr/>
        </p:nvSpPr>
        <p:spPr>
          <a:xfrm>
            <a:off x="7680768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6221D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Present with confidence</a:t>
            </a:r>
            <a:endParaRPr lang="en-US" sz="1600" dirty="0"/>
          </a:p>
        </p:txBody>
      </p:sp>
      <p:sp>
        <p:nvSpPr>
          <p:cNvPr id="9" name="element_0nd9zw2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756B61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1qjr9kc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B44A2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raunces Variab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 Variabl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Parity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NodeSlide — stories with structure</dc:title>
  <dc:subject>Demonstrate the NodeSlide product story with a credible, polished golden deck</dc:subject>
  <dc:creator>NodeSlide</dc:creator>
  <cp:lastModifiedBy>NodeSlide</cp:lastModifiedBy>
  <cp:revision>1</cp:revision>
  <dcterms:created xsi:type="dcterms:W3CDTF">2026-07-10T20:47:02Z</dcterms:created>
  <dcterms:modified xsi:type="dcterms:W3CDTF">2026-07-10T20:47:02Z</dcterms:modified>
</cp:coreProperties>
</file>