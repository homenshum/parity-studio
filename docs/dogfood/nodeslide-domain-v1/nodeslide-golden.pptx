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NodeSlide / 01. Keep the spoken transition focused on “Build the story. Keep every decision editable.”
Evidence note: Content is based on the supplied creation brief. Illustrative examples are not independently verified; replace them with measured evidence before external publication.
NodeSlide sources
[source_96a6a42be4bdf0cef8b6f3f8c453dbfb] NodeSlide product brief
Citation: Show how NodeSlide turns presentation work into a traceable, editable, reviewable system.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Scenario / 02. Keep the spoken transition focused on “Keep source context attached as the story moves.”
Evidence note: Content is based on the supplied creation brief. Illustrative examples are not independently verified; replace them with measured evidence before external publication.
NodeSlide sources
[source_96a6a42be4bdf0cef8b6f3f8c453dbfb] NodeSlide product brief
Citation: Show how NodeSlide turns presentation work into a traceable, editable, reviewable system.
Disclaimer: Internal working material
[source_af6acf1aa730a0e091a9f391a61fcd2d] Golden workflow scenario
Citation: Qualitative product-workflow scenario for demonstrating NodeSlide; no measured customer benchmark is claimed.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Foundation / 03. Keep the spoken transition focused on “Structure turns a visual artifact into an operating surface.”
Evidence note: Content is based on the supplied creation brief. Illustrative examples are not independently verified; replace them with measured evidence before external publication.
NodeSlide sources
[source_96a6a42be4bdf0cef8b6f3f8c453dbfb] NodeSlide product brief
Citation: Show how NodeSlide turns presentation work into a traceable, editable, reviewable system.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Workflow / 04. Keep the spoken transition focused on “Plan → propose → commit, with scope checked at every boundary.”
Evidence note: Content is based on the supplied creation brief. Illustrative examples are not independently verified; replace them with measured evidence before external publication.
NodeSlide sources
[source_96a6a42be4bdf0cef8b6f3f8c453dbfb] NodeSlide product brief
Citation: Show how NodeSlide turns presentation work into a traceable, editable, reviewable system.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Proof / 05. Keep the spoken transition focused on “A beautiful deck still needs deterministic gates.”
Evidence note: Content is based on the supplied creation brief. Illustrative examples are not independently verified; replace them with measured evidence before external publication.
NodeSlide sources
[source_96a6a42be4bdf0cef8b6f3f8c453dbfb] NodeSlide product brief
Citation: Show how NodeSlide turns presentation work into a traceable, editable, reviewable system.
Disclaimer: Internal working material
[source_af6acf1aa730a0e091a9f391a61fcd2d] Golden workflow scenario
Citation: Qualitative product-workflow scenario for demonstrating NodeSlide; no measured customer benchmark is claimed.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Trust / 06. Keep the spoken transition focused on “Comments become context. Patches remain choices.”
Evidence note: Content is based on the supplied creation brief. Illustrative examples are not independently verified; replace them with measured evidence before external publication.
NodeSlide sources
[source_96a6a42be4bdf0cef8b6f3f8c453dbfb] NodeSlide product brief
Citation: Show how NodeSlide turns presentation work into a traceable, editable, reviewable system.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Next / 07. Keep the spoken transition focused on “Move at presentation speed without giving up engineering-grade trust.”
Evidence note: Content is based on the supplied creation brief. Illustrative examples are not independently verified; replace them with measured evidence before external publication.
NodeSlide sources
[source_96a6a42be4bdf0cef8b6f3f8c453dbfb] NodeSlide product brief
Citation: Show how NodeSlide turns presentation work into a traceable, editable, reviewable system.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70ba551ddbd0662d7fc04acd744609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a17a5661c042a04a73ecdc0813e2cdb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/ 01</a:t>
            </a:r>
            <a:endParaRPr lang="en-US" sz="1500" dirty="0"/>
          </a:p>
        </p:txBody>
      </p:sp>
      <p:sp>
        <p:nvSpPr>
          <p:cNvPr id="4" name="element_61ee0f53c258556cd84cfd7bac8aae3a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Build the story. Keep every decision editable.</a:t>
            </a:r>
            <a:endParaRPr lang="en-US" sz="4800" dirty="0"/>
          </a:p>
        </p:txBody>
      </p:sp>
      <p:sp>
        <p:nvSpPr>
          <p:cNvPr id="5" name="element_889fb4fc4d96b7c0851e9fcfd46a6bdc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NodeSlide treats a deck as a typed system: narrative, geometry, sources, comments, and changes stay connected from first brief to final room.</a:t>
            </a:r>
            <a:endParaRPr lang="en-US" sz="1900" dirty="0"/>
          </a:p>
        </p:txBody>
      </p:sp>
      <p:sp>
        <p:nvSpPr>
          <p:cNvPr id="6" name="element_640b14d5f6930f912de30905268178b8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canvas</a:t>
            </a:r>
            <a:endParaRPr lang="en-US" sz="1600" dirty="0"/>
          </a:p>
        </p:txBody>
      </p:sp>
      <p:sp>
        <p:nvSpPr>
          <p:cNvPr id="7" name="element_c26b53ad82326babcb864b1713b5a8f0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Guarded edits</a:t>
            </a:r>
            <a:endParaRPr lang="en-US" sz="1600" dirty="0"/>
          </a:p>
        </p:txBody>
      </p:sp>
      <p:sp>
        <p:nvSpPr>
          <p:cNvPr id="8" name="element_8ea417e51d2186a7e95e517038fc0b91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Traceable claims</a:t>
            </a:r>
            <a:endParaRPr lang="en-US" sz="1600" dirty="0"/>
          </a:p>
        </p:txBody>
      </p:sp>
      <p:sp>
        <p:nvSpPr>
          <p:cNvPr id="9" name="element_a3e163e2e0e15fdee5f2c6cabeec87c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9f8bf6a787f0475c7a366fd188ce022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0323b6c8041a56d2e1a0f15fa191f2d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b4d1dc69245682e345b15e626972fd9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SCENARIO / 02</a:t>
            </a:r>
            <a:endParaRPr lang="en-US" sz="1500" dirty="0"/>
          </a:p>
        </p:txBody>
      </p:sp>
      <p:sp>
        <p:nvSpPr>
          <p:cNvPr id="4" name="element_789778442a6ae438cd0ecb197d98edaf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Keep source context attached as the story moves.</a:t>
            </a:r>
            <a:endParaRPr lang="en-US" sz="3800" dirty="0"/>
          </a:p>
        </p:txBody>
      </p:sp>
      <p:sp>
        <p:nvSpPr>
          <p:cNvPr id="5" name="element_f995c27b8b789b00520e356587acd4f5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This golden scenario focuses on one design goal: keep copy, layout, citations, and feedback connected through drafting, review, revision, and handoff.</a:t>
            </a:r>
            <a:endParaRPr lang="en-US" sz="1900" dirty="0"/>
          </a:p>
        </p:txBody>
      </p:sp>
      <p:sp>
        <p:nvSpPr>
          <p:cNvPr id="6" name="element_ec3dd98375c7ad4afedf99c4c93224c9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Draft with source context</a:t>
            </a:r>
            <a:endParaRPr lang="en-US" sz="1700" dirty="0"/>
          </a:p>
        </p:txBody>
      </p:sp>
      <p:sp>
        <p:nvSpPr>
          <p:cNvPr id="7" name="element_d78f82eb60b33b82068b8455e74a04e7"/>
          <p:cNvSpPr txBox="1"/>
          <p:nvPr/>
        </p:nvSpPr>
        <p:spPr>
          <a:xfrm>
            <a:off x="853419" y="507492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on stable anchors</a:t>
            </a:r>
            <a:endParaRPr lang="en-US" sz="1700" dirty="0"/>
          </a:p>
        </p:txBody>
      </p:sp>
      <p:sp>
        <p:nvSpPr>
          <p:cNvPr id="8" name="element_a7d2620b40de0c871dfe92184d50a0da"/>
          <p:cNvSpPr txBox="1"/>
          <p:nvPr/>
        </p:nvSpPr>
        <p:spPr>
          <a:xfrm>
            <a:off x="853419" y="589788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Hand off editable structure</a:t>
            </a:r>
            <a:endParaRPr lang="en-US" sz="1700" dirty="0"/>
          </a:p>
        </p:txBody>
      </p:sp>
      <p:sp>
        <p:nvSpPr>
          <p:cNvPr id="9" name="element_bec6c837aaac7a129e0d827ac1c37b61"/>
          <p:cNvSpPr txBox="1"/>
          <p:nvPr/>
        </p:nvSpPr>
        <p:spPr>
          <a:xfrm>
            <a:off x="6827349" y="2811780"/>
            <a:ext cx="4145176" cy="10287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</a:t>
            </a:r>
            <a:endParaRPr lang="en-US" sz="4300" dirty="0"/>
          </a:p>
        </p:txBody>
      </p:sp>
      <p:sp>
        <p:nvSpPr>
          <p:cNvPr id="10" name="element_58305a50bc1379606692fa40c8a074f7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Qualitative workflow label — not a measured benchmark</a:t>
            </a:r>
            <a:endParaRPr lang="en-US" sz="1500" dirty="0"/>
          </a:p>
        </p:txBody>
      </p:sp>
      <p:sp>
        <p:nvSpPr>
          <p:cNvPr id="11" name="element_49bbb381be7ee11d3d18ed0dc590f28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6d0bbd1eb433fb6fb13804987f4defa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ec4971c774830d322c8800996c91d15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c7d118eeb0028bb5880c62920e5a089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FOUNDATION / 03</a:t>
            </a:r>
            <a:endParaRPr lang="en-US" sz="1500" dirty="0"/>
          </a:p>
        </p:txBody>
      </p:sp>
      <p:sp>
        <p:nvSpPr>
          <p:cNvPr id="4" name="element_d2e261320b23e4ddf307ef0fb53488d4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Structure turns a visual artifact into an operating surface.</a:t>
            </a:r>
            <a:endParaRPr lang="en-US" sz="3800" dirty="0"/>
          </a:p>
        </p:txBody>
      </p:sp>
      <p:sp>
        <p:nvSpPr>
          <p:cNvPr id="5" name="element_da270d84c46dd7c5bce42ba37f577254"/>
          <p:cNvSpPr txBox="1"/>
          <p:nvPr/>
        </p:nvSpPr>
        <p:spPr>
          <a:xfrm>
            <a:off x="853419" y="2743200"/>
            <a:ext cx="58520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Slides and elements carry stable IDs, normalized geometry, source links, export capability, locks, and independent versions.</a:t>
            </a:r>
            <a:endParaRPr lang="en-US" sz="1900" dirty="0"/>
          </a:p>
        </p:txBody>
      </p:sp>
      <p:sp>
        <p:nvSpPr>
          <p:cNvPr id="6" name="element_06d60c7fbdfbe103ea70639b3db92a7d"/>
          <p:cNvSpPr txBox="1"/>
          <p:nvPr/>
        </p:nvSpPr>
        <p:spPr>
          <a:xfrm>
            <a:off x="7193100" y="288036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Stable IDs survive every view</a:t>
            </a:r>
            <a:endParaRPr lang="en-US" sz="1700" dirty="0"/>
          </a:p>
        </p:txBody>
      </p:sp>
      <p:sp>
        <p:nvSpPr>
          <p:cNvPr id="7" name="element_c7aa8c8046d17a311528f21e2b95e36e"/>
          <p:cNvSpPr txBox="1"/>
          <p:nvPr/>
        </p:nvSpPr>
        <p:spPr>
          <a:xfrm>
            <a:off x="7193100" y="370332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Normalized boxes travel across renderers</a:t>
            </a:r>
            <a:endParaRPr lang="en-US" sz="1700" dirty="0"/>
          </a:p>
        </p:txBody>
      </p:sp>
      <p:sp>
        <p:nvSpPr>
          <p:cNvPr id="8" name="element_0b696b9755f7429a38de3545757aba7c"/>
          <p:cNvSpPr txBox="1"/>
          <p:nvPr/>
        </p:nvSpPr>
        <p:spPr>
          <a:xfrm>
            <a:off x="7193100" y="452628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Locks protect intent</a:t>
            </a:r>
            <a:endParaRPr lang="en-US" sz="1700" dirty="0"/>
          </a:p>
        </p:txBody>
      </p:sp>
      <p:sp>
        <p:nvSpPr>
          <p:cNvPr id="9" name="element_31f1755c6c5321dfbda16c9e3b588f1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53f040e31851467ba9d854f51138633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6b8788565cb251e9f900665cce2b24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351049bb3f96171b9309cba42e89e07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WORKFLOW / 04</a:t>
            </a:r>
            <a:endParaRPr lang="en-US" sz="1500" dirty="0"/>
          </a:p>
        </p:txBody>
      </p:sp>
      <p:sp>
        <p:nvSpPr>
          <p:cNvPr id="4" name="element_a6b90c2ad4ed46223d3e0bc6a6566578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Plan → propose → commit, with scope checked at every boundary.</a:t>
            </a:r>
            <a:endParaRPr lang="en-US" sz="3800" dirty="0"/>
          </a:p>
        </p:txBody>
      </p:sp>
      <p:sp>
        <p:nvSpPr>
          <p:cNvPr id="5" name="element_506193c9ec6a6c785a9803ff99dba72e"/>
          <p:cNvSpPr txBox="1"/>
          <p:nvPr/>
        </p:nvSpPr>
        <p:spPr>
          <a:xfrm>
            <a:off x="853419" y="2743200"/>
            <a:ext cx="58520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agent can reason broadly, but it may only write inside the explicit deck, slide, element, comment, or bounding-box scope.</a:t>
            </a:r>
            <a:endParaRPr lang="en-US" sz="1900" dirty="0"/>
          </a:p>
        </p:txBody>
      </p:sp>
      <p:sp>
        <p:nvSpPr>
          <p:cNvPr id="6" name="element_cba11e0475d3187ee26d88aaab74e101"/>
          <p:cNvSpPr txBox="1"/>
          <p:nvPr/>
        </p:nvSpPr>
        <p:spPr>
          <a:xfrm>
            <a:off x="7193100" y="288036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Read context</a:t>
            </a:r>
            <a:endParaRPr lang="en-US" sz="1700" dirty="0"/>
          </a:p>
        </p:txBody>
      </p:sp>
      <p:sp>
        <p:nvSpPr>
          <p:cNvPr id="7" name="element_5b4ec81acec3013b22296cb1b010c360"/>
          <p:cNvSpPr txBox="1"/>
          <p:nvPr/>
        </p:nvSpPr>
        <p:spPr>
          <a:xfrm>
            <a:off x="7193100" y="370332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Propose an inspectable patch</a:t>
            </a:r>
            <a:endParaRPr lang="en-US" sz="1700" dirty="0"/>
          </a:p>
        </p:txBody>
      </p:sp>
      <p:sp>
        <p:nvSpPr>
          <p:cNvPr id="8" name="element_c001fe50024c88556ea59c3353469d9e"/>
          <p:cNvSpPr txBox="1"/>
          <p:nvPr/>
        </p:nvSpPr>
        <p:spPr>
          <a:xfrm>
            <a:off x="7193100" y="452628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Validate and accept atomically</a:t>
            </a:r>
            <a:endParaRPr lang="en-US" sz="1700" dirty="0"/>
          </a:p>
        </p:txBody>
      </p:sp>
      <p:sp>
        <p:nvSpPr>
          <p:cNvPr id="9" name="element_18c625c59a81b8210af639abfc6c22e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5568eb63bd88d552e2bb065bfadc433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51bceb6b76b18cbbaf54ad5c83f3d6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9dde8cdfacad0ef4ac0fc63503dbc3a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PROOF / 05</a:t>
            </a:r>
            <a:endParaRPr lang="en-US" sz="1500" dirty="0"/>
          </a:p>
        </p:txBody>
      </p:sp>
      <p:sp>
        <p:nvSpPr>
          <p:cNvPr id="4" name="element_ba049b6f37f1e86df6b17725709d980f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A beautiful deck still needs deterministic gates.</a:t>
            </a:r>
            <a:endParaRPr lang="en-US" sz="3800" dirty="0"/>
          </a:p>
        </p:txBody>
      </p:sp>
      <p:sp>
        <p:nvSpPr>
          <p:cNvPr id="5" name="element_9941ba7e56fe225cc28ada1ec419c89a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Structural, geometry, source, and export checks produce separate signals for basic validity, publishing safety, and a clean handoff.</a:t>
            </a:r>
            <a:endParaRPr lang="en-US" sz="1900" dirty="0"/>
          </a:p>
        </p:txBody>
      </p:sp>
      <p:sp>
        <p:nvSpPr>
          <p:cNvPr id="6" name="element_6cec29e04e5c73893f580d03152a243c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ok · structurally valid</a:t>
            </a:r>
            <a:endParaRPr lang="en-US" sz="1700" dirty="0"/>
          </a:p>
        </p:txBody>
      </p:sp>
      <p:sp>
        <p:nvSpPr>
          <p:cNvPr id="7" name="element_ce0b20446094bcd0b863bdffc4dae02e"/>
          <p:cNvSpPr txBox="1"/>
          <p:nvPr/>
        </p:nvSpPr>
        <p:spPr>
          <a:xfrm>
            <a:off x="853419" y="507492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publishOk · safe to present</a:t>
            </a:r>
            <a:endParaRPr lang="en-US" sz="1700" dirty="0"/>
          </a:p>
        </p:txBody>
      </p:sp>
      <p:sp>
        <p:nvSpPr>
          <p:cNvPr id="8" name="element_125aaa95bae681824dc1e50a8a43ac17"/>
          <p:cNvSpPr txBox="1"/>
          <p:nvPr/>
        </p:nvSpPr>
        <p:spPr>
          <a:xfrm>
            <a:off x="853419" y="589788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cleanOk · no warnings</a:t>
            </a:r>
            <a:endParaRPr lang="en-US" sz="1700" dirty="0"/>
          </a:p>
        </p:txBody>
      </p:sp>
      <p:sp>
        <p:nvSpPr>
          <p:cNvPr id="9" name="element_95f0120403f5e8fe2a139185dd62d031"/>
          <p:cNvSpPr txBox="1"/>
          <p:nvPr/>
        </p:nvSpPr>
        <p:spPr>
          <a:xfrm>
            <a:off x="6827349" y="2811780"/>
            <a:ext cx="4145176" cy="10287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gates</a:t>
            </a:r>
            <a:endParaRPr lang="en-US" sz="4300" dirty="0"/>
          </a:p>
        </p:txBody>
      </p:sp>
      <p:sp>
        <p:nvSpPr>
          <p:cNvPr id="10" name="element_966e6fa55884f04f4a7106777cf59f41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independent validation signals: ok, publishOk, cleanOk</a:t>
            </a:r>
            <a:endParaRPr lang="en-US" sz="1500" dirty="0"/>
          </a:p>
        </p:txBody>
      </p:sp>
      <p:sp>
        <p:nvSpPr>
          <p:cNvPr id="11" name="element_0977339f5074d3a99ce6fe87af536bc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dbf8f3dd75da823a23ca0bd2668e0b2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9ca8687bba076db065468bdc6bddfe5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3663c6d987dd45a61e04186fa690b6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TRUST / 06</a:t>
            </a:r>
            <a:endParaRPr lang="en-US" sz="1500" dirty="0"/>
          </a:p>
        </p:txBody>
      </p:sp>
      <p:sp>
        <p:nvSpPr>
          <p:cNvPr id="4" name="element_63f5e0452280dbab46f76ffcc3108a28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Comments become context. Patches remain choices.</a:t>
            </a:r>
            <a:endParaRPr lang="en-US" sz="3800" dirty="0"/>
          </a:p>
        </p:txBody>
      </p:sp>
      <p:sp>
        <p:nvSpPr>
          <p:cNvPr id="5" name="element_00a8ec2aa4d636249bf54c358eadea12"/>
          <p:cNvSpPr txBox="1"/>
          <p:nvPr/>
        </p:nvSpPr>
        <p:spPr>
          <a:xfrm>
            <a:off x="853419" y="2743200"/>
            <a:ext cx="58520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reviewer can anchor feedback to a deck, slide, element, or region; link the resolution to an accepted patch; and restore any prior snapshot.</a:t>
            </a:r>
            <a:endParaRPr lang="en-US" sz="1900" dirty="0"/>
          </a:p>
        </p:txBody>
      </p:sp>
      <p:sp>
        <p:nvSpPr>
          <p:cNvPr id="6" name="element_fb5592a74423f57b348f285011258b1e"/>
          <p:cNvSpPr txBox="1"/>
          <p:nvPr/>
        </p:nvSpPr>
        <p:spPr>
          <a:xfrm>
            <a:off x="7193100" y="288036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Anchored discussion</a:t>
            </a:r>
            <a:endParaRPr lang="en-US" sz="1700" dirty="0"/>
          </a:p>
        </p:txBody>
      </p:sp>
      <p:sp>
        <p:nvSpPr>
          <p:cNvPr id="7" name="element_6f765e3d1b1cafb1dd15856bc5f888d4"/>
          <p:cNvSpPr txBox="1"/>
          <p:nvPr/>
        </p:nvSpPr>
        <p:spPr>
          <a:xfrm>
            <a:off x="7193100" y="370332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Compare-and-set acceptance</a:t>
            </a:r>
            <a:endParaRPr lang="en-US" sz="1700" dirty="0"/>
          </a:p>
        </p:txBody>
      </p:sp>
      <p:sp>
        <p:nvSpPr>
          <p:cNvPr id="8" name="element_c1ec97e61c3b3938d801a09e09c29cfc"/>
          <p:cNvSpPr txBox="1"/>
          <p:nvPr/>
        </p:nvSpPr>
        <p:spPr>
          <a:xfrm>
            <a:off x="7193100" y="452628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Version recovery</a:t>
            </a:r>
            <a:endParaRPr lang="en-US" sz="1700" dirty="0"/>
          </a:p>
        </p:txBody>
      </p:sp>
      <p:sp>
        <p:nvSpPr>
          <p:cNvPr id="9" name="element_d1a3255fa93f750afd58a04ff7e48ef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85262c52b8125d6656f63c3f13fb331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a510e1e6e4d03fa8881b2dd2f24344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f302973c8cf89f099df99ee73af225d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NEXT / 07</a:t>
            </a:r>
            <a:endParaRPr lang="en-US" sz="1500" dirty="0"/>
          </a:p>
        </p:txBody>
      </p:sp>
      <p:sp>
        <p:nvSpPr>
          <p:cNvPr id="4" name="element_13ca8ba036a904ea56d8bca9318afdd3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Move at presentation speed without giving up engineering-grade trust.</a:t>
            </a:r>
            <a:endParaRPr lang="en-US" sz="3800" dirty="0"/>
          </a:p>
        </p:txBody>
      </p:sp>
      <p:sp>
        <p:nvSpPr>
          <p:cNvPr id="5" name="element_d4bce2e3d3c4fc2e222c109f3e3fd619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Start with a brief, shape the narrative together, and leave with a deck whose content, sources, changes, and exports are still yours.</a:t>
            </a:r>
            <a:endParaRPr lang="en-US" sz="1900" dirty="0"/>
          </a:p>
        </p:txBody>
      </p:sp>
      <p:sp>
        <p:nvSpPr>
          <p:cNvPr id="6" name="element_d36588f2838c48e996792c40d6c71cd7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Create from brief</a:t>
            </a:r>
            <a:endParaRPr lang="en-US" sz="1600" dirty="0"/>
          </a:p>
        </p:txBody>
      </p:sp>
      <p:sp>
        <p:nvSpPr>
          <p:cNvPr id="7" name="element_ecc6b3b19966be17f0ae9a960450697b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Review every change</a:t>
            </a:r>
            <a:endParaRPr lang="en-US" sz="1600" dirty="0"/>
          </a:p>
        </p:txBody>
      </p:sp>
      <p:sp>
        <p:nvSpPr>
          <p:cNvPr id="8" name="element_7b9ccab240d4d9748a87a580267929e5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Present with confidence</a:t>
            </a:r>
            <a:endParaRPr lang="en-US" sz="1600" dirty="0"/>
          </a:p>
        </p:txBody>
      </p:sp>
      <p:sp>
        <p:nvSpPr>
          <p:cNvPr id="9" name="element_662ef7e94e555044c2f18e59d2f57d0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91924c9ea1e07b25e41eb251a77b36f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aunces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— stories with structure</dc:title>
  <dc:subject>Demonstrate the NodeSlide product story with a credible, polished golden deck</dc:subject>
  <dc:creator>NodeSlide</dc:creator>
  <cp:lastModifiedBy>NodeSlide</cp:lastModifiedBy>
  <cp:revision>1</cp:revision>
  <dcterms:created xsi:type="dcterms:W3CDTF">2026-07-11T13:18:04Z</dcterms:created>
  <dcterms:modified xsi:type="dcterms:W3CDTF">2026-07-11T13:18:04Z</dcterms:modified>
</cp:coreProperties>
</file>