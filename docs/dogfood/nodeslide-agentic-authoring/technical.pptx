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Narrative role: Opening / 01. Keep the spoken transition focused on “Make the architecture and safety boundary independently reviewable”
Evidence note: Content is based on the supplied creation brief. Illustrative examples are not independently verified; replace them with measured evidence before external publication.
NodeSlide sources
[source_e05d8da2c19440bd1d02388825cc5a03] NodeSlide — Agentic authoring architecture — creation brief
Citation: Explain the provider-neutral Deck REPL, immutable snapshot and compare-and-set model, bounded analysis kernels, render-observe-repair loop, and hard launch gates.
Disclaimer: Internal working material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Narrative role: Context / 02. Keep the spoken transition focused on “The cost of waiting is usually hidden in repeated work.”
Evidence note: Content is based on the supplied creation brief. Illustrative examples are not independently verified; replace them with measured evidence before external publication.
NodeSlide sources
[source_e05d8da2c19440bd1d02388825cc5a03] NodeSlide — Agentic authoring architecture — creation brief
Citation: Explain the provider-neutral Deck REPL, immutable snapshot and compare-and-set model, bounded analysis kernels, render-observe-repair loop, and hard launch gates.
Disclaimer: Internal working material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Narrative role: Insight / 03. Keep the spoken transition focused on “A better outcome starts with a sharper point of view.”
Evidence note: Content is based on the supplied creation brief. Illustrative examples are not independently verified; replace them with measured evidence before external publication.
NodeSlide sources
[source_e05d8da2c19440bd1d02388825cc5a03] NodeSlide — Agentic authoring architecture — creation brief
Citation: Explain the provider-neutral Deck REPL, immutable snapshot and compare-and-set model, bounded analysis kernels, render-observe-repair loop, and hard launch gates.
Disclaimer: Internal working material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Narrative role: Approach / 04. Keep the spoken transition focused on “Turn the idea into a sequence people can understand and own.”
Evidence note: Content is based on the supplied creation brief. Illustrative examples are not independently verified; replace them with measured evidence before external publication.
NodeSlide sources
[source_e05d8da2c19440bd1d02388825cc5a03] NodeSlide — Agentic authoring architecture — creation brief
Citation: Explain the provider-neutral Deck REPL, immutable snapshot and compare-and-set model, bounded analysis kernels, render-observe-repair loop, and hard launch gates.
Disclaimer: Internal working material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Narrative role: Evidence / 05. Keep the spoken transition focused on “Define proof before asking for commitment.”
Evidence note: Content is based on the supplied creation brief. Illustrative examples are not independently verified; replace them with measured evidence before external publication.
NodeSlide sources
[source_e05d8da2c19440bd1d02388825cc5a03] NodeSlide — Agentic authoring architecture — creation brief
Citation: Explain the provider-neutral Deck REPL, immutable snapshot and compare-and-set model, bounded analysis kernels, render-observe-repair loop, and hard launch gates.
Disclaimer: Internal working material
[source_e174369aab6a1207f6235134febe93f1] Brief success criteria
Citation: Trace authority from intent to patch; Show default-deny execution controls; Preserve the public multi-tenant no-go boundary
Disclaimer: Internal working material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Narrative role: Delivery / 06. Keep the spoken transition focused on “Start narrow, learn quickly, and preserve room to adapt.”
Evidence note: Content is based on the supplied creation brief. Illustrative examples are not independently verified; replace them with measured evidence before external publication.
NodeSlide sources
[source_e05d8da2c19440bd1d02388825cc5a03] NodeSlide — Agentic authoring architecture — creation brief
Citation: Explain the provider-neutral Deck REPL, immutable snapshot and compare-and-set model, bounded analysis kernels, render-observe-repair loop, and hard launch gates.
Disclaimer: Internal working material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Narrative role: Close / 07. Keep the spoken transition focused on “Make the architecture and safety boundary independently reviewable”
Evidence note: Content is based on the supplied creation brief. Illustrative examples are not independently verified; replace them with measured evidence before external publication.
NodeSlide sources
[source_e05d8da2c19440bd1d02388825cc5a03] NodeSlide — Agentic authoring architecture — creation brief
Citation: Explain the provider-neutral Deck REPL, immutable snapshot and compare-and-set model, bounded analysis kernels, render-observe-repair loop, and hard launch gates.
Disclaimer: Internal working material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ement_d8abcfd9fbedde404b9c231e43d6b4c9"/>
          <p:cNvSpPr/>
          <p:nvPr/>
        </p:nvSpPr>
        <p:spPr>
          <a:xfrm>
            <a:off x="426709" y="445770"/>
            <a:ext cx="121917" cy="5692140"/>
          </a:xfrm>
          <a:prstGeom prst="roundRect">
            <a:avLst/>
          </a:prstGeom>
          <a:solidFill>
            <a:srgbClr val="B8E06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element_bceff25fecf6db648453532f6fa68829"/>
          <p:cNvSpPr txBox="1"/>
          <p:nvPr/>
        </p:nvSpPr>
        <p:spPr>
          <a:xfrm>
            <a:off x="853419" y="445770"/>
            <a:ext cx="585201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spc="130" kern="0" dirty="0">
                <a:solidFill>
                  <a:srgbClr val="B8E068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OPENING / 01</a:t>
            </a:r>
            <a:endParaRPr lang="en-US" sz="1500" dirty="0"/>
          </a:p>
        </p:txBody>
      </p:sp>
      <p:sp>
        <p:nvSpPr>
          <p:cNvPr id="4" name="element_f2e7e4477269a8e1e67706cc5909a21e"/>
          <p:cNvSpPr txBox="1"/>
          <p:nvPr/>
        </p:nvSpPr>
        <p:spPr>
          <a:xfrm>
            <a:off x="853419" y="1028700"/>
            <a:ext cx="9631439" cy="1851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800" b="1" spc="-80" kern="0" dirty="0">
                <a:solidFill>
                  <a:srgbClr val="F4F1E9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Make the architecture and safety boundary independently reviewable</a:t>
            </a:r>
            <a:endParaRPr lang="en-US" sz="4800" dirty="0"/>
          </a:p>
        </p:txBody>
      </p:sp>
      <p:sp>
        <p:nvSpPr>
          <p:cNvPr id="5" name="element_bbabc85f704301a711fee177ddb0c25e"/>
          <p:cNvSpPr txBox="1"/>
          <p:nvPr/>
        </p:nvSpPr>
        <p:spPr>
          <a:xfrm>
            <a:off x="853419" y="3291840"/>
            <a:ext cx="8046519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A9AFBA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A focused narrative for senior engineers, security reviewers, and technical product leaders, built from the supplied brief and kept editable from first draft onward.</a:t>
            </a:r>
            <a:endParaRPr lang="en-US" sz="1900" dirty="0"/>
          </a:p>
        </p:txBody>
      </p:sp>
      <p:sp>
        <p:nvSpPr>
          <p:cNvPr id="6" name="element_780a49d9707a66e75597821b2b0568eb"/>
          <p:cNvSpPr txBox="1"/>
          <p:nvPr/>
        </p:nvSpPr>
        <p:spPr>
          <a:xfrm>
            <a:off x="853419" y="4937760"/>
            <a:ext cx="30479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F4F1E9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•  Trace authority from intent to patch</a:t>
            </a:r>
            <a:endParaRPr lang="en-US" sz="1600" dirty="0"/>
          </a:p>
        </p:txBody>
      </p:sp>
      <p:sp>
        <p:nvSpPr>
          <p:cNvPr id="7" name="element_a6e2a049705cfcad463cef03f00af709"/>
          <p:cNvSpPr txBox="1"/>
          <p:nvPr/>
        </p:nvSpPr>
        <p:spPr>
          <a:xfrm>
            <a:off x="4267093" y="4937760"/>
            <a:ext cx="30479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F4F1E9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•  Show default-deny execution controls</a:t>
            </a:r>
            <a:endParaRPr lang="en-US" sz="1600" dirty="0"/>
          </a:p>
        </p:txBody>
      </p:sp>
      <p:sp>
        <p:nvSpPr>
          <p:cNvPr id="8" name="element_b732d3981cfa939cd682fb5f075ada8c"/>
          <p:cNvSpPr txBox="1"/>
          <p:nvPr/>
        </p:nvSpPr>
        <p:spPr>
          <a:xfrm>
            <a:off x="7680768" y="4937760"/>
            <a:ext cx="30479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F4F1E9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•  Preserve the public multi-tenant no-go boundary</a:t>
            </a:r>
            <a:endParaRPr lang="en-US" sz="1600" dirty="0"/>
          </a:p>
        </p:txBody>
      </p:sp>
      <p:sp>
        <p:nvSpPr>
          <p:cNvPr id="9" name="element_49a2fa79f44c57d67efb501f9222529f"/>
          <p:cNvSpPr txBox="1"/>
          <p:nvPr/>
        </p:nvSpPr>
        <p:spPr>
          <a:xfrm>
            <a:off x="853419" y="6377940"/>
            <a:ext cx="8778021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spc="110" kern="0" dirty="0">
                <a:solidFill>
                  <a:srgbClr val="A9AFBA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NODESLIDE  ·  SOURCE-AWARE  ·  EDITABLE</a:t>
            </a:r>
            <a:endParaRPr lang="en-US" sz="1000" dirty="0"/>
          </a:p>
        </p:txBody>
      </p:sp>
      <p:sp>
        <p:nvSpPr>
          <p:cNvPr id="10" name="element_b358ddef388ea4c1e6df18251d218908"/>
          <p:cNvSpPr txBox="1"/>
          <p:nvPr/>
        </p:nvSpPr>
        <p:spPr>
          <a:xfrm>
            <a:off x="10728692" y="6309360"/>
            <a:ext cx="73150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B8E068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01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5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ement_8172e132e7470f54ae02d7bf1683d6e0"/>
          <p:cNvSpPr/>
          <p:nvPr/>
        </p:nvSpPr>
        <p:spPr>
          <a:xfrm>
            <a:off x="426709" y="445770"/>
            <a:ext cx="121917" cy="5692140"/>
          </a:xfrm>
          <a:prstGeom prst="roundRect">
            <a:avLst/>
          </a:prstGeom>
          <a:solidFill>
            <a:srgbClr val="B8E06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element_bc1fa4f325dca8c78c29e1cdbed5e57b"/>
          <p:cNvSpPr txBox="1"/>
          <p:nvPr/>
        </p:nvSpPr>
        <p:spPr>
          <a:xfrm>
            <a:off x="853419" y="445770"/>
            <a:ext cx="585201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spc="130" kern="0" dirty="0">
                <a:solidFill>
                  <a:srgbClr val="B8E068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CONTEXT / 02</a:t>
            </a:r>
            <a:endParaRPr lang="en-US" sz="1500" dirty="0"/>
          </a:p>
        </p:txBody>
      </p:sp>
      <p:sp>
        <p:nvSpPr>
          <p:cNvPr id="4" name="element_f2acc81bf6f1d939ba9417aa08046f28"/>
          <p:cNvSpPr txBox="1"/>
          <p:nvPr/>
        </p:nvSpPr>
        <p:spPr>
          <a:xfrm>
            <a:off x="853419" y="1028700"/>
            <a:ext cx="92656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800" b="1" spc="-80" kern="0" dirty="0">
                <a:solidFill>
                  <a:srgbClr val="F4F1E9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The cost of waiting is usually hidden in repeated work.</a:t>
            </a:r>
            <a:endParaRPr lang="en-US" sz="3800" dirty="0"/>
          </a:p>
        </p:txBody>
      </p:sp>
      <p:sp>
        <p:nvSpPr>
          <p:cNvPr id="5" name="element_a5b517aa42f5142fc1bfb20c0decaffc"/>
          <p:cNvSpPr txBox="1"/>
          <p:nvPr/>
        </p:nvSpPr>
        <p:spPr>
          <a:xfrm>
            <a:off x="853419" y="2743200"/>
            <a:ext cx="58520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A9AFBA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Frame the current reality for senior engineers, security reviewers, and technical product leaders: what is fragmented today, why it matters now, and where momentum is being lost.</a:t>
            </a:r>
            <a:endParaRPr lang="en-US" sz="1900" dirty="0"/>
          </a:p>
        </p:txBody>
      </p:sp>
      <p:sp>
        <p:nvSpPr>
          <p:cNvPr id="6" name="element_2cef39b58bdc1191834cd63316ee311c"/>
          <p:cNvSpPr txBox="1"/>
          <p:nvPr/>
        </p:nvSpPr>
        <p:spPr>
          <a:xfrm>
            <a:off x="7193100" y="2880360"/>
            <a:ext cx="4023259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F4F1E9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01  Name the friction</a:t>
            </a:r>
            <a:endParaRPr lang="en-US" sz="1700" dirty="0"/>
          </a:p>
        </p:txBody>
      </p:sp>
      <p:sp>
        <p:nvSpPr>
          <p:cNvPr id="7" name="element_60e23701fa428bfd5c7caddac0ecd34d"/>
          <p:cNvSpPr txBox="1"/>
          <p:nvPr/>
        </p:nvSpPr>
        <p:spPr>
          <a:xfrm>
            <a:off x="7193100" y="3703320"/>
            <a:ext cx="4023259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F4F1E9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02  Expose the consequence</a:t>
            </a:r>
            <a:endParaRPr lang="en-US" sz="1700" dirty="0"/>
          </a:p>
        </p:txBody>
      </p:sp>
      <p:sp>
        <p:nvSpPr>
          <p:cNvPr id="8" name="element_9eeb2b375ffbb577816092e7825a216e"/>
          <p:cNvSpPr txBox="1"/>
          <p:nvPr/>
        </p:nvSpPr>
        <p:spPr>
          <a:xfrm>
            <a:off x="7193100" y="4526280"/>
            <a:ext cx="4023259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F4F1E9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03  Create urgency without hype</a:t>
            </a:r>
            <a:endParaRPr lang="en-US" sz="1700" dirty="0"/>
          </a:p>
        </p:txBody>
      </p:sp>
      <p:sp>
        <p:nvSpPr>
          <p:cNvPr id="9" name="element_73ba0ab5228ed0f2abc7c798f566042b"/>
          <p:cNvSpPr txBox="1"/>
          <p:nvPr/>
        </p:nvSpPr>
        <p:spPr>
          <a:xfrm>
            <a:off x="853419" y="6377940"/>
            <a:ext cx="8778021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spc="110" kern="0" dirty="0">
                <a:solidFill>
                  <a:srgbClr val="A9AFBA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NODESLIDE  ·  SOURCE-AWARE  ·  EDITABLE</a:t>
            </a:r>
            <a:endParaRPr lang="en-US" sz="1000" dirty="0"/>
          </a:p>
        </p:txBody>
      </p:sp>
      <p:sp>
        <p:nvSpPr>
          <p:cNvPr id="10" name="element_83f471a5d902d7ad553d3f786f2e1dd9"/>
          <p:cNvSpPr txBox="1"/>
          <p:nvPr/>
        </p:nvSpPr>
        <p:spPr>
          <a:xfrm>
            <a:off x="10728692" y="6309360"/>
            <a:ext cx="73150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B8E068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02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5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ement_7d736b96ebf6645db71fcf5376aefd58"/>
          <p:cNvSpPr/>
          <p:nvPr/>
        </p:nvSpPr>
        <p:spPr>
          <a:xfrm>
            <a:off x="426709" y="445770"/>
            <a:ext cx="121917" cy="5692140"/>
          </a:xfrm>
          <a:prstGeom prst="roundRect">
            <a:avLst/>
          </a:prstGeom>
          <a:solidFill>
            <a:srgbClr val="B8E06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element_a0ce692006bce4496413d6b35e96fc68"/>
          <p:cNvSpPr txBox="1"/>
          <p:nvPr/>
        </p:nvSpPr>
        <p:spPr>
          <a:xfrm>
            <a:off x="853419" y="445770"/>
            <a:ext cx="585201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spc="130" kern="0" dirty="0">
                <a:solidFill>
                  <a:srgbClr val="B8E068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INSIGHT / 03</a:t>
            </a:r>
            <a:endParaRPr lang="en-US" sz="1500" dirty="0"/>
          </a:p>
        </p:txBody>
      </p:sp>
      <p:sp>
        <p:nvSpPr>
          <p:cNvPr id="4" name="element_9b46de47e30a5bb0a37cca5f510aa7ec"/>
          <p:cNvSpPr txBox="1"/>
          <p:nvPr/>
        </p:nvSpPr>
        <p:spPr>
          <a:xfrm>
            <a:off x="853419" y="1028700"/>
            <a:ext cx="92656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800" b="1" spc="-80" kern="0" dirty="0">
                <a:solidFill>
                  <a:srgbClr val="F4F1E9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A better outcome starts with a sharper point of view.</a:t>
            </a:r>
            <a:endParaRPr lang="en-US" sz="3800" dirty="0"/>
          </a:p>
        </p:txBody>
      </p:sp>
      <p:sp>
        <p:nvSpPr>
          <p:cNvPr id="5" name="element_83605a8e64b7f5b24b5babf8d8f74ce4"/>
          <p:cNvSpPr txBox="1"/>
          <p:nvPr/>
        </p:nvSpPr>
        <p:spPr>
          <a:xfrm>
            <a:off x="853419" y="2743200"/>
            <a:ext cx="58520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A9AFBA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Explain the provider-neutral Deck REPL, immutable snapshot and compare-and-set model, bounded analysis kernels, render-observe-repair loop, and hard launch gates.</a:t>
            </a:r>
            <a:endParaRPr lang="en-US" sz="1900" dirty="0"/>
          </a:p>
        </p:txBody>
      </p:sp>
      <p:sp>
        <p:nvSpPr>
          <p:cNvPr id="6" name="element_d7064a5932ef441d6c3e6d92143679e7"/>
          <p:cNvSpPr txBox="1"/>
          <p:nvPr/>
        </p:nvSpPr>
        <p:spPr>
          <a:xfrm>
            <a:off x="7193100" y="2880360"/>
            <a:ext cx="4023259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F4F1E9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01  Trace authority from intent to patch</a:t>
            </a:r>
            <a:endParaRPr lang="en-US" sz="1700" dirty="0"/>
          </a:p>
        </p:txBody>
      </p:sp>
      <p:sp>
        <p:nvSpPr>
          <p:cNvPr id="7" name="element_c0262e188d4bd22a895d8d2176e2ad12"/>
          <p:cNvSpPr txBox="1"/>
          <p:nvPr/>
        </p:nvSpPr>
        <p:spPr>
          <a:xfrm>
            <a:off x="7193100" y="3703320"/>
            <a:ext cx="4023259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F4F1E9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02  Show default-deny execution controls</a:t>
            </a:r>
            <a:endParaRPr lang="en-US" sz="1700" dirty="0"/>
          </a:p>
        </p:txBody>
      </p:sp>
      <p:sp>
        <p:nvSpPr>
          <p:cNvPr id="8" name="element_bad22c460bc37414f0da1d5053ca3052"/>
          <p:cNvSpPr txBox="1"/>
          <p:nvPr/>
        </p:nvSpPr>
        <p:spPr>
          <a:xfrm>
            <a:off x="7193100" y="4526280"/>
            <a:ext cx="4023259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F4F1E9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03  Preserve the public multi-tenant no-go boundary</a:t>
            </a:r>
            <a:endParaRPr lang="en-US" sz="1700" dirty="0"/>
          </a:p>
        </p:txBody>
      </p:sp>
      <p:sp>
        <p:nvSpPr>
          <p:cNvPr id="9" name="element_37e7b9c07efd46bc8ec97c282fb14bdc"/>
          <p:cNvSpPr txBox="1"/>
          <p:nvPr/>
        </p:nvSpPr>
        <p:spPr>
          <a:xfrm>
            <a:off x="853419" y="6377940"/>
            <a:ext cx="8778021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spc="110" kern="0" dirty="0">
                <a:solidFill>
                  <a:srgbClr val="A9AFBA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NODESLIDE  ·  SOURCE-AWARE  ·  EDITABLE</a:t>
            </a:r>
            <a:endParaRPr lang="en-US" sz="1000" dirty="0"/>
          </a:p>
        </p:txBody>
      </p:sp>
      <p:sp>
        <p:nvSpPr>
          <p:cNvPr id="10" name="element_6292881b1ceafee8c1efd2539de07ed1"/>
          <p:cNvSpPr txBox="1"/>
          <p:nvPr/>
        </p:nvSpPr>
        <p:spPr>
          <a:xfrm>
            <a:off x="10728692" y="6309360"/>
            <a:ext cx="73150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B8E068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03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5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ement_628e8858d95d97a880f14e532e3566ca"/>
          <p:cNvSpPr/>
          <p:nvPr/>
        </p:nvSpPr>
        <p:spPr>
          <a:xfrm>
            <a:off x="426709" y="445770"/>
            <a:ext cx="121917" cy="5692140"/>
          </a:xfrm>
          <a:prstGeom prst="roundRect">
            <a:avLst/>
          </a:prstGeom>
          <a:solidFill>
            <a:srgbClr val="B8E06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element_2f851106dc05ceff5376115503b34cca"/>
          <p:cNvSpPr txBox="1"/>
          <p:nvPr/>
        </p:nvSpPr>
        <p:spPr>
          <a:xfrm>
            <a:off x="853419" y="445770"/>
            <a:ext cx="585201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spc="130" kern="0" dirty="0">
                <a:solidFill>
                  <a:srgbClr val="B8E068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APPROACH / 04</a:t>
            </a:r>
            <a:endParaRPr lang="en-US" sz="1500" dirty="0"/>
          </a:p>
        </p:txBody>
      </p:sp>
      <p:sp>
        <p:nvSpPr>
          <p:cNvPr id="4" name="element_a781f5ec43024a63cc04c82f6154712b"/>
          <p:cNvSpPr txBox="1"/>
          <p:nvPr/>
        </p:nvSpPr>
        <p:spPr>
          <a:xfrm>
            <a:off x="853419" y="1028700"/>
            <a:ext cx="92656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800" b="1" spc="-80" kern="0" dirty="0">
                <a:solidFill>
                  <a:srgbClr val="F4F1E9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Turn the idea into a sequence people can understand and own.</a:t>
            </a:r>
            <a:endParaRPr lang="en-US" sz="3800" dirty="0"/>
          </a:p>
        </p:txBody>
      </p:sp>
      <p:sp>
        <p:nvSpPr>
          <p:cNvPr id="5" name="element_9f5bc3ae50253add0da3e10be44e447b"/>
          <p:cNvSpPr txBox="1"/>
          <p:nvPr/>
        </p:nvSpPr>
        <p:spPr>
          <a:xfrm>
            <a:off x="853419" y="2743200"/>
            <a:ext cx="58520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A9AFBA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Connect intent, action, and feedback in one visible operating path so the audience can see both the destination and the mechanics.</a:t>
            </a:r>
            <a:endParaRPr lang="en-US" sz="1900" dirty="0"/>
          </a:p>
        </p:txBody>
      </p:sp>
      <p:sp>
        <p:nvSpPr>
          <p:cNvPr id="6" name="element_ecd7315e885928d095a7a63553de6d34"/>
          <p:cNvSpPr txBox="1"/>
          <p:nvPr/>
        </p:nvSpPr>
        <p:spPr>
          <a:xfrm>
            <a:off x="7193100" y="2880360"/>
            <a:ext cx="4023259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F4F1E9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01  Align on intent</a:t>
            </a:r>
            <a:endParaRPr lang="en-US" sz="1700" dirty="0"/>
          </a:p>
        </p:txBody>
      </p:sp>
      <p:sp>
        <p:nvSpPr>
          <p:cNvPr id="7" name="element_abdf12bcf313f7484d4e31da4ecf924b"/>
          <p:cNvSpPr txBox="1"/>
          <p:nvPr/>
        </p:nvSpPr>
        <p:spPr>
          <a:xfrm>
            <a:off x="7193100" y="3703320"/>
            <a:ext cx="4023259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F4F1E9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02  Execute the critical moves</a:t>
            </a:r>
            <a:endParaRPr lang="en-US" sz="1700" dirty="0"/>
          </a:p>
        </p:txBody>
      </p:sp>
      <p:sp>
        <p:nvSpPr>
          <p:cNvPr id="8" name="element_d214abcdbf11a73aa8bc5214899fe854"/>
          <p:cNvSpPr txBox="1"/>
          <p:nvPr/>
        </p:nvSpPr>
        <p:spPr>
          <a:xfrm>
            <a:off x="7193100" y="4526280"/>
            <a:ext cx="4023259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F4F1E9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03  Review measurable outcomes</a:t>
            </a:r>
            <a:endParaRPr lang="en-US" sz="1700" dirty="0"/>
          </a:p>
        </p:txBody>
      </p:sp>
      <p:sp>
        <p:nvSpPr>
          <p:cNvPr id="9" name="element_659d9a67e2e60bfe7d6445f034457394"/>
          <p:cNvSpPr txBox="1"/>
          <p:nvPr/>
        </p:nvSpPr>
        <p:spPr>
          <a:xfrm>
            <a:off x="853419" y="6377940"/>
            <a:ext cx="8778021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spc="110" kern="0" dirty="0">
                <a:solidFill>
                  <a:srgbClr val="A9AFBA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NODESLIDE  ·  SOURCE-AWARE  ·  EDITABLE</a:t>
            </a:r>
            <a:endParaRPr lang="en-US" sz="1000" dirty="0"/>
          </a:p>
        </p:txBody>
      </p:sp>
      <p:sp>
        <p:nvSpPr>
          <p:cNvPr id="10" name="element_d75c79f8d2c5a00a8e4b64d7383ecdf3"/>
          <p:cNvSpPr txBox="1"/>
          <p:nvPr/>
        </p:nvSpPr>
        <p:spPr>
          <a:xfrm>
            <a:off x="10728692" y="6309360"/>
            <a:ext cx="73150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B8E068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04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5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ement_00a6698decbbaab835ee408854299073"/>
          <p:cNvSpPr/>
          <p:nvPr/>
        </p:nvSpPr>
        <p:spPr>
          <a:xfrm>
            <a:off x="426709" y="445770"/>
            <a:ext cx="121917" cy="5692140"/>
          </a:xfrm>
          <a:prstGeom prst="roundRect">
            <a:avLst/>
          </a:prstGeom>
          <a:solidFill>
            <a:srgbClr val="B8E06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element_5b18ce8a6a2ccad9b47df6491654d0a5"/>
          <p:cNvSpPr txBox="1"/>
          <p:nvPr/>
        </p:nvSpPr>
        <p:spPr>
          <a:xfrm>
            <a:off x="853419" y="445770"/>
            <a:ext cx="585201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spc="130" kern="0" dirty="0">
                <a:solidFill>
                  <a:srgbClr val="B8E068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EVIDENCE / 05</a:t>
            </a:r>
            <a:endParaRPr lang="en-US" sz="1500" dirty="0"/>
          </a:p>
        </p:txBody>
      </p:sp>
      <p:sp>
        <p:nvSpPr>
          <p:cNvPr id="4" name="element_dbbf0b0517f417a9164e7d01eacba80a"/>
          <p:cNvSpPr txBox="1"/>
          <p:nvPr/>
        </p:nvSpPr>
        <p:spPr>
          <a:xfrm>
            <a:off x="853419" y="1028700"/>
            <a:ext cx="92656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800" b="1" spc="-80" kern="0" dirty="0">
                <a:solidFill>
                  <a:srgbClr val="F4F1E9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Define proof before asking for commitment.</a:t>
            </a:r>
            <a:endParaRPr lang="en-US" sz="3800" dirty="0"/>
          </a:p>
        </p:txBody>
      </p:sp>
      <p:sp>
        <p:nvSpPr>
          <p:cNvPr id="5" name="element_79225616bb83ae31d8ff94043556f80b"/>
          <p:cNvSpPr txBox="1"/>
          <p:nvPr/>
        </p:nvSpPr>
        <p:spPr>
          <a:xfrm>
            <a:off x="853419" y="2743200"/>
            <a:ext cx="4754761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A9AFBA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Use the brief’s success criteria as explicit evaluation signals, with assumptions clearly separated from measured evidence.</a:t>
            </a:r>
            <a:endParaRPr lang="en-US" sz="1900" dirty="0"/>
          </a:p>
        </p:txBody>
      </p:sp>
      <p:sp>
        <p:nvSpPr>
          <p:cNvPr id="6" name="element_d6287eccd96dad5d6984e08a58450612"/>
          <p:cNvSpPr txBox="1"/>
          <p:nvPr/>
        </p:nvSpPr>
        <p:spPr>
          <a:xfrm>
            <a:off x="853419" y="4251960"/>
            <a:ext cx="4754761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F4F1E9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01  Trace authority from intent to patch</a:t>
            </a:r>
            <a:endParaRPr lang="en-US" sz="1700" dirty="0"/>
          </a:p>
        </p:txBody>
      </p:sp>
      <p:sp>
        <p:nvSpPr>
          <p:cNvPr id="7" name="element_d4d0d7fcabcced0f02bc3c37075ad951"/>
          <p:cNvSpPr txBox="1"/>
          <p:nvPr/>
        </p:nvSpPr>
        <p:spPr>
          <a:xfrm>
            <a:off x="853419" y="5074920"/>
            <a:ext cx="4754761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F4F1E9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02  Show default-deny execution controls</a:t>
            </a:r>
            <a:endParaRPr lang="en-US" sz="1700" dirty="0"/>
          </a:p>
        </p:txBody>
      </p:sp>
      <p:sp>
        <p:nvSpPr>
          <p:cNvPr id="8" name="element_c8701b7209ad3bf93bd44f6a58d635cb"/>
          <p:cNvSpPr txBox="1"/>
          <p:nvPr/>
        </p:nvSpPr>
        <p:spPr>
          <a:xfrm>
            <a:off x="853419" y="5897880"/>
            <a:ext cx="4754761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F4F1E9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03  Preserve the public multi-tenant no-go boundary</a:t>
            </a:r>
            <a:endParaRPr lang="en-US" sz="1700" dirty="0"/>
          </a:p>
        </p:txBody>
      </p:sp>
      <p:sp>
        <p:nvSpPr>
          <p:cNvPr id="9" name="element_fcb6a9c6391da3f5fb608322f117499d"/>
          <p:cNvSpPr txBox="1"/>
          <p:nvPr/>
        </p:nvSpPr>
        <p:spPr>
          <a:xfrm>
            <a:off x="6827349" y="2811780"/>
            <a:ext cx="4145176" cy="1028700"/>
          </a:xfrm>
          <a:prstGeom prst="rect">
            <a:avLst/>
          </a:prstGeom>
          <a:noFill/>
          <a:ln/>
        </p:spPr>
        <p:txBody>
          <a:bodyPr wrap="square" lIns="254000" tIns="254000" rIns="254000" bIns="2540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300" b="1" dirty="0">
                <a:solidFill>
                  <a:srgbClr val="E4FFAA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3 signals</a:t>
            </a:r>
            <a:endParaRPr lang="en-US" sz="4300" dirty="0"/>
          </a:p>
        </p:txBody>
      </p:sp>
      <p:sp>
        <p:nvSpPr>
          <p:cNvPr id="10" name="element_af906b45466087c7bf17a69ea6748e2d"/>
          <p:cNvSpPr txBox="1"/>
          <p:nvPr/>
        </p:nvSpPr>
        <p:spPr>
          <a:xfrm>
            <a:off x="7193100" y="3977640"/>
            <a:ext cx="3535592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A9AFBA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agreed measures of a successful outcome</a:t>
            </a:r>
            <a:endParaRPr lang="en-US" sz="1500" dirty="0"/>
          </a:p>
        </p:txBody>
      </p:sp>
      <p:sp>
        <p:nvSpPr>
          <p:cNvPr id="11" name="element_b21ffcb4a496c0c65442e714c48d8ccd"/>
          <p:cNvSpPr txBox="1"/>
          <p:nvPr/>
        </p:nvSpPr>
        <p:spPr>
          <a:xfrm>
            <a:off x="853419" y="6377940"/>
            <a:ext cx="8778021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spc="110" kern="0" dirty="0">
                <a:solidFill>
                  <a:srgbClr val="A9AFBA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NODESLIDE  ·  SOURCE-AWARE  ·  EDITABLE</a:t>
            </a:r>
            <a:endParaRPr lang="en-US" sz="1000" dirty="0"/>
          </a:p>
        </p:txBody>
      </p:sp>
      <p:sp>
        <p:nvSpPr>
          <p:cNvPr id="12" name="element_66a3e5cb558917968928845310eb18b6"/>
          <p:cNvSpPr txBox="1"/>
          <p:nvPr/>
        </p:nvSpPr>
        <p:spPr>
          <a:xfrm>
            <a:off x="10728692" y="6309360"/>
            <a:ext cx="73150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B8E068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05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5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ement_b9b07c143e9d9b245232ecb96febe798"/>
          <p:cNvSpPr/>
          <p:nvPr/>
        </p:nvSpPr>
        <p:spPr>
          <a:xfrm>
            <a:off x="426709" y="445770"/>
            <a:ext cx="121917" cy="5692140"/>
          </a:xfrm>
          <a:prstGeom prst="roundRect">
            <a:avLst/>
          </a:prstGeom>
          <a:solidFill>
            <a:srgbClr val="B8E06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element_2f8b29ef4202fe40f14983f1a9c9d4fc"/>
          <p:cNvSpPr txBox="1"/>
          <p:nvPr/>
        </p:nvSpPr>
        <p:spPr>
          <a:xfrm>
            <a:off x="853419" y="445770"/>
            <a:ext cx="585201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spc="130" kern="0" dirty="0">
                <a:solidFill>
                  <a:srgbClr val="B8E068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DELIVERY / 06</a:t>
            </a:r>
            <a:endParaRPr lang="en-US" sz="1500" dirty="0"/>
          </a:p>
        </p:txBody>
      </p:sp>
      <p:sp>
        <p:nvSpPr>
          <p:cNvPr id="4" name="element_3d91e0c23abbce735802ab8a9e907bdf"/>
          <p:cNvSpPr txBox="1"/>
          <p:nvPr/>
        </p:nvSpPr>
        <p:spPr>
          <a:xfrm>
            <a:off x="853419" y="1028700"/>
            <a:ext cx="92656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800" b="1" spc="-80" kern="0" dirty="0">
                <a:solidFill>
                  <a:srgbClr val="F4F1E9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Start narrow, learn quickly, and preserve room to adapt.</a:t>
            </a:r>
            <a:endParaRPr lang="en-US" sz="3800" dirty="0"/>
          </a:p>
        </p:txBody>
      </p:sp>
      <p:sp>
        <p:nvSpPr>
          <p:cNvPr id="5" name="element_55aaefda022441d5cbce26d162946472"/>
          <p:cNvSpPr txBox="1"/>
          <p:nvPr/>
        </p:nvSpPr>
        <p:spPr>
          <a:xfrm>
            <a:off x="853419" y="2743200"/>
            <a:ext cx="58520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A9AFBA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Sequence the work into a focused launch, an evidence review, and a deliberate scale decision with named ownership at every step.</a:t>
            </a:r>
            <a:endParaRPr lang="en-US" sz="1900" dirty="0"/>
          </a:p>
        </p:txBody>
      </p:sp>
      <p:sp>
        <p:nvSpPr>
          <p:cNvPr id="6" name="element_356420ca97e5abfbcd26552cac57787b"/>
          <p:cNvSpPr txBox="1"/>
          <p:nvPr/>
        </p:nvSpPr>
        <p:spPr>
          <a:xfrm>
            <a:off x="7193100" y="2880360"/>
            <a:ext cx="4023259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F4F1E9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01  Launch the smallest credible move</a:t>
            </a:r>
            <a:endParaRPr lang="en-US" sz="1700" dirty="0"/>
          </a:p>
        </p:txBody>
      </p:sp>
      <p:sp>
        <p:nvSpPr>
          <p:cNvPr id="7" name="element_d3e74a9e5f8b5d7dfebcddce1971153d"/>
          <p:cNvSpPr txBox="1"/>
          <p:nvPr/>
        </p:nvSpPr>
        <p:spPr>
          <a:xfrm>
            <a:off x="7193100" y="3703320"/>
            <a:ext cx="4023259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F4F1E9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02  Review evidence with stakeholders</a:t>
            </a:r>
            <a:endParaRPr lang="en-US" sz="1700" dirty="0"/>
          </a:p>
        </p:txBody>
      </p:sp>
      <p:sp>
        <p:nvSpPr>
          <p:cNvPr id="8" name="element_c054d1eea1a0a0439acf120210a4513e"/>
          <p:cNvSpPr txBox="1"/>
          <p:nvPr/>
        </p:nvSpPr>
        <p:spPr>
          <a:xfrm>
            <a:off x="7193100" y="4526280"/>
            <a:ext cx="4023259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F4F1E9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03  Scale what earns confidence</a:t>
            </a:r>
            <a:endParaRPr lang="en-US" sz="1700" dirty="0"/>
          </a:p>
        </p:txBody>
      </p:sp>
      <p:sp>
        <p:nvSpPr>
          <p:cNvPr id="9" name="element_de6fcf1212c6813467df58efd8170fdf"/>
          <p:cNvSpPr txBox="1"/>
          <p:nvPr/>
        </p:nvSpPr>
        <p:spPr>
          <a:xfrm>
            <a:off x="853419" y="6377940"/>
            <a:ext cx="8778021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spc="110" kern="0" dirty="0">
                <a:solidFill>
                  <a:srgbClr val="A9AFBA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NODESLIDE  ·  SOURCE-AWARE  ·  EDITABLE</a:t>
            </a:r>
            <a:endParaRPr lang="en-US" sz="1000" dirty="0"/>
          </a:p>
        </p:txBody>
      </p:sp>
      <p:sp>
        <p:nvSpPr>
          <p:cNvPr id="10" name="element_992b98f7a00e4e4bec3487ee4c81bb03"/>
          <p:cNvSpPr txBox="1"/>
          <p:nvPr/>
        </p:nvSpPr>
        <p:spPr>
          <a:xfrm>
            <a:off x="10728692" y="6309360"/>
            <a:ext cx="73150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B8E068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06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5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ement_d7dcbde2115619a78e05099b55a96607"/>
          <p:cNvSpPr/>
          <p:nvPr/>
        </p:nvSpPr>
        <p:spPr>
          <a:xfrm>
            <a:off x="426709" y="445770"/>
            <a:ext cx="121917" cy="5692140"/>
          </a:xfrm>
          <a:prstGeom prst="roundRect">
            <a:avLst/>
          </a:prstGeom>
          <a:solidFill>
            <a:srgbClr val="B8E06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element_f9ab95f3e1cb8a92e00c52baf4a824f6"/>
          <p:cNvSpPr txBox="1"/>
          <p:nvPr/>
        </p:nvSpPr>
        <p:spPr>
          <a:xfrm>
            <a:off x="853419" y="445770"/>
            <a:ext cx="585201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spc="130" kern="0" dirty="0">
                <a:solidFill>
                  <a:srgbClr val="B8E068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CLOSE / 07</a:t>
            </a:r>
            <a:endParaRPr lang="en-US" sz="1500" dirty="0"/>
          </a:p>
        </p:txBody>
      </p:sp>
      <p:sp>
        <p:nvSpPr>
          <p:cNvPr id="4" name="element_39a3138de54e0d6c2794d7839725b904"/>
          <p:cNvSpPr txBox="1"/>
          <p:nvPr/>
        </p:nvSpPr>
        <p:spPr>
          <a:xfrm>
            <a:off x="853419" y="1028700"/>
            <a:ext cx="92656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800" b="1" spc="-80" kern="0" dirty="0">
                <a:solidFill>
                  <a:srgbClr val="F4F1E9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Make the architecture and safety boundary independently reviewable</a:t>
            </a:r>
            <a:endParaRPr lang="en-US" sz="3800" dirty="0"/>
          </a:p>
        </p:txBody>
      </p:sp>
      <p:sp>
        <p:nvSpPr>
          <p:cNvPr id="5" name="element_44ca01bb286586ad248d065b958c29c3"/>
          <p:cNvSpPr txBox="1"/>
          <p:nvPr/>
        </p:nvSpPr>
        <p:spPr>
          <a:xfrm>
            <a:off x="853419" y="2743200"/>
            <a:ext cx="804651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A9AFBA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Invite senior engineers, security reviewers, and technical product leaders to align on the outcome, the first action, and the evidence that will guide the next decision.</a:t>
            </a:r>
            <a:endParaRPr lang="en-US" sz="1900" dirty="0"/>
          </a:p>
        </p:txBody>
      </p:sp>
      <p:sp>
        <p:nvSpPr>
          <p:cNvPr id="6" name="element_3f6e83132a668eef42090fa90eac4774"/>
          <p:cNvSpPr txBox="1"/>
          <p:nvPr/>
        </p:nvSpPr>
        <p:spPr>
          <a:xfrm>
            <a:off x="853419" y="4937760"/>
            <a:ext cx="30479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F4F1E9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•  Agree the outcome</a:t>
            </a:r>
            <a:endParaRPr lang="en-US" sz="1600" dirty="0"/>
          </a:p>
        </p:txBody>
      </p:sp>
      <p:sp>
        <p:nvSpPr>
          <p:cNvPr id="7" name="element_b5bc2d6168c1a786786b01e57472bbaf"/>
          <p:cNvSpPr txBox="1"/>
          <p:nvPr/>
        </p:nvSpPr>
        <p:spPr>
          <a:xfrm>
            <a:off x="4267093" y="4937760"/>
            <a:ext cx="30479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F4F1E9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•  Name the owner</a:t>
            </a:r>
            <a:endParaRPr lang="en-US" sz="1600" dirty="0"/>
          </a:p>
        </p:txBody>
      </p:sp>
      <p:sp>
        <p:nvSpPr>
          <p:cNvPr id="8" name="element_002ec458fdc6c42cdc43668fd10f935d"/>
          <p:cNvSpPr txBox="1"/>
          <p:nvPr/>
        </p:nvSpPr>
        <p:spPr>
          <a:xfrm>
            <a:off x="7680768" y="4937760"/>
            <a:ext cx="30479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F4F1E9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•  Set the next checkpoint</a:t>
            </a:r>
            <a:endParaRPr lang="en-US" sz="1600" dirty="0"/>
          </a:p>
        </p:txBody>
      </p:sp>
      <p:sp>
        <p:nvSpPr>
          <p:cNvPr id="9" name="element_68b05fb718f1d9ce7febcb1fd07a7657"/>
          <p:cNvSpPr txBox="1"/>
          <p:nvPr/>
        </p:nvSpPr>
        <p:spPr>
          <a:xfrm>
            <a:off x="853419" y="6377940"/>
            <a:ext cx="8778021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spc="110" kern="0" dirty="0">
                <a:solidFill>
                  <a:srgbClr val="A9AFBA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NODESLIDE  ·  SOURCE-AWARE  ·  EDITABLE</a:t>
            </a:r>
            <a:endParaRPr lang="en-US" sz="1000" dirty="0"/>
          </a:p>
        </p:txBody>
      </p:sp>
      <p:sp>
        <p:nvSpPr>
          <p:cNvPr id="10" name="element_4bb570db1eee237ba921be0249fa5268"/>
          <p:cNvSpPr txBox="1"/>
          <p:nvPr/>
        </p:nvSpPr>
        <p:spPr>
          <a:xfrm>
            <a:off x="10728692" y="6309360"/>
            <a:ext cx="73150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B8E068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07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ist Variabl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Geist Variable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Parity Studio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NodeSlide — Agentic authoring architecture</dc:title>
  <dc:subject>make the architecture and safety boundary independently reviewable</dc:subject>
  <dc:creator>NodeSlide</dc:creator>
  <cp:lastModifiedBy>NodeSlide</cp:lastModifiedBy>
  <cp:revision>1</cp:revision>
  <dcterms:created xsi:type="dcterms:W3CDTF">2026-07-12T03:56:28Z</dcterms:created>
  <dcterms:modified xsi:type="dcterms:W3CDTF">2026-07-12T03:56:28Z</dcterms:modified>
</cp:coreProperties>
</file>