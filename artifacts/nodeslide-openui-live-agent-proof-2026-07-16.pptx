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fa646aedc74c93" /><Relationship Type="http://schemas.openxmlformats.org/officeDocument/2006/relationships/extended-properties" Target="/docProps/app.xml" Id="R3ea4fe87f98d480c" /><Relationship Type="http://schemas.openxmlformats.org/officeDocument/2006/relationships/officeDocument" Target="/ppt/presentation.xml" Id="Rfaac3781a45e40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af9ada23a044d3"/>
  </p:sldMasterIdLst>
  <p:notesMasterIdLst>
    <p:notesMasterId xmlns:r="http://schemas.openxmlformats.org/officeDocument/2006/relationships" r:id="R7d9048e2e7714148"/>
  </p:notesMasterIdLst>
  <p:sldIdLst>
    <p:sldId xmlns:r="http://schemas.openxmlformats.org/officeDocument/2006/relationships" id="256" r:id="R6362566a372049e0"/>
    <p:sldId xmlns:r="http://schemas.openxmlformats.org/officeDocument/2006/relationships" id="257" r:id="R7216ea6f6e214454"/>
    <p:sldId xmlns:r="http://schemas.openxmlformats.org/officeDocument/2006/relationships" id="258" r:id="Rc79c9b255dd54262"/>
    <p:sldId xmlns:r="http://schemas.openxmlformats.org/officeDocument/2006/relationships" id="259" r:id="R4fa1844c6b494bdb"/>
    <p:sldId xmlns:r="http://schemas.openxmlformats.org/officeDocument/2006/relationships" id="260" r:id="Rc45f53cdf20a43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423d99df0e4f1f" /><Relationship Type="http://schemas.openxmlformats.org/officeDocument/2006/relationships/slideMaster" Target="/ppt/slideMasters/slideMaster1.xml" Id="Rc7af9ada23a044d3" /><Relationship Type="http://schemas.openxmlformats.org/officeDocument/2006/relationships/notesMaster" Target="/ppt/notesMasters/notesMaster1.xml" Id="R7d9048e2e7714148" /><Relationship Type="http://schemas.openxmlformats.org/officeDocument/2006/relationships/presProps" Target="/ppt/presProps.xml" Id="Rdf1a9052688a4619" /><Relationship Type="http://schemas.openxmlformats.org/officeDocument/2006/relationships/tableStyles" Target="/ppt/tableStyles.xml" Id="Rfc7db4118dd340a0" /><Relationship Type="http://schemas.openxmlformats.org/officeDocument/2006/relationships/slide" Target="/ppt/slides/slide1.xml" Id="R6362566a372049e0" /><Relationship Type="http://schemas.openxmlformats.org/officeDocument/2006/relationships/slide" Target="/ppt/slides/slide2.xml" Id="R7216ea6f6e214454" /><Relationship Type="http://schemas.openxmlformats.org/officeDocument/2006/relationships/slide" Target="/ppt/slides/slide3.xml" Id="Rc79c9b255dd54262" /><Relationship Type="http://schemas.openxmlformats.org/officeDocument/2006/relationships/slide" Target="/ppt/slides/slide4.xml" Id="R4fa1844c6b494bdb" /><Relationship Type="http://schemas.openxmlformats.org/officeDocument/2006/relationships/slide" Target="/ppt/slides/slide5.xml" Id="Rc45f53cdf20a43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b11e0fcdc14d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9b04e8b99340c0" /><Relationship Type="http://schemas.openxmlformats.org/officeDocument/2006/relationships/notesMaster" Target="/ppt/notesMasters/notesMaster1.xml" Id="R4b85e26e91c64c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25efb9c3714068" /><Relationship Type="http://schemas.openxmlformats.org/officeDocument/2006/relationships/notesMaster" Target="/ppt/notesMasters/notesMaster1.xml" Id="Ra9ac7015f79b44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ff6b772be445e7" /><Relationship Type="http://schemas.openxmlformats.org/officeDocument/2006/relationships/notesMaster" Target="/ppt/notesMasters/notesMaster1.xml" Id="Rb2d327cdb0974c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15e400266c4978" /><Relationship Type="http://schemas.openxmlformats.org/officeDocument/2006/relationships/notesMaster" Target="/ppt/notesMasters/notesMaster1.xml" Id="R4b1b867751454e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44c11ad9bc4afc" /><Relationship Type="http://schemas.openxmlformats.org/officeDocument/2006/relationships/notesMaster" Target="/ppt/notesMasters/notesMaster1.xml" Id="R89dd36f73e2548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216013db349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4fef7f1117478d" /><Relationship Type="http://schemas.openxmlformats.org/officeDocument/2006/relationships/slideLayout" Target="/ppt/slideLayouts/slideLayout1.xml" Id="Re0e737ddc2c04a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e737ddc2c04a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ce5643fa045ca" /><Relationship Type="http://schemas.openxmlformats.org/officeDocument/2006/relationships/notesSlide" Target="/ppt/notesSlides/notesSlide1.xml" Id="R1dca28fb3e754a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38551d2a34e78" /><Relationship Type="http://schemas.openxmlformats.org/officeDocument/2006/relationships/notesSlide" Target="/ppt/notesSlides/notesSlide2.xml" Id="Rd1cf31b36d904f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cc26ba991452a" /><Relationship Type="http://schemas.openxmlformats.org/officeDocument/2006/relationships/notesSlide" Target="/ppt/notesSlides/notesSlide3.xml" Id="R1c79bc36246a48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7b596edff4ff6" /><Relationship Type="http://schemas.openxmlformats.org/officeDocument/2006/relationships/image" Target="/ppt/media/image.jpeg" Id="R7cc7bc406d174d22" /><Relationship Type="http://schemas.openxmlformats.org/officeDocument/2006/relationships/notesSlide" Target="/ppt/notesSlides/notesSlide4.xml" Id="R4f4d1c51147c47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4e0edbc7b4a29" /><Relationship Type="http://schemas.openxmlformats.org/officeDocument/2006/relationships/notesSlide" Target="/ppt/notesSlides/notesSlide5.xml" Id="Rd183dcabfdb64f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B083E3B3-32C7-4209-A61B-E7362FDE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NODESLIDE / OPENUI PHASE 0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BE2CE3E-2C3F-43C2-A567-0CD70FB3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96202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OpenUI makes the visual</a:t>
            </a:r>
          </a:p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decision visible before</a:t>
            </a:r>
          </a:p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the slide changes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166BD69-EF85-4BBD-AC0E-FD478FE3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800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1464E"/>
                </a:solidFill>
              </a:defRPr>
            </a:pPr>
            <a:r>
              <a:rPr sz="2100" b="0">
                <a:solidFill>
                  <a:srgbClr val="41464E"/>
                </a:solidFill>
              </a:rPr>
              <a:t>A bounded adoption proof: structured visual materials → validated SlideLang proposal → human acceptance.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8B445-3A83-4BD6-AF35-4D43D184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1000"/>
            <a:ext cx="1552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74045-F3A1-4610-BA38-CCB0BC16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858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747C"/>
                </a:solidFill>
              </a:defRPr>
            </a:pPr>
            <a:r>
              <a:rPr sz="975" b="1">
                <a:solidFill>
                  <a:srgbClr val="6E747C"/>
                </a:solidFill>
              </a:rPr>
              <a:t>LIVE LOCAL RUN</a:t>
            </a:r>
          </a:p>
        </p:txBody>
      </p:sp>
      <p:sp>
        <p:nvSpPr>
          <p:cNvPr id="6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562099BA-4351-4999-B99F-312CA9E6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747C"/>
                </a:solidFill>
              </a:defRPr>
            </a:pPr>
            <a:r>
              <a:rPr sz="975" b="0">
                <a:solidFill>
                  <a:srgbClr val="6E747C"/>
                </a:solidFill>
              </a:rPr>
              <a:t>LOCAL PROOF · 2026-07-16</a:t>
            </a:r>
          </a:p>
        </p:txBody>
      </p:sp>
      <p:sp>
        <p:nvSpPr>
          <p:cNvPr id="7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3F3F18C2-B9C8-4BC4-B165-103366CF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32593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C80FDB17-C3C3-4075-A513-C73D685E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Four incompatible units need a transformation ladder—not one axis</a:t>
            </a:r>
          </a:p>
        </p:txBody>
      </p:sp>
      <p:sp>
        <p:nvSpPr>
          <p:cNvPr id="2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7A3C4EB5-ECDB-49EB-98F5-DBC839B6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747C"/>
                </a:solidFill>
              </a:defRPr>
            </a:pPr>
            <a:r>
              <a:rPr sz="975" b="0">
                <a:solidFill>
                  <a:srgbClr val="6E747C"/>
                </a:solidFill>
              </a:rPr>
              <a:t>LOCAL PROOF · 2026-07-16</a:t>
            </a:r>
          </a:p>
        </p:txBody>
      </p:sp>
      <p:sp>
        <p:nvSpPr>
          <p:cNvPr id="3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31EA66F3-433A-4540-A0B1-F618DAD0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20AC0-9C8B-48F4-B0B2-410DC3E9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1464E"/>
                </a:solidFill>
              </a:defRPr>
            </a:pPr>
            <a:r>
              <a:rPr sz="1650" b="0">
                <a:solidFill>
                  <a:srgbClr val="41464E"/>
                </a:solidFill>
              </a:rPr>
              <a:t>The OpenUI component keeps every scenario claim in its own unit and makes the non-chart decision explicit.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86127-32DB-4FAF-98C4-1D740D4F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52675"/>
            <a:ext cx="24955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22CED-C2C4-4D60-8CC3-FDE34AAA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F22E3-F89B-474A-A474-E8768FB0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747C"/>
                </a:solidFill>
              </a:defRPr>
            </a:pPr>
            <a:r>
              <a:rPr sz="1050" b="1">
                <a:solidFill>
                  <a:srgbClr val="6E747C"/>
                </a:solidFill>
              </a:rPr>
              <a:t>REPLICATION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64280-910A-4B79-A448-60369D05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67075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200K copies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590550" y="4295775"/>
            <a:ext cx="2076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730EF-5978-442B-8D07-C840C6E3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1464E"/>
                </a:solidFill>
              </a:defRPr>
            </a:pPr>
            <a:r>
              <a:rPr sz="1200" b="0">
                <a:solidFill>
                  <a:srgbClr val="41464E"/>
                </a:solidFill>
              </a:rPr>
              <a:t>copies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195C6-CBF2-4735-B213-C8D78937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76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D8DFF"/>
                </a:solidFill>
              </a:defRPr>
            </a:pPr>
            <a:r>
              <a:rPr sz="1800" b="0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8223F-402D-4B3D-A89C-E5DDDD89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52675"/>
            <a:ext cx="24955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C29B5-9F5A-40FA-997A-09398E93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5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53C1C-115B-4755-847B-83AB6B17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5270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747C"/>
                </a:solidFill>
              </a:defRPr>
            </a:pPr>
            <a:r>
              <a:rPr sz="1050" b="1">
                <a:solidFill>
                  <a:srgbClr val="6E747C"/>
                </a:solidFill>
              </a:rPr>
              <a:t>EQUIVALENT CAPACITY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1A1E0-FCA6-4B9B-8371-3694ED78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67075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50K coder</a:t>
            </a:r>
          </a:p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equivalents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3314700" y="4295775"/>
            <a:ext cx="2076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65B3C-146F-4F3F-A1F2-DB96A59D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672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1464E"/>
                </a:solidFill>
              </a:defRPr>
            </a:pPr>
            <a:r>
              <a:rPr sz="1200" b="0">
                <a:solidFill>
                  <a:srgbClr val="41464E"/>
                </a:solidFill>
              </a:rPr>
              <a:t>coder equivalents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78CC8-8423-4426-A772-88B7E378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D8DFF"/>
                </a:solidFill>
              </a:defRPr>
            </a:pPr>
            <a:r>
              <a:rPr sz="1800" b="0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F577A-91BA-4F72-9A22-E9CB6F65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52675"/>
            <a:ext cx="24955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5B2F93-FC87-413A-850A-0D0C0D24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5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A0966-B919-4B68-B7BD-E45FB57D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5270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747C"/>
                </a:solidFill>
              </a:defRPr>
            </a:pPr>
            <a:r>
              <a:rPr sz="1050" b="1">
                <a:solidFill>
                  <a:srgbClr val="6E747C"/>
                </a:solidFill>
              </a:rPr>
              <a:t>INDIVIDUAL ACCELERATION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68B0BF-19BB-4744-B57A-B8720FF8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67075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30× speed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6038850" y="4295775"/>
            <a:ext cx="2076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F9980-2266-4EF9-84F0-F5B811C8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672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1464E"/>
                </a:solidFill>
              </a:defRPr>
            </a:pPr>
            <a:r>
              <a:rPr sz="1200" b="0">
                <a:solidFill>
                  <a:srgbClr val="41464E"/>
                </a:solidFill>
              </a:rPr>
              <a:t>individual speed multiplier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8F094A-886A-4D2C-96FA-49D16D08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76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D8DFF"/>
                </a:solidFill>
              </a:defRPr>
            </a:pPr>
            <a:r>
              <a:rPr sz="1800" b="0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242395-36D6-4005-ADE7-447757B8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52675"/>
            <a:ext cx="24955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A18DDB-9486-4627-9DC6-4FC8125F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CDE6D1-4D14-4705-9F67-909AF204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5270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747C"/>
                </a:solidFill>
              </a:defRPr>
            </a:pPr>
            <a:r>
              <a:rPr sz="1050" b="1">
                <a:solidFill>
                  <a:srgbClr val="6E747C"/>
                </a:solidFill>
              </a:rPr>
              <a:t>SYSTEM OUTCOME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70ACF2-4F66-4699-AB7D-A81A326D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67075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4× research</a:t>
            </a:r>
          </a:p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progress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8763000" y="4295775"/>
            <a:ext cx="2076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D8DFF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C6A97D-712D-4378-8BE9-BD4368C8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672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1464E"/>
                </a:solidFill>
              </a:defRPr>
            </a:pPr>
            <a:r>
              <a:rPr sz="1200" b="0">
                <a:solidFill>
                  <a:srgbClr val="41464E"/>
                </a:solidFill>
              </a:rPr>
              <a:t>overall progress multiplier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3C2C40-8D50-4B96-B191-D1659475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57"/>
                </a:solidFill>
              </a:defRPr>
            </a:pPr>
            <a:r>
              <a:rPr sz="1125" b="1">
                <a:solidFill>
                  <a:srgbClr val="D97757"/>
                </a:solidFill>
              </a:rPr>
              <a:t>USER-PROVIDED SCENARIO FIXTURE · UNVERIFIED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756A12-6608-48F2-B4FE-F4C4DF8E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6735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97757"/>
                </a:solidFill>
              </a:defRPr>
            </a:pPr>
            <a:r>
              <a:rPr sz="1125" b="1">
                <a:solidFill>
                  <a:srgbClr val="D97757"/>
                </a:solidFill>
              </a:rPr>
              <a:t>NO SHARED AXIS · MIXED UNITS</a:t>
            </a:r>
          </a:p>
        </p:txBody>
      </p:sp>
    </p:spTree>
    <p:extLst>
      <p:ext uri="{BB962C8B-B14F-4D97-AF65-F5344CB8AC3E}">
        <p14:creationId xmlns:p14="http://schemas.microsoft.com/office/powerpoint/2010/main" val="4261067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B34A84A7-8119-47F0-998A-400BA23A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Selection crosses one governed boundary at a time</a:t>
            </a:r>
          </a:p>
        </p:txBody>
      </p:sp>
      <p:sp>
        <p:nvSpPr>
          <p:cNvPr id="2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05372BD9-BD8D-4C56-943C-27B9A388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747C"/>
                </a:solidFill>
              </a:defRPr>
            </a:pPr>
            <a:r>
              <a:rPr sz="975" b="0">
                <a:solidFill>
                  <a:srgbClr val="6E747C"/>
                </a:solidFill>
              </a:rPr>
              <a:t>LOCAL PROOF · 2026-07-16</a:t>
            </a:r>
          </a:p>
        </p:txBody>
      </p:sp>
      <p:sp>
        <p:nvSpPr>
          <p:cNvPr id="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53335A62-3C20-454F-BCAC-00E095AC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0916A-9F2A-4274-8445-B34B48B0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1464E"/>
                </a:solidFill>
              </a:defRPr>
            </a:pPr>
            <a:r>
              <a:rPr sz="1650" b="0">
                <a:solidFill>
                  <a:srgbClr val="41464E"/>
                </a:solidFill>
              </a:rPr>
              <a:t>OpenUI is the decision surface. SlideLang and Convex remain the document and authority layers.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742950" y="3381375"/>
            <a:ext cx="10401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49D65-6124-4AF6-8B1F-6BD0E8A7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09F43-4474-4E00-B89F-6DF3F7EB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2AEDF-6DAE-4E7E-BC16-DBEF92D4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OPENUI LANG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4A0C6-5544-45AB-BD50-54BE9F84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1464E"/>
                </a:solidFill>
              </a:defRPr>
            </a:pPr>
            <a:r>
              <a:rPr sz="1425" b="0">
                <a:solidFill>
                  <a:srgbClr val="41464E"/>
                </a:solidFill>
              </a:rPr>
              <a:t>Render an allowlisted</a:t>
            </a:r>
          </a:p>
          <a:p xmlns:a="http://schemas.openxmlformats.org/drawingml/2006/main">
            <a:pPr algn="l">
              <a:defRPr sz="1425" b="0">
                <a:solidFill>
                  <a:srgbClr val="41464E"/>
                </a:solidFill>
              </a:defRPr>
            </a:pPr>
            <a:r>
              <a:rPr sz="1425" b="0">
                <a:solidFill>
                  <a:srgbClr val="41464E"/>
                </a:solidFill>
              </a:rPr>
              <a:t>visual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B9688-9753-4E09-9772-7E4909E8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E4483-1A8F-4500-B461-B2C1B62C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A4E33-3F4F-4B9A-8687-194A4B6A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VISUAL MATERIAL SPEC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36E26-A449-43CD-BFC5-3A0FA90D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5290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1464E"/>
                </a:solidFill>
              </a:defRPr>
            </a:pPr>
            <a:r>
              <a:rPr sz="1425" b="0">
                <a:solidFill>
                  <a:srgbClr val="41464E"/>
                </a:solidFill>
              </a:rPr>
              <a:t>Validate units, labels,</a:t>
            </a:r>
          </a:p>
          <a:p xmlns:a="http://schemas.openxmlformats.org/drawingml/2006/main">
            <a:pPr algn="l">
              <a:defRPr sz="1425" b="0">
                <a:solidFill>
                  <a:srgbClr val="41464E"/>
                </a:solidFill>
              </a:defRPr>
            </a:pPr>
            <a:r>
              <a:rPr sz="1425" b="0">
                <a:solidFill>
                  <a:srgbClr val="41464E"/>
                </a:solidFill>
              </a:rPr>
              <a:t>and provenance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5D813-D5C1-44F6-B420-9E9EB18B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05FD4-13EC-406A-A541-2266699B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DAAB7-1B22-4FDD-ABF3-CAB251FA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SLIDELANG PROPOSAL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F00E8-B72F-4E1F-B213-8132434A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1464E"/>
                </a:solidFill>
              </a:defRPr>
            </a:pPr>
            <a:r>
              <a:rPr sz="1425" b="0">
                <a:solidFill>
                  <a:srgbClr val="41464E"/>
                </a:solidFill>
              </a:rPr>
              <a:t>Compile one editable</a:t>
            </a:r>
          </a:p>
          <a:p xmlns:a="http://schemas.openxmlformats.org/drawingml/2006/main">
            <a:pPr algn="l">
              <a:defRPr sz="1425" b="0">
                <a:solidFill>
                  <a:srgbClr val="41464E"/>
                </a:solidFill>
              </a:defRPr>
            </a:pPr>
            <a:r>
              <a:rPr sz="1425" b="0">
                <a:solidFill>
                  <a:srgbClr val="41464E"/>
                </a:solidFill>
              </a:rPr>
              <a:t>add-slide operation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35048-F7DF-451A-B945-70947DD2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B6400-C727-473B-8D01-1FEAD166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00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7DB8A8-0F56-498F-B9DC-7DE45F4A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147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HUMAN ACCEPT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010C1E-102F-4B96-8A41-ACDD8C45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5290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1464E"/>
                </a:solidFill>
              </a:defRPr>
            </a:pPr>
            <a:r>
              <a:rPr sz="1425" b="0">
                <a:solidFill>
                  <a:srgbClr val="41464E"/>
                </a:solidFill>
              </a:rPr>
              <a:t>CAS + candidate receipt</a:t>
            </a:r>
          </a:p>
          <a:p xmlns:a="http://schemas.openxmlformats.org/drawingml/2006/main">
            <a:pPr algn="l">
              <a:defRPr sz="1425" b="0">
                <a:solidFill>
                  <a:srgbClr val="41464E"/>
                </a:solidFill>
              </a:defRPr>
            </a:pPr>
            <a:r>
              <a:rPr sz="1425" b="0">
                <a:solidFill>
                  <a:srgbClr val="41464E"/>
                </a:solidFill>
              </a:rPr>
              <a:t>advance v1 → v2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6FF1D1-3B61-4144-A2C2-21C9E07C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FEE15-8731-42AE-A65C-E15238DD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388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57"/>
                </a:solidFill>
              </a:defRPr>
            </a:pPr>
            <a:r>
              <a:rPr sz="1350" b="1">
                <a:solidFill>
                  <a:srgbClr val="D97757"/>
                </a:solidFill>
              </a:rPr>
              <a:t>Fail closed: mixed-unit chart · fabricated source · stale deck version · duplicate slide id</a:t>
            </a:r>
          </a:p>
        </p:txBody>
      </p:sp>
    </p:spTree>
    <p:extLst>
      <p:ext uri="{BB962C8B-B14F-4D97-AF65-F5344CB8AC3E}">
        <p14:creationId xmlns:p14="http://schemas.microsoft.com/office/powerpoint/2010/main" val="18925809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A810C1BB-4452-4550-984B-F2CD983E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live interaction proved the boundary—not just the render</a:t>
            </a:r>
          </a:p>
        </p:txBody>
      </p:sp>
      <p:sp>
        <p:nvSpPr>
          <p:cNvPr id="2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157EB2A2-98BF-4842-837D-E1C11CFD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747C"/>
                </a:solidFill>
              </a:defRPr>
            </a:pPr>
            <a:r>
              <a:rPr sz="975" b="0">
                <a:solidFill>
                  <a:srgbClr val="6E747C"/>
                </a:solidFill>
              </a:rPr>
              <a:t>LOCAL PROOF · 2026-07-16</a:t>
            </a:r>
          </a:p>
        </p:txBody>
      </p:sp>
      <p:sp>
        <p:nvSpPr>
          <p:cNvPr id="3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BAFDEF0A-4E91-45CF-AA03-460C9E13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E2368-A7BB-40FB-9D79-3CDA6D8E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752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1464E"/>
                </a:solidFill>
              </a:defRPr>
            </a:pPr>
            <a:r>
              <a:rPr sz="1500" b="0">
                <a:solidFill>
                  <a:srgbClr val="41464E"/>
                </a:solidFill>
              </a:rPr>
              <a:t>Disposable local workspace · exact candidate preview corrected during dogfood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7bc406d174d22"/>
          <a:stretch xmlns:a="http://schemas.openxmlformats.org/drawingml/2006/main"/>
        </p:blipFill>
        <p:spPr>
          <a:xfrm xmlns:a="http://schemas.openxmlformats.org/drawingml/2006/main">
            <a:off x="406400" y="1847850"/>
            <a:ext cx="7416800" cy="417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26778-3EED-4EAE-B41C-1A446C8E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47850"/>
            <a:ext cx="3619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06673-B7DD-4ADD-8C39-ADF48FD5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574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15 /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A75BE-37F8-4944-AF48-312752E7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464E"/>
                </a:solidFill>
              </a:defRPr>
            </a:pPr>
            <a:r>
              <a:rPr sz="1350" b="0">
                <a:solidFill>
                  <a:srgbClr val="41464E"/>
                </a:solidFill>
              </a:rPr>
              <a:t>OpenUI + agent contract tests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06968-8597-4435-9483-DCA95874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3619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3CF9F-F265-4B43-88E6-00D8CFDD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47857"/>
                </a:solidFill>
              </a:defRPr>
            </a:pPr>
            <a:r>
              <a:rPr sz="3150" b="1">
                <a:solidFill>
                  <a:srgbClr val="047857"/>
                </a:solidFill>
              </a:rPr>
              <a:t>v1 → 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49021-D6D7-4E2A-85A3-2B60B970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19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464E"/>
                </a:solidFill>
              </a:defRPr>
            </a:pPr>
            <a:r>
              <a:rPr sz="1350" b="0">
                <a:solidFill>
                  <a:srgbClr val="41464E"/>
                </a:solidFill>
              </a:rPr>
              <a:t>Pending proposal stayed unapplied until Accept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59E79-A5FC-4D8E-877C-98A80017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67250"/>
            <a:ext cx="361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8FF5D-77BE-4B62-9B96-F388592A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76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 operation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4C828-B1EB-4F9C-AB66-8E624039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911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464E"/>
                </a:solidFill>
              </a:defRPr>
            </a:pPr>
            <a:r>
              <a:rPr sz="1350" b="0">
                <a:solidFill>
                  <a:srgbClr val="41464E"/>
                </a:solidFill>
              </a:rPr>
              <a:t>Editable add-slide patch</a:t>
            </a:r>
          </a:p>
          <a:p xmlns:a="http://schemas.openxmlformats.org/drawingml/2006/main">
            <a:pPr algn="l">
              <a:defRPr sz="1350" b="0">
                <a:solidFill>
                  <a:srgbClr val="41464E"/>
                </a:solidFill>
              </a:defRPr>
            </a:pPr>
            <a:r>
              <a:rPr sz="1350" b="0">
                <a:solidFill>
                  <a:srgbClr val="41464E"/>
                </a:solidFill>
              </a:rPr>
              <a:t>with a candidate validation receipt</a:t>
            </a:r>
          </a:p>
        </p:txBody>
      </p:sp>
    </p:spTree>
    <p:extLst>
      <p:ext uri="{BB962C8B-B14F-4D97-AF65-F5344CB8AC3E}">
        <p14:creationId xmlns:p14="http://schemas.microsoft.com/office/powerpoint/2010/main" val="20793421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7A21F-DBA5-43D9-AD9D-537C5E6D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RELEASE BAR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9D92B-C07E-4F4F-A2E9-8106A1D9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048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00000"/>
                </a:solidFill>
              </a:defRPr>
            </a:pPr>
            <a:r>
              <a:rPr sz="5850" b="1">
                <a:solidFill>
                  <a:srgbClr val="000000"/>
                </a:solidFill>
              </a:rPr>
              <a:t>Adopt Phase 0 now.</a:t>
            </a:r>
          </a:p>
          <a:p xmlns:a="http://schemas.openxmlformats.org/drawingml/2006/main">
            <a:pPr algn="l">
              <a:defRPr sz="5850" b="1">
                <a:solidFill>
                  <a:srgbClr val="000000"/>
                </a:solidFill>
              </a:defRPr>
            </a:pPr>
            <a:r>
              <a:rPr sz="5850" b="1">
                <a:solidFill>
                  <a:srgbClr val="000000"/>
                </a:solidFill>
              </a:rPr>
              <a:t>Keep the boundary.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468630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EAEDA-4B36-46D3-B670-2762477A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01  OPENUI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BF3A6-D615-49A8-8D72-B70C34F5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464E"/>
                </a:solidFill>
              </a:defRPr>
            </a:pPr>
            <a:r>
              <a:rPr sz="1350" b="0">
                <a:solidFill>
                  <a:srgbClr val="41464E"/>
                </a:solidFill>
              </a:rPr>
              <a:t>Bounded component library + visible provenance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162425" y="468630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BA514-4D4C-4145-866E-FFF3FFBA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9149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02  SLIDELANG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FF0FC-7A1F-4BB6-8F12-AFAD3072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3149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464E"/>
                </a:solidFill>
              </a:defRPr>
            </a:pPr>
            <a:r>
              <a:rPr sz="1350" b="0">
                <a:solidFill>
                  <a:srgbClr val="41464E"/>
                </a:solidFill>
              </a:rPr>
              <a:t>Editable output + exact candidate validation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7924800" y="468630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E18C1-AFCF-494B-BB48-53F0E348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149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03  HUMAN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17CCA-26AB-4C28-878C-8033CD0A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149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464E"/>
                </a:solidFill>
              </a:defRPr>
            </a:pPr>
            <a:r>
              <a:rPr sz="1350" b="0">
                <a:solidFill>
                  <a:srgbClr val="41464E"/>
                </a:solidFill>
              </a:rPr>
              <a:t>No mutation before explicit Accept</a:t>
            </a:r>
          </a:p>
        </p:txBody>
      </p:sp>
      <p:sp>
        <p:nvSpPr>
          <p:cNvPr id="12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B791DB5C-3C46-4415-9F4A-F37B7598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747C"/>
                </a:solidFill>
              </a:defRPr>
            </a:pPr>
            <a:r>
              <a:rPr sz="975" b="0">
                <a:solidFill>
                  <a:srgbClr val="6E747C"/>
                </a:solidFill>
              </a:rPr>
              <a:t>NEXT · SOURCE BINDING + SERVER-GENERATED OPENUI</a:t>
            </a:r>
          </a:p>
        </p:txBody>
      </p:sp>
      <p:sp>
        <p:nvSpPr>
          <p:cNvPr id="1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EEAA190F-4163-41FB-B4C5-502B733A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59115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2026-07-16T08:08:19.7610000Z</dcterms:created>
  <dcterms:modified xsi:type="dcterms:W3CDTF">2026-07-16T08:08:19.7610000Z</dcterms:modified>
</coreProperties>
</file>