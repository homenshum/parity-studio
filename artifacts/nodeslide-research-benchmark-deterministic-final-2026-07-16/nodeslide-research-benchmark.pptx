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Source</c:v>
                  </c:pt>
                  <c:pt idx="1">
                    <c:v>Narrative</c:v>
                  </c:pt>
                  <c:pt idx="2">
                    <c:v>Visual</c:v>
                  </c:pt>
                  <c:pt idx="3">
                    <c:v>Editability</c:v>
                  </c:pt>
                  <c:pt idx="4">
                    <c:v>Governance</c:v>
                  </c:pt>
                </c:lvl>
              </c:multiLvlStrCache>
            </c:multiLvlStrRef>
          </c:cat>
          <c:val>
            <c:numRef>
              <c:f>Sheet1!$B$2:$B$6</c:f>
              <c:numCache>
                <c:formatCode>General</c:formatCode>
                <c:ptCount val="5"/>
                <c:pt idx="0">
                  <c:v>30</c:v>
                </c:pt>
                <c:pt idx="1">
                  <c:v>20</c:v>
                </c:pt>
                <c:pt idx="2">
                  <c:v>20</c:v>
                </c:pt>
                <c:pt idx="3">
                  <c:v>15</c:v>
                </c:pt>
                <c:pt idx="4">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158"/>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158"/>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Layout intent: hero. Keep the spoken transition focused on “Winning is not a faster first draft. It is better evidence-to-decision throughput.”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Layout intent: comparison. Keep the spoken transition focused on “NodeSlide can own the governed path from intent to editable execution.”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Layout intent: evidence_board. Keep the spoken transition focused on “Reason, act, critique, remember, and improve - without flattening the artifact.”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Layout intent: flow. Keep the spoken transition focused on “The winning architecture keeps claims, visuals, validation, and export in one editable graph.”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Layout intent: contract. Keep the spoken transition focused on “A beautiful deck cannot win if its evidence does not survive editing and export.”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Layout intent: split. Keep the spoken transition focused on “Scientific slide generation is a multimodal planning problem, not a text-to-template shortcut.”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Layout intent: contract. Keep the spoken transition focused on “NodeSlide earns the claim only through a blind, artifact-level comparison.”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
[source_ae32311a1921f843e25fb628d4d21894] Brief success criteria
Citation: Exactly 8 slides in the requested narrative; Structured chart, formula, and image primitives where relevant; Validation passes before presentation or export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Appendix / 08. Layout intent: decision. Keep the spoken transition focused on “NodeSlide wins only when citations survive export and every material agent action remains reversibl…”
Evidence note: Content is based on the supplied creation brief. Illustrative examples are not independently verified; replace them with measured evidence before external publication.
NodeSlide sources
[source_a30da5ea7174b6e1bfb8365fb712add4] Create exactly eight visually ambitious, source-backed, claim-led sli… — creation brief
Citation: Create exactly eight visually ambitious, source-backed, claim-led slides answering: can a governed authoring agent beat one-shot presentation generation? Audience: product and design leadership. Decision: approve a held-out benchmark of NodeSlide against Gamma AI and Canva AI, but claim a win only after blind artifact scoring. Use a research-editorial aesthetic: warm paper canvas, near-black typography, cobalt and signal-coral accents, large type, generous whitespace, visible source labels, and a distinct composition on every slide. Avoid repeated bullet-card grids. Keep every visible object natively editable. Primary paper sources: SlideGen: Collaborative Multimodal Agents for Scientific Slide Generation https://arxiv.org/abs/2512.04529 ; Self-Refine: Iterative Refinement with Self-Feedback https://arxiv.org/abs/2303.17651 ; ReAct: Synergizing Reasoning and Acting in Language Models https://arxiv.org/abs/2210.03629 ; Reflexion: Language Agents with Verbal Reinforcement Learning https://arxiv.org/abs/2303.11366 ; Hyperagents https://arxiv.org/abs/2603.19461 . Official product sources: Canva AI presentations https://www.canva.com/create/ai-presentations/ ; Gamma presentations https://gamma.app/products/presentations . Use this exact layout contract in order: hero, comparison, evidence_board, flow, contract, split, contract, decision. Slide 1 is a bold thesis cover: "Winning is not a faster first draft. It is better evidence-to-decision throughput." Add one supporting line and this original NodeSlide editorial image: https://raw.githubusercontent.com/HomenShum/parity-studio/codex/nodeslide-openui-quality-v2/public/nodeslide-assets/governed-creativity.webp Slide 2 is a competitive baseline, not a victory claim. Canva officially emphasizes AI drafts, templates, Brand Kit, media, collaboration, editing, and export. Gamma officially emphasizes prompt or document generation, smart layouts and themes, sources, editing, presentation, and export. NodeSlide must prove source lineage, native editability, validation receipts, and reversible agent actions. Slide 3 is a five-paper research synthesis. ReAct interleaves reasoning and external action. Self-Refine uses iterative self-feedback and reports about 20 percent absolute average improvement across seven evaluated tasks. Reflexion uses linguistic feedback and episodic memory. SlideGen coordinates multimodal agents and editable PPTX creation. Hyperagents motivates evaluated, versioned improvement of task and meta-level policy. State clearly that only SlideGen directly evaluates slide generation. Slide 4 is the only agentic authoring architecture diagram: use exactly four short native editable nodes labeled Source ledger, Story agents, Visual compose, and Validate + export. Slide 5 contains the proposed benchmark scoring weights as one native editable bar chart labeled Source 30, Narrative 20, Visual 20, Editability 15, and Governance 15, measured in percent. These are proposed evaluation weights, not measured performance. Slide 6 is a SlideGen paper spotlight. Explain its coordinated outlining, mapping, arrangement, note synthesis, iterative refinement, editable PPTX output, and the authors reported improvements in visual quality, content faithfulness, and readability. Do not invent effect sizes. Slide 7 is the blind evaluation protocol: same prompt, same sources, same slide count, held-out topics, blind human scoring, citation-survival checks, native editability checks, Undo tests, export inspection, and recorded journey. Include this prior NodeSlide recording as a real linked video element: https://raw.githubusercontent.com/HomenShum/parity-studio/codex/nodeslide-openui-quality-v2/artifacts/nodeslide-openui-quality-full-live-v3-2026-07-16/browser-journey.webm Slide 8 is a decisive release-gate checklist ending with "NodeSlide wins only when citations survive export and every material agent action remains reversible." Keep copy concise and audience-facing. Preserve all supplied URLs as s
Disclaimer: Internal working material
[source_94cf9bf6ad2378d2382b1003ba764a93] arxiv.org · supplied source 1
Citation: https://arxiv.org/abs/2512.04529
URL: https://arxiv.org/abs/2512.04529
Disclaimer: User-supplied linked evidence; verify reuse rights before external publication.
[source_fbea897f3c11546568ec291db0b96390] arxiv.org · supplied source 2
Citation: https://arxiv.org/abs/2303.17651
URL: https://arxiv.org/abs/2303.17651
Disclaimer: User-supplied linked evidence; verify reuse rights before external publication.
[source_f589c81c0b2c5cf698e0b4ac66532f23] arxiv.org · supplied source 3
Citation: https://arxiv.org/abs/2210.03629
URL: https://arxiv.org/abs/2210.03629
Disclaimer: User-supplied linked evidence; verify reuse rights before external publication.
[source_52cdeb83f0251fa052c8b20322e73016] arxiv.org · supplied source 4
Citation: https://arxiv.org/abs/2303.11366
URL: https://arxiv.org/abs/2303.11366
Disclaimer: User-supplied linked evidence; verify reuse rights before external publication.
[source_e734d8713bda4dae3360970a44a74e4f] arxiv.org · supplied source 5
Citation: https://arxiv.org/abs/2603.19461
URL: https://arxiv.org/abs/2603.19461
Disclaimer: User-supplied linked evidence; verify reuse rights before external publication.
[source_64fed1883954884e2269446bedd11e28] canva.com · supplied source 6
Citation: https://www.canva.com/create/ai-presentations/
URL: https://www.canva.com/create/ai-presentations/
Disclaimer: User-supplied linked evidence; verify reuse rights before external publication.
[source_002711499056eb470480474fe5c2446a] gamma.app · supplied source 7
Citation: https://gamma.app/products/presentations
URL: https://gamma.app/products/presentations
Disclaimer: User-supplied linked evidence; verify reuse rights before external publication.
[source_e89198ec2e9183cacd8a65e0a274bed5] raw.githubusercontent.com · supplied source 8
Citation: https://raw.githubusercontent.com/HomenShum/parity-studio/codex/nodeslide-openui-quality-v2/public/nodeslide-assets/governed-creativity.webp
URL: https://raw.githubusercontent.com/HomenShum/parity-studio/codex/nodeslide-openui-quality-v2/public/nodeslide-assets/governed-creativity.webp
Disclaimer: User-supplied linked evidence; verify reuse rights before external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c2c26622bdf4ddffc0c7423e9f773db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bc594850fc243d6c0abecd23b467afc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9e51d902470bac6c0af91538c66a527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5" name="element_4fa6aeda45da74426cd5576746658e9e"/>
          <p:cNvSpPr txBox="1"/>
          <p:nvPr/>
        </p:nvSpPr>
        <p:spPr>
          <a:xfrm>
            <a:off x="853419" y="1097280"/>
            <a:ext cx="7436934" cy="1920240"/>
          </a:xfrm>
          <a:prstGeom prst="rect">
            <a:avLst/>
          </a:prstGeom>
          <a:noFill/>
          <a:ln/>
        </p:spPr>
        <p:txBody>
          <a:bodyPr wrap="square" lIns="0" tIns="0" rIns="0" bIns="0" rtlCol="0" anchor="t">
            <a:normAutofit/>
          </a:bodyPr>
          <a:lstStyle/>
          <a:p>
            <a:pPr algn="l" indent="0" marL="0">
              <a:lnSpc>
                <a:spcPct val="104000"/>
              </a:lnSpc>
              <a:buNone/>
            </a:pPr>
            <a:r>
              <a:rPr lang="en-US" sz="4200" b="1" spc="-80" kern="0" dirty="0">
                <a:solidFill>
                  <a:srgbClr val="26221D"/>
                </a:solidFill>
                <a:latin typeface="Fraunces Variable" pitchFamily="34" charset="0"/>
                <a:ea typeface="Fraunces Variable" pitchFamily="34" charset="-122"/>
                <a:cs typeface="Fraunces Variable" pitchFamily="34" charset="-120"/>
              </a:rPr>
              <a:t>Winning is not a faster first draft. It is better evidence-to-decision throughput.</a:t>
            </a:r>
            <a:endParaRPr lang="en-US" sz="4200" dirty="0"/>
          </a:p>
        </p:txBody>
      </p:sp>
      <p:sp>
        <p:nvSpPr>
          <p:cNvPr id="6" name="element_a7899e039946b0ec4dc2b18f693619ec"/>
          <p:cNvSpPr/>
          <p:nvPr/>
        </p:nvSpPr>
        <p:spPr>
          <a:xfrm>
            <a:off x="9387605" y="1234440"/>
            <a:ext cx="1463003" cy="685800"/>
          </a:xfrm>
          <a:prstGeom prst="roundRect">
            <a:avLst/>
          </a:prstGeom>
          <a:solidFill>
            <a:srgbClr val="F2DED3"/>
          </a:solidFill>
          <a:ln w="25400">
            <a:solidFill>
              <a:srgbClr val="B44A2D"/>
            </a:solidFill>
            <a:prstDash val="solid"/>
          </a:ln>
        </p:spPr>
      </p:sp>
      <p:sp>
        <p:nvSpPr>
          <p:cNvPr id="7" name="element_b8fa316fc380b8a196966a52ae1f5f7d"/>
          <p:cNvSpPr/>
          <p:nvPr/>
        </p:nvSpPr>
        <p:spPr>
          <a:xfrm rot="-480000">
            <a:off x="8778021" y="2125980"/>
            <a:ext cx="2072588" cy="411480"/>
          </a:xfrm>
          <a:prstGeom prst="roundRect">
            <a:avLst/>
          </a:prstGeom>
          <a:solidFill>
            <a:srgbClr val="7566A8"/>
          </a:solidFill>
          <a:ln w="12700">
            <a:solidFill>
              <a:srgbClr val="FFFFFF">
                <a:alpha val="0"/>
              </a:srgbClr>
            </a:solidFill>
            <a:prstDash val="solid"/>
          </a:ln>
        </p:spPr>
      </p:sp>
      <p:sp>
        <p:nvSpPr>
          <p:cNvPr id="8" name="element_1f3330d3f08e574e57f61547c6fac76e"/>
          <p:cNvSpPr/>
          <p:nvPr/>
        </p:nvSpPr>
        <p:spPr>
          <a:xfrm rot="420000">
            <a:off x="9875273" y="2674620"/>
            <a:ext cx="975336" cy="685800"/>
          </a:xfrm>
          <a:prstGeom prst="roundRect">
            <a:avLst/>
          </a:prstGeom>
          <a:solidFill>
            <a:srgbClr val="F2DED3"/>
          </a:solidFill>
          <a:ln w="12700">
            <a:solidFill>
              <a:srgbClr val="FFFFFF">
                <a:alpha val="0"/>
              </a:srgbClr>
            </a:solidFill>
            <a:prstDash val="solid"/>
          </a:ln>
        </p:spPr>
      </p:sp>
      <p:sp>
        <p:nvSpPr>
          <p:cNvPr id="9" name="element_94494c6b03eed4d0b8cb7263430ddce4"/>
          <p:cNvSpPr txBox="1"/>
          <p:nvPr/>
        </p:nvSpPr>
        <p:spPr>
          <a:xfrm>
            <a:off x="853419" y="3429000"/>
            <a:ext cx="4754761" cy="10287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NodeSlide should turn live-agent ambition into an editable, reviewable, reversible authoring system.</a:t>
            </a:r>
            <a:endParaRPr lang="en-US" sz="1900" dirty="0"/>
          </a:p>
        </p:txBody>
      </p:sp>
      <p:sp>
        <p:nvSpPr>
          <p:cNvPr id="10" name="element_b5cec7824d4b12f1fbd2ed0e6fab68b9"/>
          <p:cNvSpPr txBox="1"/>
          <p:nvPr/>
        </p:nvSpPr>
        <p:spPr>
          <a:xfrm>
            <a:off x="853419" y="45948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Creative range</a:t>
            </a:r>
            <a:endParaRPr lang="en-US" sz="1700" dirty="0"/>
          </a:p>
        </p:txBody>
      </p:sp>
      <p:sp>
        <p:nvSpPr>
          <p:cNvPr id="11" name="element_08ab9b9bafe6db7e4ac06fe53a6647a6"/>
          <p:cNvSpPr txBox="1"/>
          <p:nvPr/>
        </p:nvSpPr>
        <p:spPr>
          <a:xfrm>
            <a:off x="853419" y="52806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Governed execution</a:t>
            </a:r>
            <a:endParaRPr lang="en-US" sz="1700" dirty="0"/>
          </a:p>
        </p:txBody>
      </p:sp>
      <p:sp>
        <p:nvSpPr>
          <p:cNvPr id="12" name="element_a47e7fcdcca12c037bb668b9881252ea"/>
          <p:cNvSpPr txBox="1"/>
          <p:nvPr/>
        </p:nvSpPr>
        <p:spPr>
          <a:xfrm>
            <a:off x="853419" y="59664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Native editability</a:t>
            </a:r>
            <a:endParaRPr lang="en-US" sz="1700" dirty="0"/>
          </a:p>
        </p:txBody>
      </p:sp>
      <p:pic>
        <p:nvPicPr>
          <p:cNvPr id="13" name="element_f72c2931cdaf9eda5a650df8fa66cec9 [static image fallback]" descr="NodeSlide live authoring proof shown as an editable visual asset">    </p:cNvPr>
          <p:cNvPicPr>
            <a:picLocks noChangeAspect="1"/>
          </p:cNvPicPr>
          <p:nvPr/>
        </p:nvPicPr>
        <p:blipFill>
          <a:blip r:embed="rId1"/>
          <a:stretch>
            <a:fillRect/>
          </a:stretch>
        </p:blipFill>
        <p:spPr>
          <a:xfrm>
            <a:off x="6461598" y="2674620"/>
            <a:ext cx="4754761" cy="2606040"/>
          </a:xfrm>
          <a:prstGeom prst="rect">
            <a:avLst/>
          </a:prstGeom>
        </p:spPr>
      </p:pic>
      <p:sp>
        <p:nvSpPr>
          <p:cNvPr id="14" name="element_3cdba38c82d369b6549368b04d98df4c"/>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6B6158"/>
                </a:solidFill>
                <a:latin typeface="Geist Variable" pitchFamily="34" charset="0"/>
                <a:ea typeface="Geist Variable" pitchFamily="34" charset="-122"/>
                <a:cs typeface="Geist Variable" pitchFamily="34" charset="-120"/>
              </a:rPr>
              <a:t>Image credit · NodeSlide recorded proof artifact</a:t>
            </a:r>
            <a:endParaRPr lang="en-US" sz="1400" dirty="0"/>
          </a:p>
        </p:txBody>
      </p:sp>
      <p:sp>
        <p:nvSpPr>
          <p:cNvPr id="15" name="element_daac9b149edb43607f5bf9c308a7423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15f089d9ab05a925cc2f6b39a1898d7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2eeb57498353fddf7b66b1043b8f586c"/>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37803894191dad6dc564c4d97cd07df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44345b170c3ab2c3bed858af5bbd227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5" name="element_8065c5b34f418caf15358d0834115074"/>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NodeSlide can own the governed path from intent to editable execution.</a:t>
            </a:r>
            <a:endParaRPr lang="en-US" sz="3800" dirty="0"/>
          </a:p>
        </p:txBody>
      </p:sp>
      <p:sp>
        <p:nvSpPr>
          <p:cNvPr id="6" name="element_4aab593f1e2229ca0ef63a192fb34073"/>
          <p:cNvSpPr/>
          <p:nvPr/>
        </p:nvSpPr>
        <p:spPr>
          <a:xfrm>
            <a:off x="792460" y="3909060"/>
            <a:ext cx="3169841" cy="1577340"/>
          </a:xfrm>
          <a:prstGeom prst="roundRect">
            <a:avLst/>
          </a:prstGeom>
          <a:solidFill>
            <a:srgbClr val="F2DED3"/>
          </a:solidFill>
          <a:ln w="12700">
            <a:solidFill>
              <a:srgbClr val="DED7CC"/>
            </a:solidFill>
            <a:prstDash val="solid"/>
          </a:ln>
        </p:spPr>
      </p:sp>
      <p:sp>
        <p:nvSpPr>
          <p:cNvPr id="7" name="element_a78cda2f94bd00fcbaada64a9e3ec698"/>
          <p:cNvSpPr/>
          <p:nvPr/>
        </p:nvSpPr>
        <p:spPr>
          <a:xfrm>
            <a:off x="4206135" y="3909060"/>
            <a:ext cx="3169841" cy="1577340"/>
          </a:xfrm>
          <a:prstGeom prst="roundRect">
            <a:avLst/>
          </a:prstGeom>
          <a:solidFill>
            <a:srgbClr val="F2DED3"/>
          </a:solidFill>
          <a:ln w="12700">
            <a:solidFill>
              <a:srgbClr val="DED7CC"/>
            </a:solidFill>
            <a:prstDash val="solid"/>
          </a:ln>
        </p:spPr>
      </p:sp>
      <p:sp>
        <p:nvSpPr>
          <p:cNvPr id="8" name="element_1e6c94e613e46f333a73b16a7e00f55d"/>
          <p:cNvSpPr/>
          <p:nvPr/>
        </p:nvSpPr>
        <p:spPr>
          <a:xfrm>
            <a:off x="7619810" y="3909060"/>
            <a:ext cx="3169841" cy="1577340"/>
          </a:xfrm>
          <a:prstGeom prst="roundRect">
            <a:avLst/>
          </a:prstGeom>
          <a:solidFill>
            <a:srgbClr val="F2DED3"/>
          </a:solidFill>
          <a:ln w="12700">
            <a:solidFill>
              <a:srgbClr val="DED7CC"/>
            </a:solidFill>
            <a:prstDash val="solid"/>
          </a:ln>
        </p:spPr>
      </p:sp>
      <p:sp>
        <p:nvSpPr>
          <p:cNvPr id="9" name="element_b5007708385c0192696cf677509da954"/>
          <p:cNvSpPr txBox="1"/>
          <p:nvPr/>
        </p:nvSpPr>
        <p:spPr>
          <a:xfrm>
            <a:off x="853419" y="246888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Official Canva and Gamma product pages define the baseline; NodeSlide must prove a durable authoring system with visible control.</a:t>
            </a:r>
            <a:endParaRPr lang="en-US" sz="1900" dirty="0"/>
          </a:p>
        </p:txBody>
      </p:sp>
      <p:sp>
        <p:nvSpPr>
          <p:cNvPr id="10" name="element_ad28fafe5e68bfbb44fa9cb4036291b5"/>
          <p:cNvSpPr txBox="1"/>
          <p:nvPr/>
        </p:nvSpPr>
        <p:spPr>
          <a:xfrm>
            <a:off x="853419"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Canva AI — brand and asset velocity</a:t>
            </a:r>
            <a:endParaRPr lang="en-US" sz="1600" dirty="0"/>
          </a:p>
        </p:txBody>
      </p:sp>
      <p:sp>
        <p:nvSpPr>
          <p:cNvPr id="11" name="element_7e762d3b335ad2b8a1f6f2fece6fb2d4"/>
          <p:cNvSpPr txBox="1"/>
          <p:nvPr/>
        </p:nvSpPr>
        <p:spPr>
          <a:xfrm>
            <a:off x="4267093"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Gamma AI — research-to-story speed</a:t>
            </a:r>
            <a:endParaRPr lang="en-US" sz="1600" dirty="0"/>
          </a:p>
        </p:txBody>
      </p:sp>
      <p:sp>
        <p:nvSpPr>
          <p:cNvPr id="12" name="element_48ba4355d09135db87dc6a8189bb0f37"/>
          <p:cNvSpPr txBox="1"/>
          <p:nvPr/>
        </p:nvSpPr>
        <p:spPr>
          <a:xfrm>
            <a:off x="7680768"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NodeSlide — editable, governed execution</a:t>
            </a:r>
            <a:endParaRPr lang="en-US" sz="1600" dirty="0"/>
          </a:p>
        </p:txBody>
      </p:sp>
      <p:sp>
        <p:nvSpPr>
          <p:cNvPr id="13" name="element_561f943b522ff4abdf7b4a10d9b628a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2800be4497fca0d5f2f880555abaaac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2c7bda718a1518804a36883d614e9fca"/>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8aae24b912aa394d59a76eed6848de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093139022af5faa84d270e6ac2448cb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5" name="element_ec84754abb72f7a45dfb8c1a7b06e925"/>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Reason, act, critique, remember, and improve - without flattening the artifact.</a:t>
            </a:r>
            <a:endParaRPr lang="en-US" sz="3500" dirty="0"/>
          </a:p>
        </p:txBody>
      </p:sp>
      <p:sp>
        <p:nvSpPr>
          <p:cNvPr id="6" name="element_0f85427614db79bc45a809c2f7657ad7"/>
          <p:cNvSpPr/>
          <p:nvPr/>
        </p:nvSpPr>
        <p:spPr>
          <a:xfrm>
            <a:off x="792460" y="3703320"/>
            <a:ext cx="6095848" cy="822960"/>
          </a:xfrm>
          <a:prstGeom prst="roundRect">
            <a:avLst/>
          </a:prstGeom>
          <a:solidFill>
            <a:srgbClr val="E5E9D6"/>
          </a:solidFill>
          <a:ln w="12700">
            <a:solidFill>
              <a:srgbClr val="DED7CC"/>
            </a:solidFill>
            <a:prstDash val="solid"/>
          </a:ln>
        </p:spPr>
      </p:sp>
      <p:sp>
        <p:nvSpPr>
          <p:cNvPr id="7" name="element_eb5695ded8900d4f895ca996fd61cc6a"/>
          <p:cNvSpPr/>
          <p:nvPr/>
        </p:nvSpPr>
        <p:spPr>
          <a:xfrm>
            <a:off x="7132142" y="3703320"/>
            <a:ext cx="3718467" cy="822960"/>
          </a:xfrm>
          <a:prstGeom prst="roundRect">
            <a:avLst/>
          </a:prstGeom>
          <a:solidFill>
            <a:srgbClr val="E5E9D6"/>
          </a:solidFill>
          <a:ln w="12700">
            <a:solidFill>
              <a:srgbClr val="DED7CC"/>
            </a:solidFill>
            <a:prstDash val="solid"/>
          </a:ln>
        </p:spPr>
      </p:sp>
      <p:sp>
        <p:nvSpPr>
          <p:cNvPr id="8" name="element_ee63ea1a4254a21dc14f2160d0a6dcdd"/>
          <p:cNvSpPr/>
          <p:nvPr/>
        </p:nvSpPr>
        <p:spPr>
          <a:xfrm>
            <a:off x="792460" y="4663440"/>
            <a:ext cx="10058149" cy="822960"/>
          </a:xfrm>
          <a:prstGeom prst="roundRect">
            <a:avLst/>
          </a:prstGeom>
          <a:solidFill>
            <a:srgbClr val="E5E9D6"/>
          </a:solidFill>
          <a:ln w="12700">
            <a:solidFill>
              <a:srgbClr val="DED7CC"/>
            </a:solidFill>
            <a:prstDash val="solid"/>
          </a:ln>
        </p:spPr>
      </p:sp>
      <p:sp>
        <p:nvSpPr>
          <p:cNvPr id="9" name="element_e48d87607ad04ef6f95cfb2788258b13"/>
          <p:cNvSpPr txBox="1"/>
          <p:nvPr/>
        </p:nvSpPr>
        <p:spPr>
          <a:xfrm>
            <a:off x="853419" y="2468880"/>
            <a:ext cx="8778021"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ReAct (2210.03629) joins reasoning and tools. Self-Refine (2303.17651) and Reflexion (2303.11366) add feedback and memory. SlideGen (2512.04529) adds visual agents.</a:t>
            </a:r>
            <a:endParaRPr lang="en-US" sz="1900" dirty="0"/>
          </a:p>
        </p:txBody>
      </p:sp>
      <p:sp>
        <p:nvSpPr>
          <p:cNvPr id="10" name="element_c0dbff82f90e0f327a8f4a8a79a5c584"/>
          <p:cNvSpPr txBox="1"/>
          <p:nvPr/>
        </p:nvSpPr>
        <p:spPr>
          <a:xfrm>
            <a:off x="975336" y="3840480"/>
            <a:ext cx="5730097"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ReAct: reasoning plus external action</a:t>
            </a:r>
            <a:endParaRPr lang="en-US" sz="1600" dirty="0"/>
          </a:p>
        </p:txBody>
      </p:sp>
      <p:sp>
        <p:nvSpPr>
          <p:cNvPr id="11" name="element_a31ee549280993651b686b2282fa738e"/>
          <p:cNvSpPr txBox="1"/>
          <p:nvPr/>
        </p:nvSpPr>
        <p:spPr>
          <a:xfrm>
            <a:off x="7315017" y="3840480"/>
            <a:ext cx="3352716"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Self-Refine + Reflexion: feedback and memory</a:t>
            </a:r>
            <a:endParaRPr lang="en-US" sz="1600" dirty="0"/>
          </a:p>
        </p:txBody>
      </p:sp>
      <p:sp>
        <p:nvSpPr>
          <p:cNvPr id="12" name="element_f9981a87e24e6898af5f00d44ce687c5"/>
          <p:cNvSpPr txBox="1"/>
          <p:nvPr/>
        </p:nvSpPr>
        <p:spPr>
          <a:xfrm>
            <a:off x="975336" y="4800600"/>
            <a:ext cx="9692398"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SlideGen + Hyperagents: visual orchestration and policy evolution</a:t>
            </a:r>
            <a:endParaRPr lang="en-US" sz="1600" dirty="0"/>
          </a:p>
        </p:txBody>
      </p:sp>
      <p:sp>
        <p:nvSpPr>
          <p:cNvPr id="13" name="element_f90a82fb9e4e01c0bbac3dbb4014556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e86b9b9477acb683aeae0143881413b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0d5725c75a2fd4978cf4c4eb0265d567"/>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770bf9ffdde0153dbcdbb5470d0145e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c1c3b4560585d9520151b370afc01c8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5" name="element_230c85749e91b7da0ce6854b5579e632"/>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The winning architecture keeps claims, visuals, validation, and export in one editable graph.</a:t>
            </a:r>
            <a:endParaRPr lang="en-US" sz="3500" dirty="0"/>
          </a:p>
        </p:txBody>
      </p:sp>
      <p:sp>
        <p:nvSpPr>
          <p:cNvPr id="6" name="element_ffc256b565b734e74781202d919850f3"/>
          <p:cNvSpPr txBox="1"/>
          <p:nvPr/>
        </p:nvSpPr>
        <p:spPr>
          <a:xfrm>
            <a:off x="853419" y="253746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Source-aware planning feeds a claim ledger, multimodal composition, and a validation receipt before editable delivery.</a:t>
            </a:r>
            <a:endParaRPr lang="en-US" sz="1900" dirty="0"/>
          </a:p>
        </p:txBody>
      </p:sp>
      <p:sp>
        <p:nvSpPr>
          <p:cNvPr id="7" name="element_40a6a0ccf4fc652bc707952af152a331"/>
          <p:cNvSpPr/>
          <p:nvPr/>
        </p:nvSpPr>
        <p:spPr>
          <a:xfrm>
            <a:off x="3090595" y="4217670"/>
            <a:ext cx="292601" cy="0"/>
          </a:xfrm>
          <a:prstGeom prst="line">
            <a:avLst/>
          </a:prstGeom>
          <a:noFill/>
          <a:ln w="25400">
            <a:solidFill>
              <a:srgbClr val="7566A8"/>
            </a:solidFill>
            <a:prstDash val="solid"/>
            <a:tailEnd type="triangle"/>
          </a:ln>
        </p:spPr>
      </p:sp>
      <p:sp>
        <p:nvSpPr>
          <p:cNvPr id="8" name="element_fcf81193ed983033e2a5c704b3663027"/>
          <p:cNvSpPr/>
          <p:nvPr/>
        </p:nvSpPr>
        <p:spPr>
          <a:xfrm>
            <a:off x="5705713" y="4217670"/>
            <a:ext cx="292601" cy="0"/>
          </a:xfrm>
          <a:prstGeom prst="line">
            <a:avLst/>
          </a:prstGeom>
          <a:noFill/>
          <a:ln w="25400">
            <a:solidFill>
              <a:srgbClr val="7566A8"/>
            </a:solidFill>
            <a:prstDash val="solid"/>
            <a:tailEnd type="triangle"/>
          </a:ln>
        </p:spPr>
      </p:sp>
      <p:sp>
        <p:nvSpPr>
          <p:cNvPr id="9" name="element_89e295ea1a1b9ae04bbc96dddb8d1188"/>
          <p:cNvSpPr/>
          <p:nvPr/>
        </p:nvSpPr>
        <p:spPr>
          <a:xfrm>
            <a:off x="8320832" y="4217670"/>
            <a:ext cx="292601" cy="0"/>
          </a:xfrm>
          <a:prstGeom prst="line">
            <a:avLst/>
          </a:prstGeom>
          <a:noFill/>
          <a:ln w="25400">
            <a:solidFill>
              <a:srgbClr val="7566A8"/>
            </a:solidFill>
            <a:prstDash val="solid"/>
            <a:tailEnd type="triangle"/>
          </a:ln>
        </p:spPr>
      </p:sp>
      <p:sp>
        <p:nvSpPr>
          <p:cNvPr id="10" name="element_0b835773f070f9d5da1389f4bea45df1"/>
          <p:cNvSpPr/>
          <p:nvPr/>
        </p:nvSpPr>
        <p:spPr>
          <a:xfrm>
            <a:off x="853419" y="3771900"/>
            <a:ext cx="2151834" cy="1371600"/>
          </a:xfrm>
          <a:prstGeom prst="roundRect">
            <a:avLst/>
          </a:prstGeom>
          <a:solidFill>
            <a:srgbClr val="E5E9D6"/>
          </a:solidFill>
          <a:ln w="19050">
            <a:solidFill>
              <a:srgbClr val="DED7CC"/>
            </a:solidFill>
            <a:prstDash val="solid"/>
          </a:ln>
        </p:spPr>
      </p:sp>
      <p:sp>
        <p:nvSpPr>
          <p:cNvPr id="11" name="element_0b835773f070f9d5da1389f4bea45df1:text"/>
          <p:cNvSpPr txBox="1"/>
          <p:nvPr/>
        </p:nvSpPr>
        <p:spPr>
          <a:xfrm>
            <a:off x="853419"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Source ledger</a:t>
            </a:r>
            <a:endParaRPr lang="en-US" sz="1400" dirty="0"/>
          </a:p>
        </p:txBody>
      </p:sp>
      <p:sp>
        <p:nvSpPr>
          <p:cNvPr id="12" name="element_949e68b51f9d8dc97edc422e1cc57886"/>
          <p:cNvSpPr/>
          <p:nvPr/>
        </p:nvSpPr>
        <p:spPr>
          <a:xfrm>
            <a:off x="3468537" y="3771900"/>
            <a:ext cx="2151834" cy="1371600"/>
          </a:xfrm>
          <a:prstGeom prst="roundRect">
            <a:avLst/>
          </a:prstGeom>
          <a:solidFill>
            <a:srgbClr val="E5E9D6"/>
          </a:solidFill>
          <a:ln w="19050">
            <a:solidFill>
              <a:srgbClr val="DED7CC"/>
            </a:solidFill>
            <a:prstDash val="solid"/>
          </a:ln>
        </p:spPr>
      </p:sp>
      <p:sp>
        <p:nvSpPr>
          <p:cNvPr id="13" name="element_949e68b51f9d8dc97edc422e1cc57886:text"/>
          <p:cNvSpPr txBox="1"/>
          <p:nvPr/>
        </p:nvSpPr>
        <p:spPr>
          <a:xfrm>
            <a:off x="3468537"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Story agents</a:t>
            </a:r>
            <a:endParaRPr lang="en-US" sz="1400" dirty="0"/>
          </a:p>
        </p:txBody>
      </p:sp>
      <p:sp>
        <p:nvSpPr>
          <p:cNvPr id="14" name="element_9046db901b2cc6df83eec0170476bfdf"/>
          <p:cNvSpPr/>
          <p:nvPr/>
        </p:nvSpPr>
        <p:spPr>
          <a:xfrm>
            <a:off x="6083656" y="3771900"/>
            <a:ext cx="2151834" cy="1371600"/>
          </a:xfrm>
          <a:prstGeom prst="roundRect">
            <a:avLst/>
          </a:prstGeom>
          <a:solidFill>
            <a:srgbClr val="E5E9D6"/>
          </a:solidFill>
          <a:ln w="19050">
            <a:solidFill>
              <a:srgbClr val="DED7CC"/>
            </a:solidFill>
            <a:prstDash val="solid"/>
          </a:ln>
        </p:spPr>
      </p:sp>
      <p:sp>
        <p:nvSpPr>
          <p:cNvPr id="15" name="element_9046db901b2cc6df83eec0170476bfdf:text"/>
          <p:cNvSpPr txBox="1"/>
          <p:nvPr/>
        </p:nvSpPr>
        <p:spPr>
          <a:xfrm>
            <a:off x="6083656"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Visual compose</a:t>
            </a:r>
            <a:endParaRPr lang="en-US" sz="1400" dirty="0"/>
          </a:p>
        </p:txBody>
      </p:sp>
      <p:sp>
        <p:nvSpPr>
          <p:cNvPr id="16" name="element_2d18ea4c53d1a03e1ffd9156fd217e45"/>
          <p:cNvSpPr/>
          <p:nvPr/>
        </p:nvSpPr>
        <p:spPr>
          <a:xfrm>
            <a:off x="8698775" y="3771900"/>
            <a:ext cx="2151834" cy="1371600"/>
          </a:xfrm>
          <a:prstGeom prst="roundRect">
            <a:avLst/>
          </a:prstGeom>
          <a:solidFill>
            <a:srgbClr val="F2DED3"/>
          </a:solidFill>
          <a:ln w="19050">
            <a:solidFill>
              <a:srgbClr val="DED7CC"/>
            </a:solidFill>
            <a:prstDash val="solid"/>
          </a:ln>
        </p:spPr>
      </p:sp>
      <p:sp>
        <p:nvSpPr>
          <p:cNvPr id="17" name="element_2d18ea4c53d1a03e1ffd9156fd217e45:text"/>
          <p:cNvSpPr txBox="1"/>
          <p:nvPr/>
        </p:nvSpPr>
        <p:spPr>
          <a:xfrm>
            <a:off x="8698775"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Validate + export</a:t>
            </a:r>
            <a:endParaRPr lang="en-US" sz="1400" dirty="0"/>
          </a:p>
        </p:txBody>
      </p:sp>
      <p:sp>
        <p:nvSpPr>
          <p:cNvPr id="18" name="element_790902a76a86ac363168e48b4605b0e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9" name="element_48e6cd6e5f06ea8eddcb59479a55a56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a2d24450f7aeadd87483c1d51972951b"/>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f8c3499202b042966ad2b0fb96742a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ab91fec90b31a36f76171cf30569c39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5" name="element_0afef15b490e171e9f12f6543f77f9fd"/>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A beautiful deck cannot win if its evidence does not survive editing and export.</a:t>
            </a:r>
            <a:endParaRPr lang="en-US" sz="3500" dirty="0"/>
          </a:p>
        </p:txBody>
      </p:sp>
      <p:sp>
        <p:nvSpPr>
          <p:cNvPr id="6" name="element_2712ed5791c9b34230c104518a96ccc9"/>
          <p:cNvSpPr/>
          <p:nvPr/>
        </p:nvSpPr>
        <p:spPr>
          <a:xfrm>
            <a:off x="6278723" y="2674620"/>
            <a:ext cx="4937637" cy="2743200"/>
          </a:xfrm>
          <a:prstGeom prst="roundRect">
            <a:avLst/>
          </a:prstGeom>
          <a:solidFill>
            <a:srgbClr val="E5E9D6"/>
          </a:solidFill>
          <a:ln w="12700">
            <a:solidFill>
              <a:srgbClr val="DED7CC"/>
            </a:solidFill>
            <a:prstDash val="solid"/>
          </a:ln>
        </p:spPr>
      </p:sp>
      <p:sp>
        <p:nvSpPr>
          <p:cNvPr id="7" name="element_23fa2ba9458ff47ca03b4c216f6bb498"/>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The proposed blind rubric weights factual grounding first, then story and visual reasoning, while preserving editability and governance as release requirements.</a:t>
            </a:r>
            <a:endParaRPr lang="en-US" sz="1900" dirty="0"/>
          </a:p>
        </p:txBody>
      </p:sp>
      <p:sp>
        <p:nvSpPr>
          <p:cNvPr id="8" name="element_9b17bc21fe5aff0477144a9e09e1b03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Evidence before ornament</a:t>
            </a:r>
            <a:endParaRPr lang="en-US" sz="1700" dirty="0"/>
          </a:p>
        </p:txBody>
      </p:sp>
      <p:sp>
        <p:nvSpPr>
          <p:cNvPr id="9" name="element_101ac8ac7d94e32cd885415d1a75465f"/>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Blind scoring across identical inputs</a:t>
            </a:r>
            <a:endParaRPr lang="en-US" sz="1700" dirty="0"/>
          </a:p>
        </p:txBody>
      </p:sp>
      <p:sp>
        <p:nvSpPr>
          <p:cNvPr id="10" name="element_69536c42ebfdc55bb482670506db79dd"/>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reversible output required</a:t>
            </a:r>
            <a:endParaRPr lang="en-US" sz="1700" dirty="0"/>
          </a:p>
        </p:txBody>
      </p:sp>
      <p:graphicFrame>
        <p:nvGraphicFramePr>
          <p:cNvPr id="11" name="element_446d12e44c2905ed52e6039da9a31f5f" descr=""/>
          <p:cNvGraphicFramePr/>
          <p:nvPr/>
        </p:nvGraphicFramePr>
        <p:xfrm>
          <a:off x="6461598" y="2880360"/>
          <a:ext cx="4754761" cy="2743200"/>
        </p:xfrm>
        <a:graphic xmlns:a="http://schemas.openxmlformats.org/drawingml/2006/main">
          <a:graphicData uri="http://schemas.openxmlformats.org/drawingml/2006/chart">
            <c:chart xmlns:c="http://schemas.openxmlformats.org/drawingml/2006/chart" r:id="rId1"/>
          </a:graphicData>
        </a:graphic>
      </p:graphicFrame>
      <p:sp>
        <p:nvSpPr>
          <p:cNvPr id="12" name="element_0ac0f51abf2bf6048c967fcc9780b2e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c172dfadc5ca6bccbd54e8326f70d3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nodeslide-slide-id:slide_0eece600d37874aad888241a637bbb2b"/>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ef3e7daf9e850e4abc6001a2912bc36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4be673d20d9d3d9d060ccf5481fd676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5" name="element_910af1733126544143a35ded4319b916"/>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Scientific slide generation is a multimodal planning problem, not a text-to-template shortcut.</a:t>
            </a:r>
            <a:endParaRPr lang="en-US" sz="3500" dirty="0"/>
          </a:p>
        </p:txBody>
      </p:sp>
      <p:sp>
        <p:nvSpPr>
          <p:cNvPr id="6" name="element_0ff97c6403766017d936aa67c1977e4e"/>
          <p:cNvSpPr/>
          <p:nvPr/>
        </p:nvSpPr>
        <p:spPr>
          <a:xfrm>
            <a:off x="6095848" y="2674620"/>
            <a:ext cx="5120512" cy="2743200"/>
          </a:xfrm>
          <a:prstGeom prst="roundRect">
            <a:avLst/>
          </a:prstGeom>
          <a:solidFill>
            <a:srgbClr val="F2DED3"/>
          </a:solidFill>
          <a:ln w="12700">
            <a:solidFill>
              <a:srgbClr val="DED7CC"/>
            </a:solidFill>
            <a:prstDash val="solid"/>
          </a:ln>
        </p:spPr>
      </p:sp>
      <p:sp>
        <p:nvSpPr>
          <p:cNvPr id="7" name="element_780a5d56ee23dc961b3cfe77b8ce302e"/>
          <p:cNvSpPr txBox="1"/>
          <p:nvPr/>
        </p:nvSpPr>
        <p:spPr>
          <a:xfrm>
            <a:off x="853419"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SlideGen (Liang et al., arXiv:2512.04529) coordinates outlining, mapping, arrangement, notes, and visual refinement into editable PPTX.</a:t>
            </a:r>
            <a:endParaRPr lang="en-US" sz="1900" dirty="0"/>
          </a:p>
        </p:txBody>
      </p:sp>
      <p:sp>
        <p:nvSpPr>
          <p:cNvPr id="8" name="element_b03fd903eca0ddbc1bf80c091d110628"/>
          <p:cNvSpPr txBox="1"/>
          <p:nvPr/>
        </p:nvSpPr>
        <p:spPr>
          <a:xfrm>
            <a:off x="6461598" y="308610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Agentic and modular</a:t>
            </a:r>
            <a:endParaRPr lang="en-US" sz="1700" dirty="0"/>
          </a:p>
        </p:txBody>
      </p:sp>
      <p:sp>
        <p:nvSpPr>
          <p:cNvPr id="9" name="element_b363aaefcbb39780f8537827d7ac1d3a"/>
          <p:cNvSpPr txBox="1"/>
          <p:nvPr/>
        </p:nvSpPr>
        <p:spPr>
          <a:xfrm>
            <a:off x="6461598" y="39090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Visual-in-the-loop refinement</a:t>
            </a:r>
            <a:endParaRPr lang="en-US" sz="1700" dirty="0"/>
          </a:p>
        </p:txBody>
      </p:sp>
      <p:sp>
        <p:nvSpPr>
          <p:cNvPr id="10" name="element_6e6f7301e9b94ff8152b9a20cbe0e81e"/>
          <p:cNvSpPr txBox="1"/>
          <p:nvPr/>
        </p:nvSpPr>
        <p:spPr>
          <a:xfrm>
            <a:off x="6461598" y="47320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Reported gains: quality, faithfulness, readability</a:t>
            </a:r>
            <a:endParaRPr lang="en-US" sz="1700" dirty="0"/>
          </a:p>
        </p:txBody>
      </p:sp>
      <p:sp>
        <p:nvSpPr>
          <p:cNvPr id="11" name="element_b62cd59ed2accf0509cd0eecdd9ab29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babd34fc0e90984b7e8b17711e32d91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nodeslide-slide-id:slide_9a712953f2001ac7c55b15b3b698c6e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5e875671d56166b97bb5876179f1c77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44c2a61f6bfef0fe0ce53a43867533e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5" name="element_a7d3c6adb5f18b65027e02b9471eb639"/>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NodeSlide earns the claim only through a blind, artifact-level comparison.</a:t>
            </a:r>
            <a:endParaRPr lang="en-US" sz="3500" dirty="0"/>
          </a:p>
        </p:txBody>
      </p:sp>
      <p:sp>
        <p:nvSpPr>
          <p:cNvPr id="6" name="element_c40347cac154a44c32488fcfce594718"/>
          <p:cNvSpPr/>
          <p:nvPr/>
        </p:nvSpPr>
        <p:spPr>
          <a:xfrm>
            <a:off x="6278723" y="2674620"/>
            <a:ext cx="4937637" cy="2743200"/>
          </a:xfrm>
          <a:prstGeom prst="roundRect">
            <a:avLst/>
          </a:prstGeom>
          <a:solidFill>
            <a:srgbClr val="E5E9D6"/>
          </a:solidFill>
          <a:ln w="12700">
            <a:solidFill>
              <a:srgbClr val="DED7CC"/>
            </a:solidFill>
            <a:prstDash val="solid"/>
          </a:ln>
        </p:spPr>
      </p:sp>
      <p:sp>
        <p:nvSpPr>
          <p:cNvPr id="7" name="element_2afc3321acfc5423f095da0be2212c54"/>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Generate held-out decks with identical inputs, score exported artifacts, inspect citation survival, and test whether every material change can be undone.</a:t>
            </a:r>
            <a:endParaRPr lang="en-US" sz="1900" dirty="0"/>
          </a:p>
        </p:txBody>
      </p:sp>
      <p:sp>
        <p:nvSpPr>
          <p:cNvPr id="8" name="element_fe232584abb03b5b18731f3477b81a31"/>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Same prompt + sources</a:t>
            </a:r>
            <a:endParaRPr lang="en-US" sz="1700" dirty="0"/>
          </a:p>
        </p:txBody>
      </p:sp>
      <p:sp>
        <p:nvSpPr>
          <p:cNvPr id="9" name="element_192b9b10745418619c7e78cbffe6109e"/>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Blind artifact scoring</a:t>
            </a:r>
            <a:endParaRPr lang="en-US" sz="1700" dirty="0"/>
          </a:p>
        </p:txBody>
      </p:sp>
      <p:sp>
        <p:nvSpPr>
          <p:cNvPr id="10" name="element_1dd3b4d0df7587ce822c8783f6618b95"/>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Citation, edit, export, and Undo checks</a:t>
            </a:r>
            <a:endParaRPr lang="en-US" sz="1700" dirty="0"/>
          </a:p>
        </p:txBody>
      </p:sp>
      <p:sp>
        <p:nvSpPr>
          <p:cNvPr id="11" name="element_55c26a8ea5c6a223d2de7e427d7168e9:fallback-shape"/>
          <p:cNvSpPr/>
          <p:nvPr/>
        </p:nvSpPr>
        <p:spPr>
          <a:xfrm>
            <a:off x="6461598" y="2743200"/>
            <a:ext cx="4754761" cy="1920240"/>
          </a:xfrm>
          <a:prstGeom prst="roundRect">
            <a:avLst/>
          </a:prstGeom>
          <a:solidFill>
            <a:srgbClr val="111318"/>
          </a:solidFill>
          <a:ln w="19050">
            <a:solidFill>
              <a:srgbClr val="DED7CC"/>
            </a:solidFill>
            <a:prstDash val="dash"/>
          </a:ln>
        </p:spPr>
      </p:sp>
      <p:sp>
        <p:nvSpPr>
          <p:cNvPr id="12" name="element_55c26a8ea5c6a223d2de7e427d7168e9:fallback-label"/>
          <p:cNvSpPr/>
          <p:nvPr/>
        </p:nvSpPr>
        <p:spPr>
          <a:xfrm>
            <a:off x="6461598" y="2743200"/>
            <a:ext cx="4754761" cy="19202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Recorded NodeSlide browser journey</a:t>
            </a:r>
            <a:endParaRPr lang="en-US" sz="1400" dirty="0"/>
          </a:p>
          <a:p>
            <a:pPr algn="ctr" indent="0" marL="0">
              <a:buNone/>
            </a:pPr>
            <a:r>
              <a:rPr lang="en-US" sz="1400" dirty="0">
                <a:solidFill>
                  <a:srgbClr val="6B6158"/>
                </a:solidFill>
                <a:latin typeface="Geist Variable" pitchFamily="34" charset="0"/>
                <a:ea typeface="Geist Variable" pitchFamily="34" charset="-122"/>
                <a:cs typeface="Geist Variable" pitchFamily="34" charset="-120"/>
              </a:rPr>
              <a:t>Linked web video · https://raw.githubusercontent.com/HomenShum/parity-studio/codex/nodeslide-openui-quality-v2/artifacts/nodeslide-openui-quality-full-live-v3-2026-07-16/browser-journey.webm</a:t>
            </a:r>
            <a:endParaRPr lang="en-US" sz="1400" dirty="0"/>
          </a:p>
        </p:txBody>
      </p:sp>
      <p:sp>
        <p:nvSpPr>
          <p:cNvPr id="13" name="element_464d2fb7411b8bfbfeb851cd76da4e4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2a3354760bc95fc76eb3b62b5f15f6c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nodeslide-slide-id:slide_4f89b7b3091a7c8b2ac79d99018a2e4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7b58cf0663010b11556910e80f3d0251"/>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bb6a45bec477d1846db75a4e54898bc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APPENDIX / 08</a:t>
            </a:r>
            <a:endParaRPr lang="en-US" sz="1500" dirty="0"/>
          </a:p>
        </p:txBody>
      </p:sp>
      <p:sp>
        <p:nvSpPr>
          <p:cNvPr id="5" name="element_a35f072ad5f90ed5fa3f718c5ac49404"/>
          <p:cNvSpPr txBox="1"/>
          <p:nvPr/>
        </p:nvSpPr>
        <p:spPr>
          <a:xfrm>
            <a:off x="853419" y="960120"/>
            <a:ext cx="9997190" cy="150876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NodeSlide wins when citations survive export and every agent action stays reversible.</a:t>
            </a:r>
            <a:endParaRPr lang="en-US" sz="3500" dirty="0"/>
          </a:p>
        </p:txBody>
      </p:sp>
      <p:sp>
        <p:nvSpPr>
          <p:cNvPr id="6" name="element_aa0e5271d260945a0e18ea24fd39ea2d"/>
          <p:cNvSpPr/>
          <p:nvPr/>
        </p:nvSpPr>
        <p:spPr>
          <a:xfrm>
            <a:off x="853419" y="5692140"/>
            <a:ext cx="9997190" cy="82296"/>
          </a:xfrm>
          <a:prstGeom prst="roundRect">
            <a:avLst/>
          </a:prstGeom>
          <a:solidFill>
            <a:srgbClr val="B44A2D"/>
          </a:solidFill>
          <a:ln w="12700">
            <a:solidFill>
              <a:srgbClr val="FFFFFF">
                <a:alpha val="0"/>
              </a:srgbClr>
            </a:solidFill>
            <a:prstDash val="solid"/>
          </a:ln>
        </p:spPr>
      </p:sp>
      <p:sp>
        <p:nvSpPr>
          <p:cNvPr id="7" name="element_5267bb2f4d441b90269cba0dd6eba493"/>
          <p:cNvSpPr txBox="1"/>
          <p:nvPr/>
        </p:nvSpPr>
        <p:spPr>
          <a:xfrm>
            <a:off x="853419" y="2743200"/>
            <a:ext cx="8046519" cy="109728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Ship only when the artifact, receipt, version transition, export, and recorded browser journey agree.</a:t>
            </a:r>
            <a:endParaRPr lang="en-US" sz="1900" dirty="0"/>
          </a:p>
        </p:txBody>
      </p:sp>
      <p:sp>
        <p:nvSpPr>
          <p:cNvPr id="8" name="element_658682db58d7e082ea8b2f7f218638ca"/>
          <p:cNvSpPr txBox="1"/>
          <p:nvPr/>
        </p:nvSpPr>
        <p:spPr>
          <a:xfrm>
            <a:off x="853419"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Artifact quality passes</a:t>
            </a:r>
            <a:endParaRPr lang="en-US" sz="1600" dirty="0"/>
          </a:p>
        </p:txBody>
      </p:sp>
      <p:sp>
        <p:nvSpPr>
          <p:cNvPr id="9" name="element_145d18b0c072fd788aa603df1e814a29"/>
          <p:cNvSpPr txBox="1"/>
          <p:nvPr/>
        </p:nvSpPr>
        <p:spPr>
          <a:xfrm>
            <a:off x="4267093"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Receipt survives export</a:t>
            </a:r>
            <a:endParaRPr lang="en-US" sz="1600" dirty="0"/>
          </a:p>
        </p:txBody>
      </p:sp>
      <p:sp>
        <p:nvSpPr>
          <p:cNvPr id="10" name="element_270da85a8fb757a0177bbadea8eef942"/>
          <p:cNvSpPr txBox="1"/>
          <p:nvPr/>
        </p:nvSpPr>
        <p:spPr>
          <a:xfrm>
            <a:off x="7680768"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Undo remains immediate</a:t>
            </a:r>
            <a:endParaRPr lang="en-US" sz="1600" dirty="0"/>
          </a:p>
        </p:txBody>
      </p:sp>
      <p:sp>
        <p:nvSpPr>
          <p:cNvPr id="11" name="element_537750f36615f68c701a9fa52e98eb9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c0fa6d1e6f2e883d4b8ea0bc0262b64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08</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exactly eight visually ambitious, source-backed, claim-led sli…</dc:title>
  <dc:subject>Create an editable, reviewable presentation from this idea</dc:subject>
  <dc:creator>NodeSlide</dc:creator>
  <cp:lastModifiedBy>NodeSlide</cp:lastModifiedBy>
  <cp:revision>1</cp:revision>
  <dcterms:created xsi:type="dcterms:W3CDTF">2026-07-17T04:44:36Z</dcterms:created>
  <dcterms:modified xsi:type="dcterms:W3CDTF">2026-07-17T04:44:36Z</dcterms:modified>
</cp:coreProperties>
</file>