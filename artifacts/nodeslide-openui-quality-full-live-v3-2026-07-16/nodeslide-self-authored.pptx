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Thesis. Layout intent: hero. Keep the spoken transition focused on “NodeSlide must beat one-shot generation on governed creativity,”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Competitive landscape. Layout intent: comparison. Keep the spoken transition focused on “NodeSlide can own the governed path from intent to editable execution.”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Authoring contract. Layout intent: contract. Keep the spoken transition focused on “A strong deck begins with a decision contract, not a layout lottery.”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Authoring flow. Layout intent: flow. Keep the spoken transition focused on “Strategy moves through agents, review, and editable delivery as one visible system.”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Safety and evolution. Layout intent: split. Keep the spoken transition focused on “Separate in-deck repair from the slower work of improving authoring policy.”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Evidence board. Layout intent: evidence_board. Keep the spoken transition focused on “The evidence board makes every model action auditable after the browser closes.”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Narrative role: Decision. Layout intent: decision. Keep the spoken transition focused on “Approve the quality gate and require recorded proof for every release.”
Evidence note: Content is based on the supplied creation brief. Illustrative examples are not independently verified; replace them with measured evidence before external publication.
NodeSlide sources
[source_6463c19ad7431614d71cfdee485654f3] Create exactly seven visually ambitious, claim-led slides explaining… — creation brief
Citation: Create exactly seven visually ambitious, claim-led slides explaining why NodeSlide should dogfood its own authoring system. Audience: product and design leadership. Decision: approve the governed live-agent authoring roadmap and require recorded browser proof for every release. Use a refined editorial product-design aesthetic: warm off-white canvas, near-black typography, electric blue and coral accents, generous whitespace, strong hierarchy, and a distinct composition on every slide. Avoid repeated bullet-card grids. Keep every visible object natively editable. Use this exact layout contract in order: hero, comparison, contract, flow, split, evidence_board, decision. Slide 1 is a bold thesis cover: "NodeSlide must beat one-shot generation on governed creativity," with one supporting line and a visual tension motif. Slide 2 is a three-column competitive landscape. Canva AI wins brand and asset velocity; Gamma AI wins research-to-story speed; NodeSlide must own editable, governed execution. Slide 3 is an authoring contract that locks audience, decision, evidence ledger, and claim-led storyboard before layout. Show it as a structured editorial artifact, not bullets. Slide 4 is the only diagram: use exactly four short native editable nodes labeled Strategy, Agent team, Validate + review, and Editable export. Slide 5 uses a split composition: bounded repair on the left; HyperAgent-inspired versioned policy evolution, held-out evaluation, and safe promotion on the right. Slide 6 is an evidence board with labeled proof slots for provider, named model, input and output tokens, nonzero cost, candidate digest, durable validation receipt, version delta, and export artifact. Do not invent values. Slide 7 is a decisive release-gate checklist ending with "Approve the quality gate and require recorded proof for every release." Keep copy concise, use sentence-case headlines, preserve source notes for external references, and do not invent data or benchmark metrics. Treat Canva and Gamma as design inspirations rather than unverified performance claims. Treat HyperAgent as inspiration for versioned policy evolution, held-out evaluation, and safe promotion—not permission to mutate production code. Keep every object editable and do not invent data.
Disclaimer: Internal working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D"/>
        </a:solidFill>
      </p:bgPr>
    </p:bg>
    <p:spTree>
      <p:nvGrpSpPr>
        <p:cNvPr id="1" name=""/>
        <p:cNvGrpSpPr/>
        <p:nvPr/>
      </p:nvGrpSpPr>
      <p:grpSpPr>
        <a:xfrm>
          <a:off x="0" y="0"/>
          <a:ext cx="0" cy="0"/>
          <a:chOff x="0" y="0"/>
          <a:chExt cx="0" cy="0"/>
        </a:xfrm>
      </p:grpSpPr>
      <p:sp>
        <p:nvSpPr>
          <p:cNvPr id="2" name="nodeslide-slide-id:slide_666a3ffe5773a36eb519850bc33590c4"/>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7ab95686c0321314af999b861d8467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e097e1a49335b5e7517079b18cc7cf3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THESIS</a:t>
            </a:r>
            <a:endParaRPr lang="en-US" sz="1500" dirty="0"/>
          </a:p>
        </p:txBody>
      </p:sp>
      <p:sp>
        <p:nvSpPr>
          <p:cNvPr id="5" name="element_060ac1265080c1553809f4e81d211b86"/>
          <p:cNvSpPr txBox="1"/>
          <p:nvPr/>
        </p:nvSpPr>
        <p:spPr>
          <a:xfrm>
            <a:off x="853419" y="1097280"/>
            <a:ext cx="7436934" cy="1920240"/>
          </a:xfrm>
          <a:prstGeom prst="rect">
            <a:avLst/>
          </a:prstGeom>
          <a:noFill/>
          <a:ln/>
        </p:spPr>
        <p:txBody>
          <a:bodyPr wrap="square" lIns="0" tIns="0" rIns="0" bIns="0" rtlCol="0" anchor="t">
            <a:normAutofit/>
          </a:bodyPr>
          <a:lstStyle/>
          <a:p>
            <a:pPr algn="l" indent="0" marL="0">
              <a:lnSpc>
                <a:spcPct val="104000"/>
              </a:lnSpc>
              <a:buNone/>
            </a:pPr>
            <a:r>
              <a:rPr lang="en-US" sz="4800" b="1" spc="-80" kern="0" dirty="0">
                <a:solidFill>
                  <a:srgbClr val="26221D"/>
                </a:solidFill>
                <a:latin typeface="Fraunces Variable" pitchFamily="34" charset="0"/>
                <a:ea typeface="Fraunces Variable" pitchFamily="34" charset="-122"/>
                <a:cs typeface="Fraunces Variable" pitchFamily="34" charset="-120"/>
              </a:rPr>
              <a:t>NodeSlide must beat one-shot generation on governed creativity,</a:t>
            </a:r>
            <a:endParaRPr lang="en-US" sz="4800" dirty="0"/>
          </a:p>
        </p:txBody>
      </p:sp>
      <p:sp>
        <p:nvSpPr>
          <p:cNvPr id="6" name="element_a6a971e9d9aa8dd87cd8098246cbdf00"/>
          <p:cNvSpPr/>
          <p:nvPr/>
        </p:nvSpPr>
        <p:spPr>
          <a:xfrm>
            <a:off x="9387605" y="1234440"/>
            <a:ext cx="1463003" cy="685800"/>
          </a:xfrm>
          <a:prstGeom prst="roundRect">
            <a:avLst/>
          </a:prstGeom>
          <a:solidFill>
            <a:srgbClr val="F2DED3"/>
          </a:solidFill>
          <a:ln w="25400">
            <a:solidFill>
              <a:srgbClr val="B44A2D"/>
            </a:solidFill>
            <a:prstDash val="solid"/>
          </a:ln>
        </p:spPr>
      </p:sp>
      <p:sp>
        <p:nvSpPr>
          <p:cNvPr id="7" name="element_d042d27cc9ce89aba10af79d8ac88abb"/>
          <p:cNvSpPr/>
          <p:nvPr/>
        </p:nvSpPr>
        <p:spPr>
          <a:xfrm rot="-480000">
            <a:off x="8778021" y="2125980"/>
            <a:ext cx="2072588" cy="411480"/>
          </a:xfrm>
          <a:prstGeom prst="roundRect">
            <a:avLst/>
          </a:prstGeom>
          <a:solidFill>
            <a:srgbClr val="7566A8"/>
          </a:solidFill>
          <a:ln w="12700">
            <a:solidFill>
              <a:srgbClr val="FFFFFF">
                <a:alpha val="0"/>
              </a:srgbClr>
            </a:solidFill>
            <a:prstDash val="solid"/>
          </a:ln>
        </p:spPr>
      </p:sp>
      <p:sp>
        <p:nvSpPr>
          <p:cNvPr id="8" name="element_42f00c1cef4f12e62212769df1d10c65"/>
          <p:cNvSpPr/>
          <p:nvPr/>
        </p:nvSpPr>
        <p:spPr>
          <a:xfrm rot="420000">
            <a:off x="9875273" y="2674620"/>
            <a:ext cx="975336" cy="685800"/>
          </a:xfrm>
          <a:prstGeom prst="roundRect">
            <a:avLst/>
          </a:prstGeom>
          <a:solidFill>
            <a:srgbClr val="F2DED3"/>
          </a:solidFill>
          <a:ln w="12700">
            <a:solidFill>
              <a:srgbClr val="FFFFFF">
                <a:alpha val="0"/>
              </a:srgbClr>
            </a:solidFill>
            <a:prstDash val="solid"/>
          </a:ln>
        </p:spPr>
      </p:sp>
      <p:sp>
        <p:nvSpPr>
          <p:cNvPr id="9" name="element_0bd0de3f9d65daaab8b7d6107c2c5359"/>
          <p:cNvSpPr txBox="1"/>
          <p:nvPr/>
        </p:nvSpPr>
        <p:spPr>
          <a:xfrm>
            <a:off x="853419" y="3429000"/>
            <a:ext cx="8046519" cy="10287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NodeSlide should turn live-agent ambition into an editable, reviewable, reversible authoring system.</a:t>
            </a:r>
            <a:endParaRPr lang="en-US" sz="1900" dirty="0"/>
          </a:p>
        </p:txBody>
      </p:sp>
      <p:sp>
        <p:nvSpPr>
          <p:cNvPr id="10" name="element_dff200c343f4f8f9323a67dec2cce8d8"/>
          <p:cNvSpPr txBox="1"/>
          <p:nvPr/>
        </p:nvSpPr>
        <p:spPr>
          <a:xfrm>
            <a:off x="853419"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Creative range</a:t>
            </a:r>
            <a:endParaRPr lang="en-US" sz="1600" dirty="0"/>
          </a:p>
        </p:txBody>
      </p:sp>
      <p:sp>
        <p:nvSpPr>
          <p:cNvPr id="11" name="element_6b66320bf94de4a0d08803f156b3b22f"/>
          <p:cNvSpPr txBox="1"/>
          <p:nvPr/>
        </p:nvSpPr>
        <p:spPr>
          <a:xfrm>
            <a:off x="4267093"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Governed execution</a:t>
            </a:r>
            <a:endParaRPr lang="en-US" sz="1600" dirty="0"/>
          </a:p>
        </p:txBody>
      </p:sp>
      <p:sp>
        <p:nvSpPr>
          <p:cNvPr id="12" name="element_f70000d9197fcc6858ae88c015f1a577"/>
          <p:cNvSpPr txBox="1"/>
          <p:nvPr/>
        </p:nvSpPr>
        <p:spPr>
          <a:xfrm>
            <a:off x="7680768" y="493776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Native editability</a:t>
            </a:r>
            <a:endParaRPr lang="en-US" sz="1600" dirty="0"/>
          </a:p>
        </p:txBody>
      </p:sp>
      <p:sp>
        <p:nvSpPr>
          <p:cNvPr id="13" name="element_34ad2bd6faf95cc01bd3e9a4b2b907ab"/>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f7b72141b59f2dedcd6455752c22b25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01</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D"/>
        </a:solidFill>
      </p:bgPr>
    </p:bg>
    <p:spTree>
      <p:nvGrpSpPr>
        <p:cNvPr id="1" name=""/>
        <p:cNvGrpSpPr/>
        <p:nvPr/>
      </p:nvGrpSpPr>
      <p:grpSpPr>
        <a:xfrm>
          <a:off x="0" y="0"/>
          <a:ext cx="0" cy="0"/>
          <a:chOff x="0" y="0"/>
          <a:chExt cx="0" cy="0"/>
        </a:xfrm>
      </p:grpSpPr>
      <p:sp>
        <p:nvSpPr>
          <p:cNvPr id="2" name="nodeslide-slide-id:slide_5366267bd5e403c5e9b22d6d3d2a88ce"/>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000f1e61f4285edddfb9a79069ca1e17"/>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567b3ac7b916abc91e316e650cc199e4"/>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COMPETITIVE LANDSCAPE</a:t>
            </a:r>
            <a:endParaRPr lang="en-US" sz="1500" dirty="0"/>
          </a:p>
        </p:txBody>
      </p:sp>
      <p:sp>
        <p:nvSpPr>
          <p:cNvPr id="5" name="element_b2fc06746afc30192a8642baf5050749"/>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NodeSlide can own the governed path from intent to editable execution.</a:t>
            </a:r>
            <a:endParaRPr lang="en-US" sz="3800" dirty="0"/>
          </a:p>
        </p:txBody>
      </p:sp>
      <p:sp>
        <p:nvSpPr>
          <p:cNvPr id="6" name="element_710194f9718fc5511165c06dff33f7bc"/>
          <p:cNvSpPr/>
          <p:nvPr/>
        </p:nvSpPr>
        <p:spPr>
          <a:xfrm>
            <a:off x="792460" y="3909060"/>
            <a:ext cx="3169841" cy="1577340"/>
          </a:xfrm>
          <a:prstGeom prst="roundRect">
            <a:avLst/>
          </a:prstGeom>
          <a:solidFill>
            <a:srgbClr val="F2DED3"/>
          </a:solidFill>
          <a:ln w="12700">
            <a:solidFill>
              <a:srgbClr val="DED7CC"/>
            </a:solidFill>
            <a:prstDash val="solid"/>
          </a:ln>
        </p:spPr>
      </p:sp>
      <p:sp>
        <p:nvSpPr>
          <p:cNvPr id="7" name="element_8b04316efa0643f80b76b317e312ea1c"/>
          <p:cNvSpPr/>
          <p:nvPr/>
        </p:nvSpPr>
        <p:spPr>
          <a:xfrm>
            <a:off x="4206135" y="3909060"/>
            <a:ext cx="3169841" cy="1577340"/>
          </a:xfrm>
          <a:prstGeom prst="roundRect">
            <a:avLst/>
          </a:prstGeom>
          <a:solidFill>
            <a:srgbClr val="F2DED3"/>
          </a:solidFill>
          <a:ln w="12700">
            <a:solidFill>
              <a:srgbClr val="DED7CC"/>
            </a:solidFill>
            <a:prstDash val="solid"/>
          </a:ln>
        </p:spPr>
      </p:sp>
      <p:sp>
        <p:nvSpPr>
          <p:cNvPr id="8" name="element_2a902af74dbcfd8bda6568951e668639"/>
          <p:cNvSpPr/>
          <p:nvPr/>
        </p:nvSpPr>
        <p:spPr>
          <a:xfrm>
            <a:off x="7619810" y="3909060"/>
            <a:ext cx="3169841" cy="1577340"/>
          </a:xfrm>
          <a:prstGeom prst="roundRect">
            <a:avLst/>
          </a:prstGeom>
          <a:solidFill>
            <a:srgbClr val="F2DED3"/>
          </a:solidFill>
          <a:ln w="12700">
            <a:solidFill>
              <a:srgbClr val="DED7CC"/>
            </a:solidFill>
            <a:prstDash val="solid"/>
          </a:ln>
        </p:spPr>
      </p:sp>
      <p:sp>
        <p:nvSpPr>
          <p:cNvPr id="9" name="element_7d4750a6e1258296169b9b47cdc3fec3"/>
          <p:cNvSpPr txBox="1"/>
          <p:nvPr/>
        </p:nvSpPr>
        <p:spPr>
          <a:xfrm>
            <a:off x="853419" y="2468880"/>
            <a:ext cx="9997190"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The opportunity is not another one-shot generator. It is a durable authoring system with visible control.</a:t>
            </a:r>
            <a:endParaRPr lang="en-US" sz="1900" dirty="0"/>
          </a:p>
        </p:txBody>
      </p:sp>
      <p:sp>
        <p:nvSpPr>
          <p:cNvPr id="10" name="element_7bb39d097e107bf211e6a6a192caba46"/>
          <p:cNvSpPr txBox="1"/>
          <p:nvPr/>
        </p:nvSpPr>
        <p:spPr>
          <a:xfrm>
            <a:off x="853419"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Canva AI — brand and asset velocity</a:t>
            </a:r>
            <a:endParaRPr lang="en-US" sz="1600" dirty="0"/>
          </a:p>
        </p:txBody>
      </p:sp>
      <p:sp>
        <p:nvSpPr>
          <p:cNvPr id="11" name="element_cb4b055fd71a1fe06eb3de0c202f8560"/>
          <p:cNvSpPr txBox="1"/>
          <p:nvPr/>
        </p:nvSpPr>
        <p:spPr>
          <a:xfrm>
            <a:off x="4267093"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Gamma AI — research-to-story speed</a:t>
            </a:r>
            <a:endParaRPr lang="en-US" sz="1600" dirty="0"/>
          </a:p>
        </p:txBody>
      </p:sp>
      <p:sp>
        <p:nvSpPr>
          <p:cNvPr id="12" name="element_ed874ff3473d1723d05b79be5ce35226"/>
          <p:cNvSpPr txBox="1"/>
          <p:nvPr/>
        </p:nvSpPr>
        <p:spPr>
          <a:xfrm>
            <a:off x="7680768" y="4114800"/>
            <a:ext cx="3047924" cy="109728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NodeSlide — editable, governed execution</a:t>
            </a:r>
            <a:endParaRPr lang="en-US" sz="1600" dirty="0"/>
          </a:p>
        </p:txBody>
      </p:sp>
      <p:sp>
        <p:nvSpPr>
          <p:cNvPr id="13" name="element_5e6470464af950d3e903eff44166896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e1be9c93ba071c2df7e2387f541569d2"/>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02</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D"/>
        </a:solidFill>
      </p:bgPr>
    </p:bg>
    <p:spTree>
      <p:nvGrpSpPr>
        <p:cNvPr id="1" name=""/>
        <p:cNvGrpSpPr/>
        <p:nvPr/>
      </p:nvGrpSpPr>
      <p:grpSpPr>
        <a:xfrm>
          <a:off x="0" y="0"/>
          <a:ext cx="0" cy="0"/>
          <a:chOff x="0" y="0"/>
          <a:chExt cx="0" cy="0"/>
        </a:xfrm>
      </p:grpSpPr>
      <p:sp>
        <p:nvSpPr>
          <p:cNvPr id="2" name="nodeslide-slide-id:slide_be3a2676d36ad585a297efd2c3e4bf26"/>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17d3c53452121671fbff8b48cd113169"/>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a547e39f682fdbb9f963a009f0acc348"/>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AUTHORING CONTRACT</a:t>
            </a:r>
            <a:endParaRPr lang="en-US" sz="1500" dirty="0"/>
          </a:p>
        </p:txBody>
      </p:sp>
      <p:sp>
        <p:nvSpPr>
          <p:cNvPr id="5" name="element_6b486ae9da41a5c67a1c9bea9167ae06"/>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 strong deck begins with a decision contract, not a layout lottery.</a:t>
            </a:r>
            <a:endParaRPr lang="en-US" sz="3800" dirty="0"/>
          </a:p>
        </p:txBody>
      </p:sp>
      <p:sp>
        <p:nvSpPr>
          <p:cNvPr id="6" name="element_f27a648c3d2f6e5009217ddd96e69e49"/>
          <p:cNvSpPr/>
          <p:nvPr/>
        </p:nvSpPr>
        <p:spPr>
          <a:xfrm>
            <a:off x="6278723" y="2674620"/>
            <a:ext cx="4937637" cy="2743200"/>
          </a:xfrm>
          <a:prstGeom prst="roundRect">
            <a:avLst/>
          </a:prstGeom>
          <a:solidFill>
            <a:srgbClr val="E5E9D6"/>
          </a:solidFill>
          <a:ln w="12700">
            <a:solidFill>
              <a:srgbClr val="DED7CC"/>
            </a:solidFill>
            <a:prstDash val="solid"/>
          </a:ln>
        </p:spPr>
      </p:sp>
      <p:sp>
        <p:nvSpPr>
          <p:cNvPr id="7" name="element_cb567e7dc726894be52c1b7f8ef7ad67"/>
          <p:cNvSpPr txBox="1"/>
          <p:nvPr/>
        </p:nvSpPr>
        <p:spPr>
          <a:xfrm>
            <a:off x="853419"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Fix the audience, decision, evidence ledger, and claim-led storyboard before visual composition begins.</a:t>
            </a:r>
            <a:endParaRPr lang="en-US" sz="1900" dirty="0"/>
          </a:p>
        </p:txBody>
      </p:sp>
      <p:sp>
        <p:nvSpPr>
          <p:cNvPr id="8" name="element_c935288fa6d7e503b7d2bbdaaf7e87c3"/>
          <p:cNvSpPr txBox="1"/>
          <p:nvPr/>
        </p:nvSpPr>
        <p:spPr>
          <a:xfrm>
            <a:off x="6461598" y="308610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Audience + decision</a:t>
            </a:r>
            <a:endParaRPr lang="en-US" sz="1700" dirty="0"/>
          </a:p>
        </p:txBody>
      </p:sp>
      <p:sp>
        <p:nvSpPr>
          <p:cNvPr id="9" name="element_a227c277b616236da92d3597cf38ed32"/>
          <p:cNvSpPr txBox="1"/>
          <p:nvPr/>
        </p:nvSpPr>
        <p:spPr>
          <a:xfrm>
            <a:off x="6461598" y="39090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Evidence ledger</a:t>
            </a:r>
            <a:endParaRPr lang="en-US" sz="1700" dirty="0"/>
          </a:p>
        </p:txBody>
      </p:sp>
      <p:sp>
        <p:nvSpPr>
          <p:cNvPr id="10" name="element_8839275db1b10bcee8618e06a7998559"/>
          <p:cNvSpPr txBox="1"/>
          <p:nvPr/>
        </p:nvSpPr>
        <p:spPr>
          <a:xfrm>
            <a:off x="6461598" y="47320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Claim-led storyboard</a:t>
            </a:r>
            <a:endParaRPr lang="en-US" sz="1700" dirty="0"/>
          </a:p>
        </p:txBody>
      </p:sp>
      <p:sp>
        <p:nvSpPr>
          <p:cNvPr id="11" name="element_02f743c570028b13738c558a775d607d"/>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f5058d622c62c9500fbe4397bf033546"/>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03</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D"/>
        </a:solidFill>
      </p:bgPr>
    </p:bg>
    <p:spTree>
      <p:nvGrpSpPr>
        <p:cNvPr id="1" name=""/>
        <p:cNvGrpSpPr/>
        <p:nvPr/>
      </p:nvGrpSpPr>
      <p:grpSpPr>
        <a:xfrm>
          <a:off x="0" y="0"/>
          <a:ext cx="0" cy="0"/>
          <a:chOff x="0" y="0"/>
          <a:chExt cx="0" cy="0"/>
        </a:xfrm>
      </p:grpSpPr>
      <p:sp>
        <p:nvSpPr>
          <p:cNvPr id="2" name="nodeslide-slide-id:slide_fd95d87bd84959e540645305695c6535"/>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5dc1217e6c80872c2949263a3d3f8fa3"/>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18f2255e63e057b7f63392048cb11fbc"/>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AUTHORING FLOW</a:t>
            </a:r>
            <a:endParaRPr lang="en-US" sz="1500" dirty="0"/>
          </a:p>
        </p:txBody>
      </p:sp>
      <p:sp>
        <p:nvSpPr>
          <p:cNvPr id="5" name="element_285e2638717d866ce436f97accdf1aab"/>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Strategy moves through agents, review, and editable delivery as one visible system.</a:t>
            </a:r>
            <a:endParaRPr lang="en-US" sz="3500" dirty="0"/>
          </a:p>
        </p:txBody>
      </p:sp>
      <p:sp>
        <p:nvSpPr>
          <p:cNvPr id="6" name="element_adc108cba0d70e80188f7bd2cb4c2ff9"/>
          <p:cNvSpPr txBox="1"/>
          <p:nvPr/>
        </p:nvSpPr>
        <p:spPr>
          <a:xfrm>
            <a:off x="853419" y="2537460"/>
            <a:ext cx="4754761"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Every handoff stays inspectable, bounded, and reversible.</a:t>
            </a:r>
            <a:endParaRPr lang="en-US" sz="1900" dirty="0"/>
          </a:p>
        </p:txBody>
      </p:sp>
      <p:sp>
        <p:nvSpPr>
          <p:cNvPr id="7" name="element_d206b898dc42409536eddad55d38a7c9"/>
          <p:cNvSpPr/>
          <p:nvPr/>
        </p:nvSpPr>
        <p:spPr>
          <a:xfrm>
            <a:off x="3090595" y="4217670"/>
            <a:ext cx="292601" cy="0"/>
          </a:xfrm>
          <a:prstGeom prst="line">
            <a:avLst/>
          </a:prstGeom>
          <a:noFill/>
          <a:ln w="25400">
            <a:solidFill>
              <a:srgbClr val="7566A8"/>
            </a:solidFill>
            <a:prstDash val="solid"/>
            <a:tailEnd type="triangle"/>
          </a:ln>
        </p:spPr>
      </p:sp>
      <p:sp>
        <p:nvSpPr>
          <p:cNvPr id="8" name="element_1bd8f5c24c8e2b88a38c0f82ffb4e676"/>
          <p:cNvSpPr/>
          <p:nvPr/>
        </p:nvSpPr>
        <p:spPr>
          <a:xfrm>
            <a:off x="5705713" y="4217670"/>
            <a:ext cx="292601" cy="0"/>
          </a:xfrm>
          <a:prstGeom prst="line">
            <a:avLst/>
          </a:prstGeom>
          <a:noFill/>
          <a:ln w="25400">
            <a:solidFill>
              <a:srgbClr val="7566A8"/>
            </a:solidFill>
            <a:prstDash val="solid"/>
            <a:tailEnd type="triangle"/>
          </a:ln>
        </p:spPr>
      </p:sp>
      <p:sp>
        <p:nvSpPr>
          <p:cNvPr id="9" name="element_1ddaa7fa70f3ae4d11e7448b2f4236d3"/>
          <p:cNvSpPr/>
          <p:nvPr/>
        </p:nvSpPr>
        <p:spPr>
          <a:xfrm>
            <a:off x="8320832" y="4217670"/>
            <a:ext cx="292601" cy="0"/>
          </a:xfrm>
          <a:prstGeom prst="line">
            <a:avLst/>
          </a:prstGeom>
          <a:noFill/>
          <a:ln w="25400">
            <a:solidFill>
              <a:srgbClr val="7566A8"/>
            </a:solidFill>
            <a:prstDash val="solid"/>
            <a:tailEnd type="triangle"/>
          </a:ln>
        </p:spPr>
      </p:sp>
      <p:sp>
        <p:nvSpPr>
          <p:cNvPr id="10" name="element_345ab69d9eaf6a46c7449e779647f05a"/>
          <p:cNvSpPr/>
          <p:nvPr/>
        </p:nvSpPr>
        <p:spPr>
          <a:xfrm>
            <a:off x="853419" y="3771900"/>
            <a:ext cx="2151834" cy="1371600"/>
          </a:xfrm>
          <a:prstGeom prst="roundRect">
            <a:avLst/>
          </a:prstGeom>
          <a:solidFill>
            <a:srgbClr val="E5E9D6"/>
          </a:solidFill>
          <a:ln w="19050">
            <a:solidFill>
              <a:srgbClr val="DED7CC"/>
            </a:solidFill>
            <a:prstDash val="solid"/>
          </a:ln>
        </p:spPr>
      </p:sp>
      <p:sp>
        <p:nvSpPr>
          <p:cNvPr id="11" name="element_345ab69d9eaf6a46c7449e779647f05a:text"/>
          <p:cNvSpPr txBox="1"/>
          <p:nvPr/>
        </p:nvSpPr>
        <p:spPr>
          <a:xfrm>
            <a:off x="853419"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Strategy</a:t>
            </a:r>
            <a:endParaRPr lang="en-US" sz="1400" dirty="0"/>
          </a:p>
        </p:txBody>
      </p:sp>
      <p:sp>
        <p:nvSpPr>
          <p:cNvPr id="12" name="element_442f60c592e8ecfb15e362392bd3eadb"/>
          <p:cNvSpPr/>
          <p:nvPr/>
        </p:nvSpPr>
        <p:spPr>
          <a:xfrm>
            <a:off x="3468537" y="3771900"/>
            <a:ext cx="2151834" cy="1371600"/>
          </a:xfrm>
          <a:prstGeom prst="roundRect">
            <a:avLst/>
          </a:prstGeom>
          <a:solidFill>
            <a:srgbClr val="E5E9D6"/>
          </a:solidFill>
          <a:ln w="19050">
            <a:solidFill>
              <a:srgbClr val="DED7CC"/>
            </a:solidFill>
            <a:prstDash val="solid"/>
          </a:ln>
        </p:spPr>
      </p:sp>
      <p:sp>
        <p:nvSpPr>
          <p:cNvPr id="13" name="element_442f60c592e8ecfb15e362392bd3eadb:text"/>
          <p:cNvSpPr txBox="1"/>
          <p:nvPr/>
        </p:nvSpPr>
        <p:spPr>
          <a:xfrm>
            <a:off x="3468537"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Agent team</a:t>
            </a:r>
            <a:endParaRPr lang="en-US" sz="1400" dirty="0"/>
          </a:p>
        </p:txBody>
      </p:sp>
      <p:sp>
        <p:nvSpPr>
          <p:cNvPr id="14" name="element_e8200cf166a2e21a52e19e61bf1ba1d9"/>
          <p:cNvSpPr/>
          <p:nvPr/>
        </p:nvSpPr>
        <p:spPr>
          <a:xfrm>
            <a:off x="6083656" y="3771900"/>
            <a:ext cx="2151834" cy="1371600"/>
          </a:xfrm>
          <a:prstGeom prst="roundRect">
            <a:avLst/>
          </a:prstGeom>
          <a:solidFill>
            <a:srgbClr val="E5E9D6"/>
          </a:solidFill>
          <a:ln w="19050">
            <a:solidFill>
              <a:srgbClr val="DED7CC"/>
            </a:solidFill>
            <a:prstDash val="solid"/>
          </a:ln>
        </p:spPr>
      </p:sp>
      <p:sp>
        <p:nvSpPr>
          <p:cNvPr id="15" name="element_e8200cf166a2e21a52e19e61bf1ba1d9:text"/>
          <p:cNvSpPr txBox="1"/>
          <p:nvPr/>
        </p:nvSpPr>
        <p:spPr>
          <a:xfrm>
            <a:off x="6083656"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Validate + review</a:t>
            </a:r>
            <a:endParaRPr lang="en-US" sz="1400" dirty="0"/>
          </a:p>
        </p:txBody>
      </p:sp>
      <p:sp>
        <p:nvSpPr>
          <p:cNvPr id="16" name="element_823aa72e57ea2e6892fcd91db4734f38"/>
          <p:cNvSpPr/>
          <p:nvPr/>
        </p:nvSpPr>
        <p:spPr>
          <a:xfrm>
            <a:off x="8698775" y="3771900"/>
            <a:ext cx="2151834" cy="1371600"/>
          </a:xfrm>
          <a:prstGeom prst="roundRect">
            <a:avLst/>
          </a:prstGeom>
          <a:solidFill>
            <a:srgbClr val="F2DED3"/>
          </a:solidFill>
          <a:ln w="19050">
            <a:solidFill>
              <a:srgbClr val="DED7CC"/>
            </a:solidFill>
            <a:prstDash val="solid"/>
          </a:ln>
        </p:spPr>
      </p:sp>
      <p:sp>
        <p:nvSpPr>
          <p:cNvPr id="17" name="element_823aa72e57ea2e6892fcd91db4734f38:text"/>
          <p:cNvSpPr txBox="1"/>
          <p:nvPr/>
        </p:nvSpPr>
        <p:spPr>
          <a:xfrm>
            <a:off x="8698775" y="3771900"/>
            <a:ext cx="2151834" cy="1371600"/>
          </a:xfrm>
          <a:prstGeom prst="rect">
            <a:avLst/>
          </a:prstGeom>
          <a:noFill/>
          <a:ln/>
        </p:spPr>
        <p:txBody>
          <a:bodyPr wrap="square" lIns="76200" tIns="76200" rIns="76200" bIns="76200" rtlCol="0" anchor="ctr">
            <a:normAutofit/>
          </a:bodyPr>
          <a:lstStyle/>
          <a:p>
            <a:pPr algn="ctr" indent="0" marL="0">
              <a:lnSpc>
                <a:spcPct val="115000"/>
              </a:lnSpc>
              <a:buNone/>
            </a:pPr>
            <a:r>
              <a:rPr lang="en-US" sz="1400" b="1" dirty="0">
                <a:solidFill>
                  <a:srgbClr val="34452C"/>
                </a:solidFill>
                <a:latin typeface="Geist Variable" pitchFamily="34" charset="0"/>
                <a:ea typeface="Geist Variable" pitchFamily="34" charset="-122"/>
                <a:cs typeface="Geist Variable" pitchFamily="34" charset="-120"/>
              </a:rPr>
              <a:t>Editable export</a:t>
            </a:r>
            <a:endParaRPr lang="en-US" sz="1400" dirty="0"/>
          </a:p>
        </p:txBody>
      </p:sp>
      <p:sp>
        <p:nvSpPr>
          <p:cNvPr id="18" name="element_e79db47dfed795fd7b516cf3c6d1c2d7"/>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9" name="element_33a69ce64ea4e87c79871742cb68f72d"/>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04</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D"/>
        </a:solidFill>
      </p:bgPr>
    </p:bg>
    <p:spTree>
      <p:nvGrpSpPr>
        <p:cNvPr id="1" name=""/>
        <p:cNvGrpSpPr/>
        <p:nvPr/>
      </p:nvGrpSpPr>
      <p:grpSpPr>
        <a:xfrm>
          <a:off x="0" y="0"/>
          <a:ext cx="0" cy="0"/>
          <a:chOff x="0" y="0"/>
          <a:chExt cx="0" cy="0"/>
        </a:xfrm>
      </p:grpSpPr>
      <p:sp>
        <p:nvSpPr>
          <p:cNvPr id="2" name="nodeslide-slide-id:slide_38544394ea19ededa74b3d3c291584da"/>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ae9e6f37fda66635b3f271a8266a50bd"/>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3c123d5556d4f1d36f59076bb4c48560"/>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SAFETY AND EVOLUTION</a:t>
            </a:r>
            <a:endParaRPr lang="en-US" sz="1500" dirty="0"/>
          </a:p>
        </p:txBody>
      </p:sp>
      <p:sp>
        <p:nvSpPr>
          <p:cNvPr id="5" name="element_f756de7d39b8fa5476d27b0a60de1280"/>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Separate in-deck repair from the slower work of improving authoring policy.</a:t>
            </a:r>
            <a:endParaRPr lang="en-US" sz="3500" dirty="0"/>
          </a:p>
        </p:txBody>
      </p:sp>
      <p:sp>
        <p:nvSpPr>
          <p:cNvPr id="6" name="element_2048b2d11baa733278f0994015035418"/>
          <p:cNvSpPr/>
          <p:nvPr/>
        </p:nvSpPr>
        <p:spPr>
          <a:xfrm>
            <a:off x="6095848" y="2674620"/>
            <a:ext cx="5120512" cy="2743200"/>
          </a:xfrm>
          <a:prstGeom prst="roundRect">
            <a:avLst/>
          </a:prstGeom>
          <a:solidFill>
            <a:srgbClr val="F2DED3"/>
          </a:solidFill>
          <a:ln w="12700">
            <a:solidFill>
              <a:srgbClr val="DED7CC"/>
            </a:solidFill>
            <a:prstDash val="solid"/>
          </a:ln>
        </p:spPr>
      </p:sp>
      <p:sp>
        <p:nvSpPr>
          <p:cNvPr id="7" name="element_193e200a86e3a583b910160e40958fe8"/>
          <p:cNvSpPr txBox="1"/>
          <p:nvPr/>
        </p:nvSpPr>
        <p:spPr>
          <a:xfrm>
            <a:off x="853419" y="2743200"/>
            <a:ext cx="4998595" cy="137160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Repair the current artifact inside declared scope; promote policy changes only after held-out evaluation.</a:t>
            </a:r>
            <a:endParaRPr lang="en-US" sz="1900" dirty="0"/>
          </a:p>
        </p:txBody>
      </p:sp>
      <p:sp>
        <p:nvSpPr>
          <p:cNvPr id="8" name="element_8bcb95b27bb1c53a2bf0d668ce398007"/>
          <p:cNvSpPr txBox="1"/>
          <p:nvPr/>
        </p:nvSpPr>
        <p:spPr>
          <a:xfrm>
            <a:off x="6461598" y="308610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01  Versioned policy</a:t>
            </a:r>
            <a:endParaRPr lang="en-US" sz="1700" dirty="0"/>
          </a:p>
        </p:txBody>
      </p:sp>
      <p:sp>
        <p:nvSpPr>
          <p:cNvPr id="9" name="element_fe49ea5d812a6cb94546a0ec33e5c9b6"/>
          <p:cNvSpPr txBox="1"/>
          <p:nvPr/>
        </p:nvSpPr>
        <p:spPr>
          <a:xfrm>
            <a:off x="6461598" y="390906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02  Held-out evaluation</a:t>
            </a:r>
            <a:endParaRPr lang="en-US" sz="1700" dirty="0"/>
          </a:p>
        </p:txBody>
      </p:sp>
      <p:sp>
        <p:nvSpPr>
          <p:cNvPr id="10" name="element_bacb285f3feb4c9d7ebf1434ef0a809f"/>
          <p:cNvSpPr txBox="1"/>
          <p:nvPr/>
        </p:nvSpPr>
        <p:spPr>
          <a:xfrm>
            <a:off x="6461598" y="4732020"/>
            <a:ext cx="4389010" cy="617220"/>
          </a:xfrm>
          <a:prstGeom prst="rect">
            <a:avLst/>
          </a:prstGeom>
          <a:noFill/>
          <a:ln/>
        </p:spPr>
        <p:txBody>
          <a:bodyPr wrap="square" lIns="0" tIns="0" rIns="0" bIns="0" rtlCol="0" anchor="t">
            <a:normAutofit/>
          </a:bodyPr>
          <a:lstStyle/>
          <a:p>
            <a:pPr algn="l" indent="0" marL="0">
              <a:lnSpc>
                <a:spcPct val="120000"/>
              </a:lnSpc>
              <a:buNone/>
            </a:pPr>
            <a:r>
              <a:rPr lang="en-US" sz="1700" dirty="0">
                <a:solidFill>
                  <a:srgbClr val="26221D"/>
                </a:solidFill>
                <a:latin typeface="Geist Variable" pitchFamily="34" charset="0"/>
                <a:ea typeface="Geist Variable" pitchFamily="34" charset="-122"/>
                <a:cs typeface="Geist Variable" pitchFamily="34" charset="-120"/>
              </a:rPr>
              <a:t>03  Safe promotion</a:t>
            </a:r>
            <a:endParaRPr lang="en-US" sz="1700" dirty="0"/>
          </a:p>
        </p:txBody>
      </p:sp>
      <p:sp>
        <p:nvSpPr>
          <p:cNvPr id="11" name="element_1d27c6091479bd069a2a195fee3afb39"/>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211ed1d9f571173a6f6dc7a516913e4b"/>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05</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D"/>
        </a:solidFill>
      </p:bgPr>
    </p:bg>
    <p:spTree>
      <p:nvGrpSpPr>
        <p:cNvPr id="1" name=""/>
        <p:cNvGrpSpPr/>
        <p:nvPr/>
      </p:nvGrpSpPr>
      <p:grpSpPr>
        <a:xfrm>
          <a:off x="0" y="0"/>
          <a:ext cx="0" cy="0"/>
          <a:chOff x="0" y="0"/>
          <a:chExt cx="0" cy="0"/>
        </a:xfrm>
      </p:grpSpPr>
      <p:sp>
        <p:nvSpPr>
          <p:cNvPr id="2" name="nodeslide-slide-id:slide_c8a501cdec48f827cbb387f9405eb14e"/>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c4a599401f13e65ef86772533945f325"/>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7b5dc4a7f769a654796668889da85327"/>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EVIDENCE BOARD</a:t>
            </a:r>
            <a:endParaRPr lang="en-US" sz="1500" dirty="0"/>
          </a:p>
        </p:txBody>
      </p:sp>
      <p:sp>
        <p:nvSpPr>
          <p:cNvPr id="5" name="element_87ebcb5fb0d13b36c4d7b49245c66e39"/>
          <p:cNvSpPr txBox="1"/>
          <p:nvPr/>
        </p:nvSpPr>
        <p:spPr>
          <a:xfrm>
            <a:off x="853419" y="960120"/>
            <a:ext cx="9997190" cy="1303020"/>
          </a:xfrm>
          <a:prstGeom prst="rect">
            <a:avLst/>
          </a:prstGeom>
          <a:noFill/>
          <a:ln/>
        </p:spPr>
        <p:txBody>
          <a:bodyPr wrap="square" lIns="0" tIns="0" rIns="0" bIns="0" rtlCol="0" anchor="t">
            <a:normAutofit/>
          </a:bodyPr>
          <a:lstStyle/>
          <a:p>
            <a:pPr algn="l" indent="0" marL="0">
              <a:lnSpc>
                <a:spcPct val="104000"/>
              </a:lnSpc>
              <a:buNone/>
            </a:pPr>
            <a:r>
              <a:rPr lang="en-US" sz="3500" b="1" spc="-80" kern="0" dirty="0">
                <a:solidFill>
                  <a:srgbClr val="26221D"/>
                </a:solidFill>
                <a:latin typeface="Fraunces Variable" pitchFamily="34" charset="0"/>
                <a:ea typeface="Fraunces Variable" pitchFamily="34" charset="-122"/>
                <a:cs typeface="Fraunces Variable" pitchFamily="34" charset="-120"/>
              </a:rPr>
              <a:t>A live run is only real when its receipt survives export.</a:t>
            </a:r>
            <a:endParaRPr lang="en-US" sz="3500" dirty="0"/>
          </a:p>
        </p:txBody>
      </p:sp>
      <p:sp>
        <p:nvSpPr>
          <p:cNvPr id="6" name="element_687b377ff8616af3c91331f36d3db9e6"/>
          <p:cNvSpPr/>
          <p:nvPr/>
        </p:nvSpPr>
        <p:spPr>
          <a:xfrm>
            <a:off x="792460" y="3703320"/>
            <a:ext cx="6095848" cy="822960"/>
          </a:xfrm>
          <a:prstGeom prst="roundRect">
            <a:avLst/>
          </a:prstGeom>
          <a:solidFill>
            <a:srgbClr val="E5E9D6"/>
          </a:solidFill>
          <a:ln w="12700">
            <a:solidFill>
              <a:srgbClr val="DED7CC"/>
            </a:solidFill>
            <a:prstDash val="solid"/>
          </a:ln>
        </p:spPr>
      </p:sp>
      <p:sp>
        <p:nvSpPr>
          <p:cNvPr id="7" name="element_d38c30cabbdecb378f2e655d7c3d34af"/>
          <p:cNvSpPr/>
          <p:nvPr/>
        </p:nvSpPr>
        <p:spPr>
          <a:xfrm>
            <a:off x="7132142" y="3703320"/>
            <a:ext cx="3718467" cy="822960"/>
          </a:xfrm>
          <a:prstGeom prst="roundRect">
            <a:avLst/>
          </a:prstGeom>
          <a:solidFill>
            <a:srgbClr val="E5E9D6"/>
          </a:solidFill>
          <a:ln w="12700">
            <a:solidFill>
              <a:srgbClr val="DED7CC"/>
            </a:solidFill>
            <a:prstDash val="solid"/>
          </a:ln>
        </p:spPr>
      </p:sp>
      <p:sp>
        <p:nvSpPr>
          <p:cNvPr id="8" name="element_0180cb60cb33f0a22010e01c14f40767"/>
          <p:cNvSpPr/>
          <p:nvPr/>
        </p:nvSpPr>
        <p:spPr>
          <a:xfrm>
            <a:off x="792460" y="4663440"/>
            <a:ext cx="10058149" cy="822960"/>
          </a:xfrm>
          <a:prstGeom prst="roundRect">
            <a:avLst/>
          </a:prstGeom>
          <a:solidFill>
            <a:srgbClr val="E5E9D6"/>
          </a:solidFill>
          <a:ln w="12700">
            <a:solidFill>
              <a:srgbClr val="DED7CC"/>
            </a:solidFill>
            <a:prstDash val="solid"/>
          </a:ln>
        </p:spPr>
      </p:sp>
      <p:sp>
        <p:nvSpPr>
          <p:cNvPr id="9" name="element_d08d89491bdd0b5350ce2d5e0787e4ad"/>
          <p:cNvSpPr txBox="1"/>
          <p:nvPr/>
        </p:nvSpPr>
        <p:spPr>
          <a:xfrm>
            <a:off x="853419" y="2468880"/>
            <a:ext cx="8778021" cy="89154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Provider, model, tokens, cost, digests, validation, version delta, and export remain attached to the run.</a:t>
            </a:r>
            <a:endParaRPr lang="en-US" sz="1900" dirty="0"/>
          </a:p>
        </p:txBody>
      </p:sp>
      <p:sp>
        <p:nvSpPr>
          <p:cNvPr id="10" name="element_dcab2348af96c168ed043220bf850050"/>
          <p:cNvSpPr txBox="1"/>
          <p:nvPr/>
        </p:nvSpPr>
        <p:spPr>
          <a:xfrm>
            <a:off x="975336" y="3840480"/>
            <a:ext cx="5730097"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Provider + model + tokens</a:t>
            </a:r>
            <a:endParaRPr lang="en-US" sz="1600" dirty="0"/>
          </a:p>
        </p:txBody>
      </p:sp>
      <p:sp>
        <p:nvSpPr>
          <p:cNvPr id="11" name="element_a6ca294af2310a01c49e2e7a3d80952a"/>
          <p:cNvSpPr txBox="1"/>
          <p:nvPr/>
        </p:nvSpPr>
        <p:spPr>
          <a:xfrm>
            <a:off x="7315017" y="3840480"/>
            <a:ext cx="3352716"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Cost + candidate digest</a:t>
            </a:r>
            <a:endParaRPr lang="en-US" sz="1600" dirty="0"/>
          </a:p>
        </p:txBody>
      </p:sp>
      <p:sp>
        <p:nvSpPr>
          <p:cNvPr id="12" name="element_e45c99fc798193cd2d167efb733a9148"/>
          <p:cNvSpPr txBox="1"/>
          <p:nvPr/>
        </p:nvSpPr>
        <p:spPr>
          <a:xfrm>
            <a:off x="975336" y="4800600"/>
            <a:ext cx="9692398" cy="548640"/>
          </a:xfrm>
          <a:prstGeom prst="rect">
            <a:avLst/>
          </a:prstGeom>
          <a:noFill/>
          <a:ln/>
        </p:spPr>
        <p:txBody>
          <a:bodyPr wrap="square" lIns="152400" tIns="152400" rIns="152400" bIns="15240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Receipt + version + export</a:t>
            </a:r>
            <a:endParaRPr lang="en-US" sz="1600" dirty="0"/>
          </a:p>
        </p:txBody>
      </p:sp>
      <p:sp>
        <p:nvSpPr>
          <p:cNvPr id="13" name="element_1d6d01129582e9cf79ded6e1cefc9e64"/>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4" name="element_95f7c9cf26ea367d75df40c9178b8a59"/>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D"/>
        </a:solidFill>
      </p:bgPr>
    </p:bg>
    <p:spTree>
      <p:nvGrpSpPr>
        <p:cNvPr id="1" name=""/>
        <p:cNvGrpSpPr/>
        <p:nvPr/>
      </p:nvGrpSpPr>
      <p:grpSpPr>
        <a:xfrm>
          <a:off x="0" y="0"/>
          <a:ext cx="0" cy="0"/>
          <a:chOff x="0" y="0"/>
          <a:chExt cx="0" cy="0"/>
        </a:xfrm>
      </p:grpSpPr>
      <p:sp>
        <p:nvSpPr>
          <p:cNvPr id="2" name="nodeslide-slide-id:slide_3690ffe32526b5117f6a9279d5e43a50"/>
          <p:cNvSpPr/>
          <p:nvPr/>
        </p:nvSpPr>
        <p:spPr>
          <a:xfrm>
            <a:off x="0" y="0"/>
            <a:ext cx="914" cy="914"/>
          </a:xfrm>
          <a:prstGeom prst="rect">
            <a:avLst/>
          </a:prstGeom>
          <a:solidFill>
            <a:srgbClr val="FFFFFF">
              <a:alpha val="0"/>
            </a:srgbClr>
          </a:solidFill>
          <a:ln w="12700">
            <a:solidFill>
              <a:srgbClr val="FFFFFF">
                <a:alpha val="0"/>
              </a:srgbClr>
            </a:solidFill>
            <a:prstDash val="solid"/>
          </a:ln>
        </p:spPr>
      </p:sp>
      <p:sp>
        <p:nvSpPr>
          <p:cNvPr id="3" name="element_627d0bdaf950b71cfa5d7a2a611b7e2b"/>
          <p:cNvSpPr/>
          <p:nvPr/>
        </p:nvSpPr>
        <p:spPr>
          <a:xfrm>
            <a:off x="426709" y="445770"/>
            <a:ext cx="121917" cy="5692140"/>
          </a:xfrm>
          <a:prstGeom prst="roundRect">
            <a:avLst/>
          </a:prstGeom>
          <a:solidFill>
            <a:srgbClr val="B44A2D"/>
          </a:solidFill>
          <a:ln w="12700">
            <a:solidFill>
              <a:srgbClr val="FFFFFF">
                <a:alpha val="0"/>
              </a:srgbClr>
            </a:solidFill>
            <a:prstDash val="solid"/>
          </a:ln>
        </p:spPr>
      </p:sp>
      <p:sp>
        <p:nvSpPr>
          <p:cNvPr id="4" name="element_fab080177d54f4766e119b77431c60dd"/>
          <p:cNvSpPr txBox="1"/>
          <p:nvPr/>
        </p:nvSpPr>
        <p:spPr>
          <a:xfrm>
            <a:off x="853419" y="445770"/>
            <a:ext cx="5852014" cy="342900"/>
          </a:xfrm>
          <a:prstGeom prst="rect">
            <a:avLst/>
          </a:prstGeom>
          <a:noFill/>
          <a:ln/>
        </p:spPr>
        <p:txBody>
          <a:bodyPr wrap="square" lIns="0" tIns="0" rIns="0" bIns="0" rtlCol="0" anchor="t">
            <a:normAutofit/>
          </a:bodyPr>
          <a:lstStyle/>
          <a:p>
            <a:pPr algn="l" indent="0" marL="0">
              <a:lnSpc>
                <a:spcPct val="120000"/>
              </a:lnSpc>
              <a:buNone/>
            </a:pPr>
            <a:r>
              <a:rPr lang="en-US" sz="1500" b="1" spc="130" kern="0" dirty="0">
                <a:solidFill>
                  <a:srgbClr val="B44A2D"/>
                </a:solidFill>
                <a:latin typeface="JetBrains Mono Variable" pitchFamily="34" charset="0"/>
                <a:ea typeface="JetBrains Mono Variable" pitchFamily="34" charset="-122"/>
                <a:cs typeface="JetBrains Mono Variable" pitchFamily="34" charset="-120"/>
              </a:rPr>
              <a:t>DECISION</a:t>
            </a:r>
            <a:endParaRPr lang="en-US" sz="1500" dirty="0"/>
          </a:p>
        </p:txBody>
      </p:sp>
      <p:sp>
        <p:nvSpPr>
          <p:cNvPr id="5" name="element_e4d14a8956f4ccdd3482d45519a23ed3"/>
          <p:cNvSpPr txBox="1"/>
          <p:nvPr/>
        </p:nvSpPr>
        <p:spPr>
          <a:xfrm>
            <a:off x="853419" y="960120"/>
            <a:ext cx="9997190" cy="1508760"/>
          </a:xfrm>
          <a:prstGeom prst="rect">
            <a:avLst/>
          </a:prstGeom>
          <a:noFill/>
          <a:ln/>
        </p:spPr>
        <p:txBody>
          <a:bodyPr wrap="square" lIns="0" tIns="0" rIns="0" bIns="0" rtlCol="0" anchor="t">
            <a:normAutofit/>
          </a:bodyPr>
          <a:lstStyle/>
          <a:p>
            <a:pPr algn="l" indent="0" marL="0">
              <a:lnSpc>
                <a:spcPct val="104000"/>
              </a:lnSpc>
              <a:buNone/>
            </a:pPr>
            <a:r>
              <a:rPr lang="en-US" sz="3800" b="1" spc="-80" kern="0" dirty="0">
                <a:solidFill>
                  <a:srgbClr val="26221D"/>
                </a:solidFill>
                <a:latin typeface="Fraunces Variable" pitchFamily="34" charset="0"/>
                <a:ea typeface="Fraunces Variable" pitchFamily="34" charset="-122"/>
                <a:cs typeface="Fraunces Variable" pitchFamily="34" charset="-120"/>
              </a:rPr>
              <a:t>Approve the quality gate and require recorded proof for every release.</a:t>
            </a:r>
            <a:endParaRPr lang="en-US" sz="3800" dirty="0"/>
          </a:p>
        </p:txBody>
      </p:sp>
      <p:sp>
        <p:nvSpPr>
          <p:cNvPr id="6" name="element_77eccd534cc4f48fa6a313626d8c9982"/>
          <p:cNvSpPr/>
          <p:nvPr/>
        </p:nvSpPr>
        <p:spPr>
          <a:xfrm>
            <a:off x="853419" y="5692140"/>
            <a:ext cx="9997190" cy="82296"/>
          </a:xfrm>
          <a:prstGeom prst="roundRect">
            <a:avLst/>
          </a:prstGeom>
          <a:solidFill>
            <a:srgbClr val="B44A2D"/>
          </a:solidFill>
          <a:ln w="12700">
            <a:solidFill>
              <a:srgbClr val="FFFFFF">
                <a:alpha val="0"/>
              </a:srgbClr>
            </a:solidFill>
            <a:prstDash val="solid"/>
          </a:ln>
        </p:spPr>
      </p:sp>
      <p:sp>
        <p:nvSpPr>
          <p:cNvPr id="7" name="element_06c8213af4c4a30a14986b17cf6750d9"/>
          <p:cNvSpPr txBox="1"/>
          <p:nvPr/>
        </p:nvSpPr>
        <p:spPr>
          <a:xfrm>
            <a:off x="853419" y="2743200"/>
            <a:ext cx="8046519" cy="1097280"/>
          </a:xfrm>
          <a:prstGeom prst="rect">
            <a:avLst/>
          </a:prstGeom>
          <a:noFill/>
          <a:ln/>
        </p:spPr>
        <p:txBody>
          <a:bodyPr wrap="square" lIns="0" tIns="0" rIns="0" bIns="0" rtlCol="0" anchor="t">
            <a:normAutofit/>
          </a:bodyPr>
          <a:lstStyle/>
          <a:p>
            <a:pPr algn="l" indent="0" marL="0">
              <a:lnSpc>
                <a:spcPct val="135000"/>
              </a:lnSpc>
              <a:buNone/>
            </a:pPr>
            <a:r>
              <a:rPr lang="en-US" sz="1900" dirty="0">
                <a:solidFill>
                  <a:srgbClr val="6B6158"/>
                </a:solidFill>
                <a:latin typeface="Geist Variable" pitchFamily="34" charset="0"/>
                <a:ea typeface="Geist Variable" pitchFamily="34" charset="-122"/>
                <a:cs typeface="Geist Variable" pitchFamily="34" charset="-120"/>
              </a:rPr>
              <a:t>Ship only when the artifact, receipt, version transition, export, and recorded browser journey agree.</a:t>
            </a:r>
            <a:endParaRPr lang="en-US" sz="1900" dirty="0"/>
          </a:p>
        </p:txBody>
      </p:sp>
      <p:sp>
        <p:nvSpPr>
          <p:cNvPr id="8" name="element_8bd541bdd0b04737c1b164361aef4356"/>
          <p:cNvSpPr txBox="1"/>
          <p:nvPr/>
        </p:nvSpPr>
        <p:spPr>
          <a:xfrm>
            <a:off x="853419"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Artifact quality passes</a:t>
            </a:r>
            <a:endParaRPr lang="en-US" sz="1600" dirty="0"/>
          </a:p>
        </p:txBody>
      </p:sp>
      <p:sp>
        <p:nvSpPr>
          <p:cNvPr id="9" name="element_d267dfc0565df2468c629740ca7e94bb"/>
          <p:cNvSpPr txBox="1"/>
          <p:nvPr/>
        </p:nvSpPr>
        <p:spPr>
          <a:xfrm>
            <a:off x="4267093"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Receipt survives export</a:t>
            </a:r>
            <a:endParaRPr lang="en-US" sz="1600" dirty="0"/>
          </a:p>
        </p:txBody>
      </p:sp>
      <p:sp>
        <p:nvSpPr>
          <p:cNvPr id="10" name="element_7c8b456defab9d9fce5d5a71ea4c5fd8"/>
          <p:cNvSpPr txBox="1"/>
          <p:nvPr/>
        </p:nvSpPr>
        <p:spPr>
          <a:xfrm>
            <a:off x="7680768" y="4732020"/>
            <a:ext cx="3047924" cy="548640"/>
          </a:xfrm>
          <a:prstGeom prst="rect">
            <a:avLst/>
          </a:prstGeom>
          <a:noFill/>
          <a:ln/>
        </p:spPr>
        <p:txBody>
          <a:bodyPr wrap="square" lIns="0" tIns="0" rIns="0" bIns="0" rtlCol="0" anchor="t">
            <a:normAutofit/>
          </a:bodyPr>
          <a:lstStyle/>
          <a:p>
            <a:pPr algn="l" indent="0" marL="0">
              <a:lnSpc>
                <a:spcPct val="120000"/>
              </a:lnSpc>
              <a:buNone/>
            </a:pPr>
            <a:r>
              <a:rPr lang="en-US" sz="1600" dirty="0">
                <a:solidFill>
                  <a:srgbClr val="26221D"/>
                </a:solidFill>
                <a:latin typeface="Geist Variable" pitchFamily="34" charset="0"/>
                <a:ea typeface="Geist Variable" pitchFamily="34" charset="-122"/>
                <a:cs typeface="Geist Variable" pitchFamily="34" charset="-120"/>
              </a:rPr>
              <a:t>•  Undo remains immediate</a:t>
            </a:r>
            <a:endParaRPr lang="en-US" sz="1600" dirty="0"/>
          </a:p>
        </p:txBody>
      </p:sp>
      <p:sp>
        <p:nvSpPr>
          <p:cNvPr id="11" name="element_b6b4e0d227db779cc8713fbbf5a38d80"/>
          <p:cNvSpPr txBox="1"/>
          <p:nvPr/>
        </p:nvSpPr>
        <p:spPr>
          <a:xfrm>
            <a:off x="853419" y="6377940"/>
            <a:ext cx="8778021" cy="240030"/>
          </a:xfrm>
          <a:prstGeom prst="rect">
            <a:avLst/>
          </a:prstGeom>
          <a:noFill/>
          <a:ln/>
        </p:spPr>
        <p:txBody>
          <a:bodyPr wrap="square" lIns="0" tIns="0" rIns="0" bIns="0" rtlCol="0" anchor="t">
            <a:normAutofit/>
          </a:bodyPr>
          <a:lstStyle/>
          <a:p>
            <a:pPr algn="l" indent="0" marL="0">
              <a:lnSpc>
                <a:spcPct val="120000"/>
              </a:lnSpc>
              <a:buNone/>
            </a:pPr>
            <a:r>
              <a:rPr lang="en-US" sz="1000" spc="110" kern="0" dirty="0">
                <a:solidFill>
                  <a:srgbClr val="6B6158"/>
                </a:solidFill>
                <a:latin typeface="JetBrains Mono Variable" pitchFamily="34" charset="0"/>
                <a:ea typeface="JetBrains Mono Variable" pitchFamily="34" charset="-122"/>
                <a:cs typeface="JetBrains Mono Variable" pitchFamily="34" charset="-120"/>
              </a:rPr>
              <a:t>NODESLIDE  ·  SOURCE-AWARE  ·  EDITABLE</a:t>
            </a:r>
            <a:endParaRPr lang="en-US" sz="1000" dirty="0"/>
          </a:p>
        </p:txBody>
      </p:sp>
      <p:sp>
        <p:nvSpPr>
          <p:cNvPr id="12" name="element_e6569241d555a9d57ae31e2534d1636c"/>
          <p:cNvSpPr txBox="1"/>
          <p:nvPr/>
        </p:nvSpPr>
        <p:spPr>
          <a:xfrm>
            <a:off x="10728692" y="6309360"/>
            <a:ext cx="731502" cy="342900"/>
          </a:xfrm>
          <a:prstGeom prst="rect">
            <a:avLst/>
          </a:prstGeom>
          <a:noFill/>
          <a:ln/>
        </p:spPr>
        <p:txBody>
          <a:bodyPr wrap="square" lIns="0" tIns="0" rIns="0" bIns="0" rtlCol="0" anchor="t">
            <a:normAutofit/>
          </a:bodyPr>
          <a:lstStyle/>
          <a:p>
            <a:pPr algn="r" indent="0" marL="0">
              <a:lnSpc>
                <a:spcPct val="120000"/>
              </a:lnSpc>
              <a:buNone/>
            </a:pPr>
            <a:r>
              <a:rPr lang="en-US" sz="1300" b="1" dirty="0">
                <a:solidFill>
                  <a:srgbClr val="B44A2D"/>
                </a:solidFill>
                <a:latin typeface="JetBrains Mono Variable" pitchFamily="34" charset="0"/>
                <a:ea typeface="JetBrains Mono Variable" pitchFamily="34" charset="-122"/>
                <a:cs typeface="JetBrains Mono Variable" pitchFamily="34" charset="-120"/>
              </a:rPr>
              <a:t>07</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Fraunces Variabl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Geist Variabl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Parity Studio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Create exactly seven visually ambitious, claim-led slides explaining…</dc:title>
  <dc:subject>Create an editable, reviewable presentation from this idea</dc:subject>
  <dc:creator>NodeSlide</dc:creator>
  <cp:lastModifiedBy>NodeSlide</cp:lastModifiedBy>
  <cp:revision>1</cp:revision>
  <dcterms:created xsi:type="dcterms:W3CDTF">2026-07-17T02:51:06Z</dcterms:created>
  <dcterms:modified xsi:type="dcterms:W3CDTF">2026-07-17T02:51:06Z</dcterms:modified>
</cp:coreProperties>
</file>