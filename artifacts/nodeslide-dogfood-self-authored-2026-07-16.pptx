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ok</c:v>
                  </c:pt>
                  <c:pt idx="1">
                    <c:v>publish</c:v>
                  </c:pt>
                  <c:pt idx="2">
                    <c:v>clean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NodeSlide / 01. Keep the spoken transition focused on “Build the story. Keep every decision editable.”
Evidence note: Content is based on the supplied creation brief. Illustrative examples are not independently verified; replace them with measured evidence before external publication.
NodeSlide sources
[source_72dfed1d9bdf3ada04316f126b13be63] NodeSlide product brief
Citation: Show how NodeSlide turns presentation work into a traceable, editable, reviewable system.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Scenario / 02. Keep the spoken transition focused on “Keep source context attached as the story moves.”
Evidence note: Content is based on the supplied creation brief. Illustrative examples are not independently verified; replace them with measured evidence before external publication.
NodeSlide sources
[source_72dfed1d9bdf3ada04316f126b13be63] NodeSlide product brief
Citation: Show how NodeSlide turns presentation work into a traceable, editable, reviewable system.
Disclaimer: Internal working material
[source_4592cb3a94defe3ff290c37f6d4ac7b4] Golden workflow scenario
Citation: Qualitative product-workflow scenario for demonstrating NodeSlide; no measured customer benchmark is claimed.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Foundation / 03. Keep the spoken transition focused on “Structure turns a visual artifact into an operating surface.”
Evidence note: Content is based on the supplied creation brief. Illustrative examples are not independently verified; replace them with measured evidence before external publication.
NodeSlide sources
[source_72dfed1d9bdf3ada04316f126b13be63] NodeSlide product brief
Citation: Show how NodeSlide turns presentation work into a traceable, editable, reviewable system.
Disclaimer: Internal working material
[source_4592cb3a94defe3ff290c37f6d4ac7b4] Golden workflow scenario
Citation: Qualitative product-workflow scenario for demonstrating NodeSlide; no measured customer benchmark is claimed.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Workflow / 04. Keep the spoken transition focused on “Plan → propose → commit, with scope checked at every boundary.”
Evidence note: Content is based on the supplied creation brief. Illustrative examples are not independently verified; replace them with measured evidence before external publication.
NodeSlide sources
[source_72dfed1d9bdf3ada04316f126b13be63] NodeSlide product brief
Citation: Show how NodeSlide turns presentation work into a traceable, editable, reviewable system.
Disclaimer: Internal working material
[source_4592cb3a94defe3ff290c37f6d4ac7b4] Golden workflow scenario
Citation: Qualitative product-workflow scenario for demonstrating NodeSlide; no measured customer benchmark is claimed.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Proof / 05. Keep the spoken transition focused on “A beautiful deck still needs deterministic gates.”
Evidence note: Content is based on the supplied creation brief. Illustrative examples are not independently verified; replace them with measured evidence before external publication.
NodeSlide sources
[source_72dfed1d9bdf3ada04316f126b13be63] NodeSlide product brief
Citation: Show how NodeSlide turns presentation work into a traceable, editable, reviewable system.
Disclaimer: Internal working material
[source_4592cb3a94defe3ff290c37f6d4ac7b4] Golden workflow scenario
Citation: Qualitative product-workflow scenario for demonstrating NodeSlide; no measured customer benchmark is claimed.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Trust / 06. Keep the spoken transition focused on “Comments become context. Patches remain choices.”
Evidence note: Content is based on the supplied creation brief. Illustrative examples are not independently verified; replace them with measured evidence before external publication.
NodeSlide sources
[source_72dfed1d9bdf3ada04316f126b13be63] NodeSlide product brief
Citation: Show how NodeSlide turns presentation work into a traceable, editable, reviewable system.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Next / 07. Keep the spoken transition focused on “Move at presentation speed without giving up engineering-grade trust.”
Evidence note: Content is based on the supplied creation brief. Illustrative examples are not independently verified; replace them with measured evidence before external publication.
NodeSlide sources
[source_72dfed1d9bdf3ada04316f126b13be63] NodeSlide product brief
Citation: Show how NodeSlide turns presentation work into a traceable, editable, reviewable system.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1b153d158eb2fae6261bd1e54a776c6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b14954cb2f3d3ae7d42f618b5e64e4a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/ 01</a:t>
            </a:r>
            <a:endParaRPr lang="en-US" sz="1500" dirty="0"/>
          </a:p>
        </p:txBody>
      </p:sp>
      <p:sp>
        <p:nvSpPr>
          <p:cNvPr id="4" name="element_787dbd13a2aef6a7ffac4fe0dd19b90d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Build the story. Keep every decision editable.</a:t>
            </a:r>
            <a:endParaRPr lang="en-US" sz="4800" dirty="0"/>
          </a:p>
        </p:txBody>
      </p:sp>
      <p:sp>
        <p:nvSpPr>
          <p:cNvPr id="5" name="element_0e644c55ef4dc87eace7c72fccb39ea4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NodeSlide treats a deck as a typed system: narrative, geometry, sources, comments, and changes stay connected from first brief to final room.</a:t>
            </a:r>
            <a:endParaRPr lang="en-US" sz="1900" dirty="0"/>
          </a:p>
        </p:txBody>
      </p:sp>
      <p:sp>
        <p:nvSpPr>
          <p:cNvPr id="6" name="element_900352016a409e05528a32b09b019602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canvas</a:t>
            </a:r>
            <a:endParaRPr lang="en-US" sz="1600" dirty="0"/>
          </a:p>
        </p:txBody>
      </p:sp>
      <p:sp>
        <p:nvSpPr>
          <p:cNvPr id="7" name="element_5ff58471be1061727f99aa168b6c51a4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Guarded edits</a:t>
            </a:r>
            <a:endParaRPr lang="en-US" sz="1600" dirty="0"/>
          </a:p>
        </p:txBody>
      </p:sp>
      <p:sp>
        <p:nvSpPr>
          <p:cNvPr id="8" name="element_10b47752ec92bec0b9e02696049e7533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Traceable claims</a:t>
            </a:r>
            <a:endParaRPr lang="en-US" sz="1600" dirty="0"/>
          </a:p>
        </p:txBody>
      </p:sp>
      <p:sp>
        <p:nvSpPr>
          <p:cNvPr id="9" name="element_8f7dac092aeb7e479cbf3b29af2aeaa3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e2d6948905053a8b8d94bdfc5ead5ce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6c689b9c543e36c4fdae6e2b1a11f4e0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3658ac474c56b3a594a8b8bae8a309c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SCENARIO / 02</a:t>
            </a:r>
            <a:endParaRPr lang="en-US" sz="1500" dirty="0"/>
          </a:p>
        </p:txBody>
      </p:sp>
      <p:sp>
        <p:nvSpPr>
          <p:cNvPr id="4" name="element_2254d1da67cb3662a617fb5df37b37c9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Keep source context attached as the story moves.</a:t>
            </a:r>
            <a:endParaRPr lang="en-US" sz="3800" dirty="0"/>
          </a:p>
        </p:txBody>
      </p:sp>
      <p:sp>
        <p:nvSpPr>
          <p:cNvPr id="5" name="element_6f6ac9243d11060d5ceefe446ce0bc3c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This golden scenario focuses on one design goal: keep copy, layout, citations, and feedback connected through drafting, review, revision, and handoff.</a:t>
            </a:r>
            <a:endParaRPr lang="en-US" sz="1900" dirty="0"/>
          </a:p>
        </p:txBody>
      </p:sp>
      <p:sp>
        <p:nvSpPr>
          <p:cNvPr id="6" name="element_650ea3b97ad5594508171040941f3462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Draft with source context</a:t>
            </a:r>
            <a:endParaRPr lang="en-US" sz="1700" dirty="0"/>
          </a:p>
        </p:txBody>
      </p:sp>
      <p:sp>
        <p:nvSpPr>
          <p:cNvPr id="7" name="element_ebb09281b7301ebd24c55b927f63a585"/>
          <p:cNvSpPr txBox="1"/>
          <p:nvPr/>
        </p:nvSpPr>
        <p:spPr>
          <a:xfrm>
            <a:off x="853419" y="507492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on stable anchors</a:t>
            </a:r>
            <a:endParaRPr lang="en-US" sz="1700" dirty="0"/>
          </a:p>
        </p:txBody>
      </p:sp>
      <p:sp>
        <p:nvSpPr>
          <p:cNvPr id="8" name="element_8c56c6701cd4a1fc58b323fb97cb8d47"/>
          <p:cNvSpPr txBox="1"/>
          <p:nvPr/>
        </p:nvSpPr>
        <p:spPr>
          <a:xfrm>
            <a:off x="853419" y="589788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Hand off editable structure</a:t>
            </a:r>
            <a:endParaRPr lang="en-US" sz="1700" dirty="0"/>
          </a:p>
        </p:txBody>
      </p:sp>
      <p:sp>
        <p:nvSpPr>
          <p:cNvPr id="9" name="element_452b6fa04fddfd2ea7a61fe4c4b0805d"/>
          <p:cNvSpPr txBox="1"/>
          <p:nvPr/>
        </p:nvSpPr>
        <p:spPr>
          <a:xfrm>
            <a:off x="6827349" y="2811780"/>
            <a:ext cx="4145176" cy="10287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</a:t>
            </a:r>
            <a:endParaRPr lang="en-US" sz="4300" dirty="0"/>
          </a:p>
        </p:txBody>
      </p:sp>
      <p:sp>
        <p:nvSpPr>
          <p:cNvPr id="10" name="element_9f705ce997507ca18fba2dfca44b5ddc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Qualitative workflow label — not a measured benchmark</a:t>
            </a:r>
            <a:endParaRPr lang="en-US" sz="1500" dirty="0"/>
          </a:p>
        </p:txBody>
      </p:sp>
      <p:sp>
        <p:nvSpPr>
          <p:cNvPr id="11" name="element_b6c28d9460787bc729f00432fe5644eb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1cf4887166ee81dd20ebdab553601c6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b553ad19a988e62fcb1dd3cf81c68df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69df66e70988fcd7672e2387ccae07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FOUNDATION / 03</a:t>
            </a:r>
            <a:endParaRPr lang="en-US" sz="1500" dirty="0"/>
          </a:p>
        </p:txBody>
      </p:sp>
      <p:sp>
        <p:nvSpPr>
          <p:cNvPr id="4" name="element_7e25b49e26f95f14b4dc2c810f33be88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Structure turns a visual artifact into an operating surface.</a:t>
            </a:r>
            <a:endParaRPr lang="en-US" sz="3800" dirty="0"/>
          </a:p>
        </p:txBody>
      </p:sp>
      <p:sp>
        <p:nvSpPr>
          <p:cNvPr id="5" name="element_6b2daad828404443f94e11993b1a3ab4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Slides and elements carry stable IDs, normalized geometry, source links, export capability, locks, and independent versions.</a:t>
            </a:r>
            <a:endParaRPr lang="en-US" sz="1900" dirty="0"/>
          </a:p>
        </p:txBody>
      </p:sp>
      <p:sp>
        <p:nvSpPr>
          <p:cNvPr id="6" name="element_1280f5aaad8ae4218d3044ea0cef98b7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Stable IDs survive every view</a:t>
            </a:r>
            <a:endParaRPr lang="en-US" sz="1700" dirty="0"/>
          </a:p>
        </p:txBody>
      </p:sp>
      <p:sp>
        <p:nvSpPr>
          <p:cNvPr id="7" name="element_42c5b5898d8de23e7b814ae6f5c0bee2"/>
          <p:cNvSpPr txBox="1"/>
          <p:nvPr/>
        </p:nvSpPr>
        <p:spPr>
          <a:xfrm>
            <a:off x="853419" y="507492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Normalized boxes travel across renderers</a:t>
            </a:r>
            <a:endParaRPr lang="en-US" sz="1700" dirty="0"/>
          </a:p>
        </p:txBody>
      </p:sp>
      <p:sp>
        <p:nvSpPr>
          <p:cNvPr id="8" name="element_8d44fd90572b57c47120fdaa68e3eefd"/>
          <p:cNvSpPr txBox="1"/>
          <p:nvPr/>
        </p:nvSpPr>
        <p:spPr>
          <a:xfrm>
            <a:off x="853419" y="589788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Locks protect intent</a:t>
            </a:r>
            <a:endParaRPr lang="en-US" sz="1700" dirty="0"/>
          </a:p>
        </p:txBody>
      </p:sp>
      <p:sp>
        <p:nvSpPr>
          <p:cNvPr id="9" name="element_052c1590c0e2c5ec9f23e9df67ed75f0:fallback-shape"/>
          <p:cNvSpPr/>
          <p:nvPr/>
        </p:nvSpPr>
        <p:spPr>
          <a:xfrm>
            <a:off x="6461598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052c1590c0e2c5ec9f23e9df67ed75f0:fallback-label"/>
          <p:cNvSpPr/>
          <p:nvPr/>
        </p:nvSpPr>
        <p:spPr>
          <a:xfrm>
            <a:off x="6461598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deck graph connecting slides, elements, sources, and versions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canonical deck graph keeps every artifact connected.</a:t>
            </a:r>
            <a:endParaRPr lang="en-US" sz="1400" dirty="0"/>
          </a:p>
        </p:txBody>
      </p:sp>
      <p:sp>
        <p:nvSpPr>
          <p:cNvPr id="11" name="element_1e1e388cd98180f2cd0cd8a8caf5fa41"/>
          <p:cNvSpPr txBox="1"/>
          <p:nvPr/>
        </p:nvSpPr>
        <p:spPr>
          <a:xfrm>
            <a:off x="6705432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canonical deck graph keeps every artifact connected.</a:t>
            </a:r>
            <a:endParaRPr lang="en-US" sz="1400" dirty="0"/>
          </a:p>
        </p:txBody>
      </p:sp>
      <p:sp>
        <p:nvSpPr>
          <p:cNvPr id="12" name="element_16711190f61da7719b5905a6a00335d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fc59efce5f8d4881969b57f4dae268a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3a58d24caa36887464538f8c83fa153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d96d63c9d9cb9181addc188506c8d12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WORKFLOW / 04</a:t>
            </a:r>
            <a:endParaRPr lang="en-US" sz="1500" dirty="0"/>
          </a:p>
        </p:txBody>
      </p:sp>
      <p:sp>
        <p:nvSpPr>
          <p:cNvPr id="4" name="element_34c0b897e1347b0b0867f01db48adf70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Plan → propose → commit, with scope checked at every boundary.</a:t>
            </a:r>
            <a:endParaRPr lang="en-US" sz="3800" dirty="0"/>
          </a:p>
        </p:txBody>
      </p:sp>
      <p:sp>
        <p:nvSpPr>
          <p:cNvPr id="5" name="element_b8370a74c993cb97c652265bd1432f3b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agent can reason broadly, but it may only write inside the explicit deck, slide, element, comment, or bounding-box scope.</a:t>
            </a:r>
            <a:endParaRPr lang="en-US" sz="1900" dirty="0"/>
          </a:p>
        </p:txBody>
      </p:sp>
      <p:sp>
        <p:nvSpPr>
          <p:cNvPr id="6" name="element_bc8c4b73ffd1340bbaf1e55a9651220a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Read context</a:t>
            </a:r>
            <a:endParaRPr lang="en-US" sz="1700" dirty="0"/>
          </a:p>
        </p:txBody>
      </p:sp>
      <p:sp>
        <p:nvSpPr>
          <p:cNvPr id="7" name="element_6d6d21ecd35467f1f71ca381fca8ccf0"/>
          <p:cNvSpPr txBox="1"/>
          <p:nvPr/>
        </p:nvSpPr>
        <p:spPr>
          <a:xfrm>
            <a:off x="853419" y="507492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Propose an inspectable patch</a:t>
            </a:r>
            <a:endParaRPr lang="en-US" sz="1700" dirty="0"/>
          </a:p>
        </p:txBody>
      </p:sp>
      <p:sp>
        <p:nvSpPr>
          <p:cNvPr id="8" name="element_7d11a75cd14512e760b9c7d1d6692de3"/>
          <p:cNvSpPr txBox="1"/>
          <p:nvPr/>
        </p:nvSpPr>
        <p:spPr>
          <a:xfrm>
            <a:off x="853419" y="589788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Validate and accept atomically</a:t>
            </a:r>
            <a:endParaRPr lang="en-US" sz="1700" dirty="0"/>
          </a:p>
        </p:txBody>
      </p:sp>
      <p:sp>
        <p:nvSpPr>
          <p:cNvPr id="9" name="element_21708a27e4288af4af0bc41c50d600b6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authorized change = requested scope ∩ allowed scope</a:t>
            </a:r>
            <a:endParaRPr lang="en-US" sz="3000" dirty="0"/>
          </a:p>
        </p:txBody>
      </p:sp>
      <p:sp>
        <p:nvSpPr>
          <p:cNvPr id="10" name="element_2e5dad26921f9e4f193a5efedfa6a231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a6db882ea5a297ab62f93a19db1ddfbd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605c5f23a7711b9511a172066931980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2caeaf9fd3c3f3ea1358c05a2380f3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PROOF / 05</a:t>
            </a:r>
            <a:endParaRPr lang="en-US" sz="1500" dirty="0"/>
          </a:p>
        </p:txBody>
      </p:sp>
      <p:sp>
        <p:nvSpPr>
          <p:cNvPr id="4" name="element_c3af5bb51b661db343e3c40de6124fe3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A beautiful deck still needs deterministic gates.</a:t>
            </a:r>
            <a:endParaRPr lang="en-US" sz="3800" dirty="0"/>
          </a:p>
        </p:txBody>
      </p:sp>
      <p:sp>
        <p:nvSpPr>
          <p:cNvPr id="5" name="element_2100f6334184528459dc0bebcdb95ea8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Structural, geometry, source, and export checks produce separate signals for basic validity, publishing safety, and a clean handoff.</a:t>
            </a:r>
            <a:endParaRPr lang="en-US" sz="1900" dirty="0"/>
          </a:p>
        </p:txBody>
      </p:sp>
      <p:sp>
        <p:nvSpPr>
          <p:cNvPr id="6" name="element_0b89d5ef9b656d80eed53693c8eb8dce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ok · structurally valid</a:t>
            </a:r>
            <a:endParaRPr lang="en-US" sz="1700" dirty="0"/>
          </a:p>
        </p:txBody>
      </p:sp>
      <p:sp>
        <p:nvSpPr>
          <p:cNvPr id="7" name="element_2bc651caffcb9677535763240f1856c2"/>
          <p:cNvSpPr txBox="1"/>
          <p:nvPr/>
        </p:nvSpPr>
        <p:spPr>
          <a:xfrm>
            <a:off x="853419" y="507492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publishOk · safe to present</a:t>
            </a:r>
            <a:endParaRPr lang="en-US" sz="1700" dirty="0"/>
          </a:p>
        </p:txBody>
      </p:sp>
      <p:sp>
        <p:nvSpPr>
          <p:cNvPr id="8" name="element_5326367ea6bf6bd23ff9617dfad0764f"/>
          <p:cNvSpPr txBox="1"/>
          <p:nvPr/>
        </p:nvSpPr>
        <p:spPr>
          <a:xfrm>
            <a:off x="853419" y="589788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cleanOk · no warnings</a:t>
            </a:r>
            <a:endParaRPr lang="en-US" sz="1700" dirty="0"/>
          </a:p>
        </p:txBody>
      </p:sp>
      <p:sp>
        <p:nvSpPr>
          <p:cNvPr id="9" name="element_4c48fdd0d1d23c6f8f4ecbd4e8f6d2d6"/>
          <p:cNvSpPr txBox="1"/>
          <p:nvPr/>
        </p:nvSpPr>
        <p:spPr>
          <a:xfrm>
            <a:off x="6827349" y="2811780"/>
            <a:ext cx="4145176" cy="10287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gates</a:t>
            </a:r>
            <a:endParaRPr lang="en-US" sz="4300" dirty="0"/>
          </a:p>
        </p:txBody>
      </p:sp>
      <p:sp>
        <p:nvSpPr>
          <p:cNvPr id="10" name="element_913606b5940ddf982fdf5e8d21bac555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independent validation signals: ok, publishOk, cleanOk</a:t>
            </a:r>
            <a:endParaRPr lang="en-US" sz="1500" dirty="0"/>
          </a:p>
        </p:txBody>
      </p:sp>
      <p:graphicFrame>
        <p:nvGraphicFramePr>
          <p:cNvPr id="11" name="element_dd4a5ad061b1c1232d947400ec3ba4c2" descr=""/>
          <p:cNvGraphicFramePr/>
          <p:nvPr/>
        </p:nvGraphicFramePr>
        <p:xfrm>
          <a:off x="6461598" y="4800600"/>
          <a:ext cx="4754761" cy="11658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bab33ebf12d6db7b7d9833eb0b5e182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6e5557650283cd340aae6f0bb04bec9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e61c49434e0c564552a6cdb99d378256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a86c8638e0c333ca49e0d2bc473f3af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TRUST / 06</a:t>
            </a:r>
            <a:endParaRPr lang="en-US" sz="1500" dirty="0"/>
          </a:p>
        </p:txBody>
      </p:sp>
      <p:sp>
        <p:nvSpPr>
          <p:cNvPr id="4" name="element_7262c7c9719700eaaa76024b9f95c052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Comments become context. Patches remain choices.</a:t>
            </a:r>
            <a:endParaRPr lang="en-US" sz="3800" dirty="0"/>
          </a:p>
        </p:txBody>
      </p:sp>
      <p:sp>
        <p:nvSpPr>
          <p:cNvPr id="5" name="element_9a78dcd8430fa523769d014279ab1c06"/>
          <p:cNvSpPr txBox="1"/>
          <p:nvPr/>
        </p:nvSpPr>
        <p:spPr>
          <a:xfrm>
            <a:off x="853419" y="2743200"/>
            <a:ext cx="58520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reviewer can anchor feedback to a deck, slide, element, or region; link the resolution to an accepted patch; and restore any prior snapshot.</a:t>
            </a:r>
            <a:endParaRPr lang="en-US" sz="1900" dirty="0"/>
          </a:p>
        </p:txBody>
      </p:sp>
      <p:sp>
        <p:nvSpPr>
          <p:cNvPr id="6" name="element_4787ff9b8d0bdd96e95c67dffe9eaebe"/>
          <p:cNvSpPr txBox="1"/>
          <p:nvPr/>
        </p:nvSpPr>
        <p:spPr>
          <a:xfrm>
            <a:off x="7193100" y="288036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Anchored discussion</a:t>
            </a:r>
            <a:endParaRPr lang="en-US" sz="1700" dirty="0"/>
          </a:p>
        </p:txBody>
      </p:sp>
      <p:sp>
        <p:nvSpPr>
          <p:cNvPr id="7" name="element_157d07bb0114ce63450cce23edac6f2b"/>
          <p:cNvSpPr txBox="1"/>
          <p:nvPr/>
        </p:nvSpPr>
        <p:spPr>
          <a:xfrm>
            <a:off x="7193100" y="370332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Compare-and-set acceptance</a:t>
            </a:r>
            <a:endParaRPr lang="en-US" sz="1700" dirty="0"/>
          </a:p>
        </p:txBody>
      </p:sp>
      <p:sp>
        <p:nvSpPr>
          <p:cNvPr id="8" name="element_1f6847e55d01cafe8d6572c10b3f3258"/>
          <p:cNvSpPr txBox="1"/>
          <p:nvPr/>
        </p:nvSpPr>
        <p:spPr>
          <a:xfrm>
            <a:off x="7193100" y="4526280"/>
            <a:ext cx="402325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Version recovery</a:t>
            </a:r>
            <a:endParaRPr lang="en-US" sz="1700" dirty="0"/>
          </a:p>
        </p:txBody>
      </p:sp>
      <p:sp>
        <p:nvSpPr>
          <p:cNvPr id="9" name="element_bfacd4fd772ab337be5bb9b40defb050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667d2b599ffa432dd6141cd981f9b48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f842ab0513842563615ce65fb71793f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1c16a6d5be8fe5744fb67d6bd879cec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NEXT / 07</a:t>
            </a:r>
            <a:endParaRPr lang="en-US" sz="1500" dirty="0"/>
          </a:p>
        </p:txBody>
      </p:sp>
      <p:sp>
        <p:nvSpPr>
          <p:cNvPr id="4" name="element_245a25c76945c77a386c1de72762ab30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Move at presentation speed without giving up engineering-grade trust.</a:t>
            </a:r>
            <a:endParaRPr lang="en-US" sz="3800" dirty="0"/>
          </a:p>
        </p:txBody>
      </p:sp>
      <p:sp>
        <p:nvSpPr>
          <p:cNvPr id="5" name="element_6695d0de80a6a06060b682d606871910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Start with a brief, shape the narrative together, and leave with a deck whose content, sources, changes, and exports are still yours.</a:t>
            </a:r>
            <a:endParaRPr lang="en-US" sz="1900" dirty="0"/>
          </a:p>
        </p:txBody>
      </p:sp>
      <p:sp>
        <p:nvSpPr>
          <p:cNvPr id="6" name="element_2cc83f0e963d4eeac1804489fd0d9af9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Create from brief</a:t>
            </a:r>
            <a:endParaRPr lang="en-US" sz="1600" dirty="0"/>
          </a:p>
        </p:txBody>
      </p:sp>
      <p:sp>
        <p:nvSpPr>
          <p:cNvPr id="7" name="element_f03ccef71eea997169d4d71621694f37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Review every change</a:t>
            </a:r>
            <a:endParaRPr lang="en-US" sz="1600" dirty="0"/>
          </a:p>
        </p:txBody>
      </p:sp>
      <p:sp>
        <p:nvSpPr>
          <p:cNvPr id="8" name="element_4ab14d64e9098bf2a6e3c2610b53b72e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Present with confidence</a:t>
            </a:r>
            <a:endParaRPr lang="en-US" sz="1600" dirty="0"/>
          </a:p>
        </p:txBody>
      </p:sp>
      <p:sp>
        <p:nvSpPr>
          <p:cNvPr id="9" name="element_1a22317faaefb4d91cdedaabd48d46ca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abfb9c58887c2f5261ce962204abe49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aunces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NodeSlide — The Dogfood Deck</dc:title>
  <dc:subject>Demonstrate the NodeSlide product story with a credible, polished golden deck</dc:subject>
  <dc:creator>NodeSlide</dc:creator>
  <cp:lastModifiedBy>NodeSlide</cp:lastModifiedBy>
  <cp:revision>1</cp:revision>
  <dcterms:created xsi:type="dcterms:W3CDTF">2026-07-16T17:47:24Z</dcterms:created>
  <dcterms:modified xsi:type="dcterms:W3CDTF">2026-07-16T17:47:24Z</dcterms:modified>
</cp:coreProperties>
</file>