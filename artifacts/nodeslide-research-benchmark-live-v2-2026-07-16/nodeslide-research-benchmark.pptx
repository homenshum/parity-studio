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Source</c:v>
                  </c:pt>
                  <c:pt idx="1">
                    <c:v>Narrative</c:v>
                  </c:pt>
                  <c:pt idx="2">
                    <c:v>Visual</c:v>
                  </c:pt>
                  <c:pt idx="3">
                    <c:v>Editability</c:v>
                  </c:pt>
                  <c:pt idx="4">
                    <c:v>Governance</c:v>
                  </c:pt>
                </c:lvl>
              </c:multiLvlStrCache>
            </c:multiLvlStrRef>
          </c:cat>
          <c:val>
            <c:numRef>
              <c:f>Sheet1!$B$2:$B$6</c:f>
              <c:numCache>
                <c:formatCode>General</c:formatCode>
                <c:ptCount val="5"/>
                <c:pt idx="0">
                  <c:v>30</c:v>
                </c:pt>
                <c:pt idx="1">
                  <c:v>20</c:v>
                </c:pt>
                <c:pt idx="2">
                  <c:v>20</c:v>
                </c:pt>
                <c:pt idx="3">
                  <c:v>15</c:v>
                </c:pt>
                <c:pt idx="4">
                  <c:v>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158"/>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158"/>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Layout intent: hero. Keep the spoken transition focused on “Winning is not a faster first draft. It is better evidence-to-decision throughput.”
Evidence note: Content is based on the supplied creation brief. Illustrative examples are not independently verified; replace them with measured evidence before external publication.
NodeSlide sources
[source_1ed8d3faf5d537df92f5c40d0af4f638]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[source_061ead3efeed5f81541dbaecd9b6bf09] arxiv.org · supplied source 1
Citation: https://arxiv.org/abs/2512.04529
URL: https://arxiv.org/abs/2512.04529
Disclaimer: User-supplied linked evidence; verify reuse rights before external publication.
[source_475d24438be92ffa8f26f2ef6b6f62f5] arxiv.org · supplied source 2
Citation: https://arxiv.org/abs/2303.17651
URL: https://arxiv.org/abs/2303.17651
Disclaimer: User-supplied linked evidence; verify reuse rights before external publication.
[source_830a27ab48afec394c73e5c9223c4915] arxiv.org · supplied source 3
Citation: https://arxiv.org/abs/2210.03629
URL: https://arxiv.org/abs/2210.03629
Disclaimer: User-supplied linked evidence; verify reuse rights before external publication.
[source_127bf3e3f1cb6979cc30622a68f5a18d] arxiv.org · supplied source 4
Citation: https://arxiv.org/abs/2303.11366
URL: https://arxiv.org/abs/2303.11366
Disclaimer: User-supplied linked evidence; verify reuse rights before external publication.
[source_02a5067bb570588af2605b33bb5fe66e] arxiv.org · supplied source 5
Citation: https://arxiv.org/abs/2603.19461
URL: https://arxiv.org/abs/2603.19461
Disclaimer: User-supplied linked evidence; verify reuse rights before external publication.
[source_0b8c95a04c74ecdd025797fcd84fb6cc] canva.com · supplied source 6
Citation: https://www.canva.com/create/ai-presentations/
URL: https://www.canva.com/create/ai-presentations/
Disclaimer: User-supplied linked evidence; verify reuse rights before external publication.
[source_536ab3e8f4a2ced485e1bff77ff0636e] gamma.app · supplied source 7
Citation: https://gamma.app/products/presentations
URL: https://gamma.app/products/presentations
Disclaimer: User-supplied linked evidence; verify reuse rights before external publication.
[source_a3a794fc60d9086994e570e4721799de]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Landscape. Layout intent: comparison. Keep the spoken transition focused on “Canva and Gamma ship drafts; NodeSlide must ship proof.”
Evidence note: Content is based on the supplied creation brief. Illustrative examples are not independently verified; replace them with measured evidence before external publication.
NodeSlide sources
[source_1ed8d3faf5d537df92f5c40d0af4f638]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[source_061ead3efeed5f81541dbaecd9b6bf09] arxiv.org · supplied source 1
Citation: https://arxiv.org/abs/2512.04529
URL: https://arxiv.org/abs/2512.04529
Disclaimer: User-supplied linked evidence; verify reuse rights before external publication.
[source_475d24438be92ffa8f26f2ef6b6f62f5] arxiv.org · supplied source 2
Citation: https://arxiv.org/abs/2303.17651
URL: https://arxiv.org/abs/2303.17651
Disclaimer: User-supplied linked evidence; verify reuse rights before external publication.
[source_830a27ab48afec394c73e5c9223c4915] arxiv.org · supplied source 3
Citation: https://arxiv.org/abs/2210.03629
URL: https://arxiv.org/abs/2210.03629
Disclaimer: User-supplied linked evidence; verify reuse rights before external publication.
[source_127bf3e3f1cb6979cc30622a68f5a18d] arxiv.org · supplied source 4
Citation: https://arxiv.org/abs/2303.11366
URL: https://arxiv.org/abs/2303.11366
Disclaimer: User-supplied linked evidence; verify reuse rights before external publication.
[source_02a5067bb570588af2605b33bb5fe66e] arxiv.org · supplied source 5
Citation: https://arxiv.org/abs/2603.19461
URL: https://arxiv.org/abs/2603.19461
Disclaimer: User-supplied linked evidence; verify reuse rights before external publication.
[source_0b8c95a04c74ecdd025797fcd84fb6cc] canva.com · supplied source 6
Citation: https://www.canva.com/create/ai-presentations/
URL: https://www.canva.com/create/ai-presentations/
Disclaimer: User-supplied linked evidence; verify reuse rights before external publication.
[source_536ab3e8f4a2ced485e1bff77ff0636e] gamma.app · supplied source 7
Citation: https://gamma.app/products/presentations
URL: https://gamma.app/products/presentations
Disclaimer: User-supplied linked evidence; verify reuse rights before external publication.
[source_a3a794fc60d9086994e570e4721799de]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Layout intent: evidence_board. Keep the spoken transition focused on “Reason, act, critique, remember, and improve - without flattening the artifact.”
Evidence note: Content is based on the supplied creation brief. Illustrative examples are not independently verified; replace them with measured evidence before external publication.
NodeSlide sources
[source_1ed8d3faf5d537df92f5c40d0af4f638]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[source_061ead3efeed5f81541dbaecd9b6bf09] arxiv.org · supplied source 1
Citation: https://arxiv.org/abs/2512.04529
URL: https://arxiv.org/abs/2512.04529
Disclaimer: User-supplied linked evidence; verify reuse rights before external publication.
[source_475d24438be92ffa8f26f2ef6b6f62f5] arxiv.org · supplied source 2
Citation: https://arxiv.org/abs/2303.17651
URL: https://arxiv.org/abs/2303.17651
Disclaimer: User-supplied linked evidence; verify reuse rights before external publication.
[source_830a27ab48afec394c73e5c9223c4915] arxiv.org · supplied source 3
Citation: https://arxiv.org/abs/2210.03629
URL: https://arxiv.org/abs/2210.03629
Disclaimer: User-supplied linked evidence; verify reuse rights before external publication.
[source_127bf3e3f1cb6979cc30622a68f5a18d] arxiv.org · supplied source 4
Citation: https://arxiv.org/abs/2303.11366
URL: https://arxiv.org/abs/2303.11366
Disclaimer: User-supplied linked evidence; verify reuse rights before external publication.
[source_02a5067bb570588af2605b33bb5fe66e] arxiv.org · supplied source 5
Citation: https://arxiv.org/abs/2603.19461
URL: https://arxiv.org/abs/2603.19461
Disclaimer: User-supplied linked evidence; verify reuse rights before external publication.
[source_0b8c95a04c74ecdd025797fcd84fb6cc] canva.com · supplied source 6
Citation: https://www.canva.com/create/ai-presentations/
URL: https://www.canva.com/create/ai-presentations/
Disclaimer: User-supplied linked evidence; verify reuse rights before external publication.
[source_536ab3e8f4a2ced485e1bff77ff0636e] gamma.app · supplied source 7
Citation: https://gamma.app/products/presentations
URL: https://gamma.app/products/presentations
Disclaimer: User-supplied linked evidence; verify reuse rights before external publication.
[source_a3a794fc60d9086994e570e4721799de]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Architecture. Layout intent: flow. Keep the spoken transition focused on “The winning architecture keeps claims, visuals, validation, and export in one editable graph.”
Evidence note: Content is based on the supplied creation brief. Illustrative examples are not independently verified; replace them with measured evidence before external publication.
NodeSlide sources
[source_1ed8d3faf5d537df92f5c40d0af4f638]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[source_061ead3efeed5f81541dbaecd9b6bf09] arxiv.org · supplied source 1
Citation: https://arxiv.org/abs/2512.04529
URL: https://arxiv.org/abs/2512.04529
Disclaimer: User-supplied linked evidence; verify reuse rights before external publication.
[source_475d24438be92ffa8f26f2ef6b6f62f5] arxiv.org · supplied source 2
Citation: https://arxiv.org/abs/2303.17651
URL: https://arxiv.org/abs/2303.17651
Disclaimer: User-supplied linked evidence; verify reuse rights before external publication.
[source_830a27ab48afec394c73e5c9223c4915] arxiv.org · supplied source 3
Citation: https://arxiv.org/abs/2210.03629
URL: https://arxiv.org/abs/2210.03629
Disclaimer: User-supplied linked evidence; verify reuse rights before external publication.
[source_127bf3e3f1cb6979cc30622a68f5a18d] arxiv.org · supplied source 4
Citation: https://arxiv.org/abs/2303.11366
URL: https://arxiv.org/abs/2303.11366
Disclaimer: User-supplied linked evidence; verify reuse rights before external publication.
[source_02a5067bb570588af2605b33bb5fe66e] arxiv.org · supplied source 5
Citation: https://arxiv.org/abs/2603.19461
URL: https://arxiv.org/abs/2603.19461
Disclaimer: User-supplied linked evidence; verify reuse rights before external publication.
[source_0b8c95a04c74ecdd025797fcd84fb6cc] canva.com · supplied source 6
Citation: https://www.canva.com/create/ai-presentations/
URL: https://www.canva.com/create/ai-presentations/
Disclaimer: User-supplied linked evidence; verify reuse rights before external publication.
[source_536ab3e8f4a2ced485e1bff77ff0636e] gamma.app · supplied source 7
Citation: https://gamma.app/products/presentations
URL: https://gamma.app/products/presentations
Disclaimer: User-supplied linked evidence; verify reuse rights before external publication.
[source_a3a794fc60d9086994e570e4721799de]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Protocol. Layout intent: contract. Keep the spoken transition focused on “A beautiful deck cannot win if its evidence does not survive editing and export.”
Evidence note: Content is based on the supplied creation brief. Illustrative examples are not independently verified; replace them with measured evidence before external publication.
NodeSlide sources
[source_1ed8d3faf5d537df92f5c40d0af4f638]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[source_061ead3efeed5f81541dbaecd9b6bf09] arxiv.org · supplied source 1
Citation: https://arxiv.org/abs/2512.04529
URL: https://arxiv.org/abs/2512.04529
Disclaimer: User-supplied linked evidence; verify reuse rights before external publication.
[source_475d24438be92ffa8f26f2ef6b6f62f5] arxiv.org · supplied source 2
Citation: https://arxiv.org/abs/2303.17651
URL: https://arxiv.org/abs/2303.17651
Disclaimer: User-supplied linked evidence; verify reuse rights before external publication.
[source_830a27ab48afec394c73e5c9223c4915] arxiv.org · supplied source 3
Citation: https://arxiv.org/abs/2210.03629
URL: https://arxiv.org/abs/2210.03629
Disclaimer: User-supplied linked evidence; verify reuse rights before external publication.
[source_127bf3e3f1cb6979cc30622a68f5a18d] arxiv.org · supplied source 4
Citation: https://arxiv.org/abs/2303.11366
URL: https://arxiv.org/abs/2303.11366
Disclaimer: User-supplied linked evidence; verify reuse rights before external publication.
[source_02a5067bb570588af2605b33bb5fe66e] arxiv.org · supplied source 5
Citation: https://arxiv.org/abs/2603.19461
URL: https://arxiv.org/abs/2603.19461
Disclaimer: User-supplied linked evidence; verify reuse rights before external publication.
[source_0b8c95a04c74ecdd025797fcd84fb6cc] canva.com · supplied source 6
Citation: https://www.canva.com/create/ai-presentations/
URL: https://www.canva.com/create/ai-presentations/
Disclaimer: User-supplied linked evidence; verify reuse rights before external publication.
[source_536ab3e8f4a2ced485e1bff77ff0636e] gamma.app · supplied source 7
Citation: https://gamma.app/products/presentations
URL: https://gamma.app/products/presentations
Disclaimer: User-supplied linked evidence; verify reuse rights before external publication.
[source_a3a794fc60d9086994e570e4721799de]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Layout intent: split. Keep the spoken transition focused on “Scientific slide generation is a multimodal planning problem, not a text-to-template shortcut.”
Evidence note: Content is based on the supplied creation brief. Illustrative examples are not independently verified; replace them with measured evidence before external publication.
NodeSlide sources
[source_1ed8d3faf5d537df92f5c40d0af4f638]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[source_061ead3efeed5f81541dbaecd9b6bf09] arxiv.org · supplied source 1
Citation: https://arxiv.org/abs/2512.04529
URL: https://arxiv.org/abs/2512.04529
Disclaimer: User-supplied linked evidence; verify reuse rights before external publication.
[source_475d24438be92ffa8f26f2ef6b6f62f5] arxiv.org · supplied source 2
Citation: https://arxiv.org/abs/2303.17651
URL: https://arxiv.org/abs/2303.17651
Disclaimer: User-supplied linked evidence; verify reuse rights before external publication.
[source_830a27ab48afec394c73e5c9223c4915] arxiv.org · supplied source 3
Citation: https://arxiv.org/abs/2210.03629
URL: https://arxiv.org/abs/2210.03629
Disclaimer: User-supplied linked evidence; verify reuse rights before external publication.
[source_127bf3e3f1cb6979cc30622a68f5a18d] arxiv.org · supplied source 4
Citation: https://arxiv.org/abs/2303.11366
URL: https://arxiv.org/abs/2303.11366
Disclaimer: User-supplied linked evidence; verify reuse rights before external publication.
[source_02a5067bb570588af2605b33bb5fe66e] arxiv.org · supplied source 5
Citation: https://arxiv.org/abs/2603.19461
URL: https://arxiv.org/abs/2603.19461
Disclaimer: User-supplied linked evidence; verify reuse rights before external publication.
[source_0b8c95a04c74ecdd025797fcd84fb6cc] canva.com · supplied source 6
Citation: https://www.canva.com/create/ai-presentations/
URL: https://www.canva.com/create/ai-presentations/
Disclaimer: User-supplied linked evidence; verify reuse rights before external publication.
[source_536ab3e8f4a2ced485e1bff77ff0636e] gamma.app · supplied source 7
Citation: https://gamma.app/products/presentations
URL: https://gamma.app/products/presentations
Disclaimer: User-supplied linked evidence; verify reuse rights before external publication.
[source_a3a794fc60d9086994e570e4721799de]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Protocol. Layout intent: contract. Keep the spoken transition focused on “NodeSlide earns the claim only through a blind, artifact-level comparison.”
Evidence note: Content is based on the supplied creation brief. Illustrative examples are not independently verified; replace them with measured evidence before external publication.
NodeSlide sources
[source_1ed8d3faf5d537df92f5c40d0af4f638]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[source_061ead3efeed5f81541dbaecd9b6bf09] arxiv.org · supplied source 1
Citation: https://arxiv.org/abs/2512.04529
URL: https://arxiv.org/abs/2512.04529
Disclaimer: User-supplied linked evidence; verify reuse rights before external publication.
[source_475d24438be92ffa8f26f2ef6b6f62f5] arxiv.org · supplied source 2
Citation: https://arxiv.org/abs/2303.17651
URL: https://arxiv.org/abs/2303.17651
Disclaimer: User-supplied linked evidence; verify reuse rights before external publication.
[source_830a27ab48afec394c73e5c9223c4915] arxiv.org · supplied source 3
Citation: https://arxiv.org/abs/2210.03629
URL: https://arxiv.org/abs/2210.03629
Disclaimer: User-supplied linked evidence; verify reuse rights before external publication.
[source_127bf3e3f1cb6979cc30622a68f5a18d] arxiv.org · supplied source 4
Citation: https://arxiv.org/abs/2303.11366
URL: https://arxiv.org/abs/2303.11366
Disclaimer: User-supplied linked evidence; verify reuse rights before external publication.
[source_02a5067bb570588af2605b33bb5fe66e] arxiv.org · supplied source 5
Citation: https://arxiv.org/abs/2603.19461
URL: https://arxiv.org/abs/2603.19461
Disclaimer: User-supplied linked evidence; verify reuse rights before external publication.
[source_0b8c95a04c74ecdd025797fcd84fb6cc] canva.com · supplied source 6
Citation: https://www.canva.com/create/ai-presentations/
URL: https://www.canva.com/create/ai-presentations/
Disclaimer: User-supplied linked evidence; verify reuse rights before external publication.
[source_536ab3e8f4a2ced485e1bff77ff0636e] gamma.app · supplied source 7
Citation: https://gamma.app/products/presentations
URL: https://gamma.app/products/presentations
Disclaimer: User-supplied linked evidence; verify reuse rights before external publication.
[source_a3a794fc60d9086994e570e4721799de]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
[source_e5c7ae48a312f0164518271dc223966b] Brief success criteria
Citation: Exactly 8 slides in the requested narrative; Structured chart, formula, and image primitives where relevant; Validation passes before presentation or export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Decision. Layout intent: decision. Keep the spoken transition focused on “NodeSlide wins only when citations survive export and every material agent action remains reversibl…”
Evidence note: Content is based on the supplied creation brief. Illustrative examples are not independently verified; replace them with measured evidence before external publication.
NodeSlide sources
[source_1ed8d3faf5d537df92f5c40d0af4f638]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[source_061ead3efeed5f81541dbaecd9b6bf09] arxiv.org · supplied source 1
Citation: https://arxiv.org/abs/2512.04529
URL: https://arxiv.org/abs/2512.04529
Disclaimer: User-supplied linked evidence; verify reuse rights before external publication.
[source_475d24438be92ffa8f26f2ef6b6f62f5] arxiv.org · supplied source 2
Citation: https://arxiv.org/abs/2303.17651
URL: https://arxiv.org/abs/2303.17651
Disclaimer: User-supplied linked evidence; verify reuse rights before external publication.
[source_830a27ab48afec394c73e5c9223c4915] arxiv.org · supplied source 3
Citation: https://arxiv.org/abs/2210.03629
URL: https://arxiv.org/abs/2210.03629
Disclaimer: User-supplied linked evidence; verify reuse rights before external publication.
[source_127bf3e3f1cb6979cc30622a68f5a18d] arxiv.org · supplied source 4
Citation: https://arxiv.org/abs/2303.11366
URL: https://arxiv.org/abs/2303.11366
Disclaimer: User-supplied linked evidence; verify reuse rights before external publication.
[source_02a5067bb570588af2605b33bb5fe66e] arxiv.org · supplied source 5
Citation: https://arxiv.org/abs/2603.19461
URL: https://arxiv.org/abs/2603.19461
Disclaimer: User-supplied linked evidence; verify reuse rights before external publication.
[source_0b8c95a04c74ecdd025797fcd84fb6cc] canva.com · supplied source 6
Citation: https://www.canva.com/create/ai-presentations/
URL: https://www.canva.com/create/ai-presentations/
Disclaimer: User-supplied linked evidence; verify reuse rights before external publication.
[source_536ab3e8f4a2ced485e1bff77ff0636e] gamma.app · supplied source 7
Citation: https://gamma.app/products/presentations
URL: https://gamma.app/products/presentations
Disclaimer: User-supplied linked evidence; verify reuse rights before external publication.
[source_a3a794fc60d9086994e570e4721799de]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nodeslide-slide-id:slide_3a6f2ff94d50a2944979be88e7945618"/>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1b431a3547450ca9ca67b9c5d2cffde4"/>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701d1f6a829b29d1475712ecbc7f232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a:t>
            </a:r>
            <a:endParaRPr lang="en-US" sz="1500" dirty="0"/>
          </a:p>
        </p:txBody>
      </p:sp>
      <p:sp>
        <p:nvSpPr>
          <p:cNvPr id="5" name="element_5d7c75b8754719e8146b0cea41c28616"/>
          <p:cNvSpPr txBox="1"/>
          <p:nvPr/>
        </p:nvSpPr>
        <p:spPr>
          <a:xfrm>
            <a:off x="853419" y="1097280"/>
            <a:ext cx="7436934" cy="1920240"/>
          </a:xfrm>
          <a:prstGeom prst="rect">
            <a:avLst/>
          </a:prstGeom>
          <a:noFill/>
          <a:ln/>
        </p:spPr>
        <p:txBody>
          <a:bodyPr wrap="square" lIns="0" tIns="0" rIns="0" bIns="0" rtlCol="0" anchor="t">
            <a:normAutofit/>
          </a:bodyPr>
          <a:lstStyle/>
          <a:p>
            <a:pPr algn="l" indent="0" marL="0">
              <a:lnSpc>
                <a:spcPct val="104000"/>
              </a:lnSpc>
              <a:buNone/>
            </a:pPr>
            <a:r>
              <a:rPr lang="en-US" sz="4200" b="1" spc="-80" kern="0" dirty="0">
                <a:solidFill>
                  <a:srgbClr val="26221D"/>
                </a:solidFill>
                <a:latin typeface="Fraunces Variable" pitchFamily="34" charset="0"/>
                <a:ea typeface="Fraunces Variable" pitchFamily="34" charset="-122"/>
                <a:cs typeface="Fraunces Variable" pitchFamily="34" charset="-120"/>
              </a:rPr>
              <a:t>Winning is not a faster first draft. It is better evidence-to-decision throughput.</a:t>
            </a:r>
            <a:endParaRPr lang="en-US" sz="4200" dirty="0"/>
          </a:p>
        </p:txBody>
      </p:sp>
      <p:sp>
        <p:nvSpPr>
          <p:cNvPr id="6" name="element_f066fa4fee6400a748e00906b39c70c0"/>
          <p:cNvSpPr/>
          <p:nvPr/>
        </p:nvSpPr>
        <p:spPr>
          <a:xfrm>
            <a:off x="9387605" y="1234440"/>
            <a:ext cx="1463003" cy="685800"/>
          </a:xfrm>
          <a:prstGeom prst="roundRect">
            <a:avLst/>
          </a:prstGeom>
          <a:solidFill>
            <a:srgbClr val="F2DED3"/>
          </a:solidFill>
          <a:ln w="25400">
            <a:solidFill>
              <a:srgbClr val="B44A2D"/>
            </a:solidFill>
            <a:prstDash val="solid"/>
          </a:ln>
        </p:spPr>
      </p:sp>
      <p:sp>
        <p:nvSpPr>
          <p:cNvPr id="7" name="element_2278b13825a13087b8e64869de54b335"/>
          <p:cNvSpPr/>
          <p:nvPr/>
        </p:nvSpPr>
        <p:spPr>
          <a:xfrm rot="-480000">
            <a:off x="8778021" y="2125980"/>
            <a:ext cx="2072588" cy="411480"/>
          </a:xfrm>
          <a:prstGeom prst="roundRect">
            <a:avLst/>
          </a:prstGeom>
          <a:solidFill>
            <a:srgbClr val="7566A8"/>
          </a:solidFill>
          <a:ln w="12700">
            <a:solidFill>
              <a:srgbClr val="FFFFFF">
                <a:alpha val="0"/>
              </a:srgbClr>
            </a:solidFill>
            <a:prstDash val="solid"/>
          </a:ln>
        </p:spPr>
      </p:sp>
      <p:sp>
        <p:nvSpPr>
          <p:cNvPr id="8" name="element_58bd126a04d8b56810d7b473b43a494b"/>
          <p:cNvSpPr/>
          <p:nvPr/>
        </p:nvSpPr>
        <p:spPr>
          <a:xfrm rot="420000">
            <a:off x="9875273" y="2674620"/>
            <a:ext cx="975336" cy="685800"/>
          </a:xfrm>
          <a:prstGeom prst="roundRect">
            <a:avLst/>
          </a:prstGeom>
          <a:solidFill>
            <a:srgbClr val="F2DED3"/>
          </a:solidFill>
          <a:ln w="12700">
            <a:solidFill>
              <a:srgbClr val="FFFFFF">
                <a:alpha val="0"/>
              </a:srgbClr>
            </a:solidFill>
            <a:prstDash val="solid"/>
          </a:ln>
        </p:spPr>
      </p:sp>
      <p:sp>
        <p:nvSpPr>
          <p:cNvPr id="9" name="element_393747b8cdadb6cc2bb4fcf13188747e"/>
          <p:cNvSpPr txBox="1"/>
          <p:nvPr/>
        </p:nvSpPr>
        <p:spPr>
          <a:xfrm>
            <a:off x="853419" y="3429000"/>
            <a:ext cx="4754761" cy="10287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NodeSlide should turn live-agent ambition into an editable, reviewable, reversible authoring system.</a:t>
            </a:r>
            <a:endParaRPr lang="en-US" sz="1900" dirty="0"/>
          </a:p>
        </p:txBody>
      </p:sp>
      <p:sp>
        <p:nvSpPr>
          <p:cNvPr id="10" name="element_380222d997a87f99db07375778749271"/>
          <p:cNvSpPr txBox="1"/>
          <p:nvPr/>
        </p:nvSpPr>
        <p:spPr>
          <a:xfrm>
            <a:off x="853419" y="45948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Creative range</a:t>
            </a:r>
            <a:endParaRPr lang="en-US" sz="1700" dirty="0"/>
          </a:p>
        </p:txBody>
      </p:sp>
      <p:sp>
        <p:nvSpPr>
          <p:cNvPr id="11" name="element_2c660afcc598d675d2d65508d9c539fc"/>
          <p:cNvSpPr txBox="1"/>
          <p:nvPr/>
        </p:nvSpPr>
        <p:spPr>
          <a:xfrm>
            <a:off x="853419" y="52806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Governed execution</a:t>
            </a:r>
            <a:endParaRPr lang="en-US" sz="1700" dirty="0"/>
          </a:p>
        </p:txBody>
      </p:sp>
      <p:sp>
        <p:nvSpPr>
          <p:cNvPr id="12" name="element_2de082670df895f1d22e1ecb1483fd2f"/>
          <p:cNvSpPr txBox="1"/>
          <p:nvPr/>
        </p:nvSpPr>
        <p:spPr>
          <a:xfrm>
            <a:off x="853419" y="59664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Native editability</a:t>
            </a:r>
            <a:endParaRPr lang="en-US" sz="1700" dirty="0"/>
          </a:p>
        </p:txBody>
      </p:sp>
      <p:sp>
        <p:nvSpPr>
          <p:cNvPr id="13" name="element_9658420382eab63db858a9391989bc5f:fallback-shape"/>
          <p:cNvSpPr/>
          <p:nvPr/>
        </p:nvSpPr>
        <p:spPr>
          <a:xfrm>
            <a:off x="6461598" y="2674620"/>
            <a:ext cx="4754761" cy="2606040"/>
          </a:xfrm>
          <a:prstGeom prst="roundRect">
            <a:avLst/>
          </a:prstGeom>
          <a:solidFill>
            <a:srgbClr val="F2DED3"/>
          </a:solidFill>
          <a:ln w="19050">
            <a:solidFill>
              <a:srgbClr val="DED7CC"/>
            </a:solidFill>
            <a:prstDash val="dash"/>
          </a:ln>
        </p:spPr>
      </p:sp>
      <p:sp>
        <p:nvSpPr>
          <p:cNvPr id="14" name="element_9658420382eab63db858a9391989bc5f:fallback-label"/>
          <p:cNvSpPr/>
          <p:nvPr/>
        </p:nvSpPr>
        <p:spPr>
          <a:xfrm>
            <a:off x="6461598"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6B6158"/>
                </a:solidFill>
                <a:latin typeface="Geist Variable" pitchFamily="34" charset="0"/>
                <a:ea typeface="Geist Variable" pitchFamily="34" charset="-122"/>
                <a:cs typeface="Geist Variable" pitchFamily="34" charset="-120"/>
              </a:rPr>
              <a:t>NodeSlide editorial illustration of governed creativity on warm paper canvas</a:t>
            </a:r>
            <a:endParaRPr lang="en-US" sz="1400" dirty="0"/>
          </a:p>
          <a:p>
            <a:pPr algn="ctr" indent="0" marL="0">
              <a:buNone/>
            </a:pPr>
            <a:r>
              <a:rPr lang="en-US" sz="1400" dirty="0">
                <a:solidFill>
                  <a:srgbClr val="6B6158"/>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6B6158"/>
                </a:solidFill>
                <a:latin typeface="Geist Variable" pitchFamily="34" charset="0"/>
                <a:ea typeface="Geist Variable" pitchFamily="34" charset="-122"/>
                <a:cs typeface="Geist Variable" pitchFamily="34" charset="-120"/>
              </a:rPr>
              <a:t>NodeSlide editorial asset</a:t>
            </a:r>
            <a:endParaRPr lang="en-US" sz="1400" dirty="0"/>
          </a:p>
        </p:txBody>
      </p:sp>
      <p:sp>
        <p:nvSpPr>
          <p:cNvPr id="15" name="element_936b96b11c72eb8990c1a808ae580f93"/>
          <p:cNvSpPr txBox="1"/>
          <p:nvPr/>
        </p:nvSpPr>
        <p:spPr>
          <a:xfrm>
            <a:off x="6705432"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6B6158"/>
                </a:solidFill>
                <a:latin typeface="Geist Variable" pitchFamily="34" charset="0"/>
                <a:ea typeface="Geist Variable" pitchFamily="34" charset="-122"/>
                <a:cs typeface="Geist Variable" pitchFamily="34" charset="-120"/>
              </a:rPr>
              <a:t>Replace image before external use · NodeSlide editorial asset</a:t>
            </a:r>
            <a:endParaRPr lang="en-US" sz="1400" dirty="0"/>
          </a:p>
        </p:txBody>
      </p:sp>
      <p:sp>
        <p:nvSpPr>
          <p:cNvPr id="16" name="element_93cfb3a7e88d1dcc23710508cfdf97a7"/>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7" name="element_5c0e8aa2519895dfd9c8cc39531b2f6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nodeslide-slide-id:slide_c42fc60ebafc544db2c965595b16a2f3"/>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c4302200085b05214930c5e881e146a2"/>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7501a76bef1f9aae6a3364381ae3e343"/>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LANDSCAPE</a:t>
            </a:r>
            <a:endParaRPr lang="en-US" sz="1500" dirty="0"/>
          </a:p>
        </p:txBody>
      </p:sp>
      <p:sp>
        <p:nvSpPr>
          <p:cNvPr id="5" name="element_28e657448c6f42df4df65f64e840c350"/>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Canva and Gamma ship drafts; NodeSlide must ship proof.</a:t>
            </a:r>
            <a:endParaRPr lang="en-US" sz="3800" dirty="0"/>
          </a:p>
        </p:txBody>
      </p:sp>
      <p:sp>
        <p:nvSpPr>
          <p:cNvPr id="6" name="element_f018fc797570d2b7052a59168abeea37"/>
          <p:cNvSpPr/>
          <p:nvPr/>
        </p:nvSpPr>
        <p:spPr>
          <a:xfrm>
            <a:off x="792460" y="3909060"/>
            <a:ext cx="3169841" cy="1577340"/>
          </a:xfrm>
          <a:prstGeom prst="roundRect">
            <a:avLst/>
          </a:prstGeom>
          <a:solidFill>
            <a:srgbClr val="F2DED3"/>
          </a:solidFill>
          <a:ln w="12700">
            <a:solidFill>
              <a:srgbClr val="DED7CC"/>
            </a:solidFill>
            <a:prstDash val="solid"/>
          </a:ln>
        </p:spPr>
      </p:sp>
      <p:sp>
        <p:nvSpPr>
          <p:cNvPr id="7" name="element_8ca717a05835c418374305e9a6f08b50"/>
          <p:cNvSpPr/>
          <p:nvPr/>
        </p:nvSpPr>
        <p:spPr>
          <a:xfrm>
            <a:off x="4206135" y="3909060"/>
            <a:ext cx="3169841" cy="1577340"/>
          </a:xfrm>
          <a:prstGeom prst="roundRect">
            <a:avLst/>
          </a:prstGeom>
          <a:solidFill>
            <a:srgbClr val="F2DED3"/>
          </a:solidFill>
          <a:ln w="12700">
            <a:solidFill>
              <a:srgbClr val="DED7CC"/>
            </a:solidFill>
            <a:prstDash val="solid"/>
          </a:ln>
        </p:spPr>
      </p:sp>
      <p:sp>
        <p:nvSpPr>
          <p:cNvPr id="8" name="element_33fa1d92ad6efb0b86a56c9a1e0c0cb3"/>
          <p:cNvSpPr/>
          <p:nvPr/>
        </p:nvSpPr>
        <p:spPr>
          <a:xfrm>
            <a:off x="7619810" y="3909060"/>
            <a:ext cx="3169841" cy="1577340"/>
          </a:xfrm>
          <a:prstGeom prst="roundRect">
            <a:avLst/>
          </a:prstGeom>
          <a:solidFill>
            <a:srgbClr val="F2DED3"/>
          </a:solidFill>
          <a:ln w="12700">
            <a:solidFill>
              <a:srgbClr val="DED7CC"/>
            </a:solidFill>
            <a:prstDash val="solid"/>
          </a:ln>
        </p:spPr>
      </p:sp>
      <p:sp>
        <p:nvSpPr>
          <p:cNvPr id="9" name="element_0a67980d71e18f70b98d0342975da2c7"/>
          <p:cNvSpPr txBox="1"/>
          <p:nvPr/>
        </p:nvSpPr>
        <p:spPr>
          <a:xfrm>
            <a:off x="853419" y="2468880"/>
            <a:ext cx="9997190" cy="8915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Official product pages emphasize generation speed and templates. NodeSlide's differentiator is governance, not polish.</a:t>
            </a:r>
            <a:endParaRPr lang="en-US" sz="1900" dirty="0"/>
          </a:p>
        </p:txBody>
      </p:sp>
      <p:sp>
        <p:nvSpPr>
          <p:cNvPr id="10" name="element_708e9934e4bbd24c048dfeb6036dee8c"/>
          <p:cNvSpPr txBox="1"/>
          <p:nvPr/>
        </p:nvSpPr>
        <p:spPr>
          <a:xfrm>
            <a:off x="853419" y="411480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Canva: AI drafts, Brand Kit, media, collaboration, export</a:t>
            </a:r>
            <a:endParaRPr lang="en-US" sz="1600" dirty="0"/>
          </a:p>
        </p:txBody>
      </p:sp>
      <p:sp>
        <p:nvSpPr>
          <p:cNvPr id="11" name="element_a13d435e9d029881f5cb1cbeab3a9105"/>
          <p:cNvSpPr txBox="1"/>
          <p:nvPr/>
        </p:nvSpPr>
        <p:spPr>
          <a:xfrm>
            <a:off x="4267093" y="411480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Gamma: prompt or doc generation, smart layouts, sources, edit</a:t>
            </a:r>
            <a:endParaRPr lang="en-US" sz="1600" dirty="0"/>
          </a:p>
        </p:txBody>
      </p:sp>
      <p:sp>
        <p:nvSpPr>
          <p:cNvPr id="12" name="element_b1fb88a27a95dd5c147ddf5391b3a476"/>
          <p:cNvSpPr txBox="1"/>
          <p:nvPr/>
        </p:nvSpPr>
        <p:spPr>
          <a:xfrm>
            <a:off x="7680768" y="411480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NodeSlide: source lineage, native editability, validation, und</a:t>
            </a:r>
            <a:endParaRPr lang="en-US" sz="1600" dirty="0"/>
          </a:p>
        </p:txBody>
      </p:sp>
      <p:sp>
        <p:nvSpPr>
          <p:cNvPr id="13" name="element_df9d1127fb1b598df4d4a75b67140fd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4" name="element_77e4f4121a3084e95b04f0f1f9f54cd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nodeslide-slide-id:slide_89de50b7ece2008d8c6ab91dde2c8268"/>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ba3d6d95501edd276cd90ca55b6f8640"/>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995b69cb701d6d5af94ef107dee6df6b"/>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a:t>
            </a:r>
            <a:endParaRPr lang="en-US" sz="1500" dirty="0"/>
          </a:p>
        </p:txBody>
      </p:sp>
      <p:sp>
        <p:nvSpPr>
          <p:cNvPr id="5" name="element_f4c4479341f25407b2209167f07668a8"/>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Reason, act, critique, remember, and improve - without flattening the artifact.</a:t>
            </a:r>
            <a:endParaRPr lang="en-US" sz="3500" dirty="0"/>
          </a:p>
        </p:txBody>
      </p:sp>
      <p:sp>
        <p:nvSpPr>
          <p:cNvPr id="6" name="element_67bd23912d0f50a0073be91f1c26495b"/>
          <p:cNvSpPr/>
          <p:nvPr/>
        </p:nvSpPr>
        <p:spPr>
          <a:xfrm>
            <a:off x="792460" y="3703320"/>
            <a:ext cx="6095848" cy="822960"/>
          </a:xfrm>
          <a:prstGeom prst="roundRect">
            <a:avLst/>
          </a:prstGeom>
          <a:solidFill>
            <a:srgbClr val="E5E9D6"/>
          </a:solidFill>
          <a:ln w="12700">
            <a:solidFill>
              <a:srgbClr val="DED7CC"/>
            </a:solidFill>
            <a:prstDash val="solid"/>
          </a:ln>
        </p:spPr>
      </p:sp>
      <p:sp>
        <p:nvSpPr>
          <p:cNvPr id="7" name="element_5c8c676772a7b8328cd45850af5dacdf"/>
          <p:cNvSpPr/>
          <p:nvPr/>
        </p:nvSpPr>
        <p:spPr>
          <a:xfrm>
            <a:off x="7132142" y="3703320"/>
            <a:ext cx="3718467" cy="822960"/>
          </a:xfrm>
          <a:prstGeom prst="roundRect">
            <a:avLst/>
          </a:prstGeom>
          <a:solidFill>
            <a:srgbClr val="E5E9D6"/>
          </a:solidFill>
          <a:ln w="12700">
            <a:solidFill>
              <a:srgbClr val="DED7CC"/>
            </a:solidFill>
            <a:prstDash val="solid"/>
          </a:ln>
        </p:spPr>
      </p:sp>
      <p:sp>
        <p:nvSpPr>
          <p:cNvPr id="8" name="element_b35f3c884c53d8829e18ca0408fac97b"/>
          <p:cNvSpPr/>
          <p:nvPr/>
        </p:nvSpPr>
        <p:spPr>
          <a:xfrm>
            <a:off x="792460" y="4663440"/>
            <a:ext cx="10058149" cy="822960"/>
          </a:xfrm>
          <a:prstGeom prst="roundRect">
            <a:avLst/>
          </a:prstGeom>
          <a:solidFill>
            <a:srgbClr val="E5E9D6"/>
          </a:solidFill>
          <a:ln w="12700">
            <a:solidFill>
              <a:srgbClr val="DED7CC"/>
            </a:solidFill>
            <a:prstDash val="solid"/>
          </a:ln>
        </p:spPr>
      </p:sp>
      <p:sp>
        <p:nvSpPr>
          <p:cNvPr id="9" name="element_b8191579d7a53a18ba4791cf5d4f1888"/>
          <p:cNvSpPr txBox="1"/>
          <p:nvPr/>
        </p:nvSpPr>
        <p:spPr>
          <a:xfrm>
            <a:off x="853419" y="2468880"/>
            <a:ext cx="8778021" cy="8915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ReAct connects reasoning to tools; Self-Refine and Reflexion add feedback loops; SlideGen makes visual planning agentic; Hyperagents motivates evaluated policy evolution.</a:t>
            </a:r>
            <a:endParaRPr lang="en-US" sz="1900" dirty="0"/>
          </a:p>
        </p:txBody>
      </p:sp>
      <p:sp>
        <p:nvSpPr>
          <p:cNvPr id="10" name="element_51fd50cd77361eb72ac16cc3f8e2dcca"/>
          <p:cNvSpPr txBox="1"/>
          <p:nvPr/>
        </p:nvSpPr>
        <p:spPr>
          <a:xfrm>
            <a:off x="975336" y="3840480"/>
            <a:ext cx="5730097" cy="54864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ReAct: reasoning plus external action</a:t>
            </a:r>
            <a:endParaRPr lang="en-US" sz="1600" dirty="0"/>
          </a:p>
        </p:txBody>
      </p:sp>
      <p:sp>
        <p:nvSpPr>
          <p:cNvPr id="11" name="element_fffe472b36b96a6f5941799d953ef5f0"/>
          <p:cNvSpPr txBox="1"/>
          <p:nvPr/>
        </p:nvSpPr>
        <p:spPr>
          <a:xfrm>
            <a:off x="7315017" y="3840480"/>
            <a:ext cx="3352716" cy="54864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Self-Refine + Reflexion: feedback and memory</a:t>
            </a:r>
            <a:endParaRPr lang="en-US" sz="1600" dirty="0"/>
          </a:p>
        </p:txBody>
      </p:sp>
      <p:sp>
        <p:nvSpPr>
          <p:cNvPr id="12" name="element_134cb69a1989a1c561cb8613a04afe7b"/>
          <p:cNvSpPr txBox="1"/>
          <p:nvPr/>
        </p:nvSpPr>
        <p:spPr>
          <a:xfrm>
            <a:off x="975336" y="4800600"/>
            <a:ext cx="9692398" cy="54864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SlideGen + Hyperagents: visual orchestration and policy evolution</a:t>
            </a:r>
            <a:endParaRPr lang="en-US" sz="1600" dirty="0"/>
          </a:p>
        </p:txBody>
      </p:sp>
      <p:sp>
        <p:nvSpPr>
          <p:cNvPr id="13" name="element_35461868d50d8cabb408fa77988db1c9"/>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4" name="element_6d46550417c89d2ef028ff2a376c8ced"/>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nodeslide-slide-id:slide_e74d125d47e492dff219029fcbdb3431"/>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027c22983bf56e0c6139b660e5f522d1"/>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5164d320ccb867a60738c35b244f731c"/>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ARCHITECTURE</a:t>
            </a:r>
            <a:endParaRPr lang="en-US" sz="1500" dirty="0"/>
          </a:p>
        </p:txBody>
      </p:sp>
      <p:sp>
        <p:nvSpPr>
          <p:cNvPr id="5" name="element_26952d7fbf79f220cdd6506bfd5e57c8"/>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The winning architecture keeps claims, visuals, validation, and export in one editable graph.</a:t>
            </a:r>
            <a:endParaRPr lang="en-US" sz="3500" dirty="0"/>
          </a:p>
        </p:txBody>
      </p:sp>
      <p:sp>
        <p:nvSpPr>
          <p:cNvPr id="6" name="element_4574fbe8310575bda462c267b0299066"/>
          <p:cNvSpPr txBox="1"/>
          <p:nvPr/>
        </p:nvSpPr>
        <p:spPr>
          <a:xfrm>
            <a:off x="853419" y="253746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Source-aware planning feeds a claim ledger, multimodal composition, and a validation receipt before editable delivery.</a:t>
            </a:r>
            <a:endParaRPr lang="en-US" sz="1900" dirty="0"/>
          </a:p>
        </p:txBody>
      </p:sp>
      <p:sp>
        <p:nvSpPr>
          <p:cNvPr id="7" name="element_2c5a822c7085ba0f7d6e2628e9d3eb58"/>
          <p:cNvSpPr/>
          <p:nvPr/>
        </p:nvSpPr>
        <p:spPr>
          <a:xfrm>
            <a:off x="3090595" y="4217670"/>
            <a:ext cx="292601" cy="0"/>
          </a:xfrm>
          <a:prstGeom prst="line">
            <a:avLst/>
          </a:prstGeom>
          <a:noFill/>
          <a:ln w="25400">
            <a:solidFill>
              <a:srgbClr val="7566A8"/>
            </a:solidFill>
            <a:prstDash val="solid"/>
            <a:tailEnd type="triangle"/>
          </a:ln>
        </p:spPr>
      </p:sp>
      <p:sp>
        <p:nvSpPr>
          <p:cNvPr id="8" name="element_25545026bb24c132111d3f216de28048"/>
          <p:cNvSpPr/>
          <p:nvPr/>
        </p:nvSpPr>
        <p:spPr>
          <a:xfrm>
            <a:off x="5705713" y="4217670"/>
            <a:ext cx="292601" cy="0"/>
          </a:xfrm>
          <a:prstGeom prst="line">
            <a:avLst/>
          </a:prstGeom>
          <a:noFill/>
          <a:ln w="25400">
            <a:solidFill>
              <a:srgbClr val="7566A8"/>
            </a:solidFill>
            <a:prstDash val="solid"/>
            <a:tailEnd type="triangle"/>
          </a:ln>
        </p:spPr>
      </p:sp>
      <p:sp>
        <p:nvSpPr>
          <p:cNvPr id="9" name="element_1cccec905a442869288f105e0385b265"/>
          <p:cNvSpPr/>
          <p:nvPr/>
        </p:nvSpPr>
        <p:spPr>
          <a:xfrm>
            <a:off x="8320832" y="4217670"/>
            <a:ext cx="292601" cy="0"/>
          </a:xfrm>
          <a:prstGeom prst="line">
            <a:avLst/>
          </a:prstGeom>
          <a:noFill/>
          <a:ln w="25400">
            <a:solidFill>
              <a:srgbClr val="7566A8"/>
            </a:solidFill>
            <a:prstDash val="solid"/>
            <a:tailEnd type="triangle"/>
          </a:ln>
        </p:spPr>
      </p:sp>
      <p:sp>
        <p:nvSpPr>
          <p:cNvPr id="10" name="element_4b90e8fe456603ac2c842d15742f750a"/>
          <p:cNvSpPr/>
          <p:nvPr/>
        </p:nvSpPr>
        <p:spPr>
          <a:xfrm>
            <a:off x="853419" y="3771900"/>
            <a:ext cx="2151834" cy="1371600"/>
          </a:xfrm>
          <a:prstGeom prst="roundRect">
            <a:avLst/>
          </a:prstGeom>
          <a:solidFill>
            <a:srgbClr val="E5E9D6"/>
          </a:solidFill>
          <a:ln w="19050">
            <a:solidFill>
              <a:srgbClr val="DED7CC"/>
            </a:solidFill>
            <a:prstDash val="solid"/>
          </a:ln>
        </p:spPr>
      </p:sp>
      <p:sp>
        <p:nvSpPr>
          <p:cNvPr id="11" name="element_4b90e8fe456603ac2c842d15742f750a:text"/>
          <p:cNvSpPr txBox="1"/>
          <p:nvPr/>
        </p:nvSpPr>
        <p:spPr>
          <a:xfrm>
            <a:off x="853419"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Source ledger</a:t>
            </a:r>
            <a:endParaRPr lang="en-US" sz="1400" dirty="0"/>
          </a:p>
        </p:txBody>
      </p:sp>
      <p:sp>
        <p:nvSpPr>
          <p:cNvPr id="12" name="element_39e3fd45e47201fe3e8ea7cd2aae4e0c"/>
          <p:cNvSpPr/>
          <p:nvPr/>
        </p:nvSpPr>
        <p:spPr>
          <a:xfrm>
            <a:off x="3468537" y="3771900"/>
            <a:ext cx="2151834" cy="1371600"/>
          </a:xfrm>
          <a:prstGeom prst="roundRect">
            <a:avLst/>
          </a:prstGeom>
          <a:solidFill>
            <a:srgbClr val="E5E9D6"/>
          </a:solidFill>
          <a:ln w="19050">
            <a:solidFill>
              <a:srgbClr val="DED7CC"/>
            </a:solidFill>
            <a:prstDash val="solid"/>
          </a:ln>
        </p:spPr>
      </p:sp>
      <p:sp>
        <p:nvSpPr>
          <p:cNvPr id="13" name="element_39e3fd45e47201fe3e8ea7cd2aae4e0c:text"/>
          <p:cNvSpPr txBox="1"/>
          <p:nvPr/>
        </p:nvSpPr>
        <p:spPr>
          <a:xfrm>
            <a:off x="3468537"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Story agents</a:t>
            </a:r>
            <a:endParaRPr lang="en-US" sz="1400" dirty="0"/>
          </a:p>
        </p:txBody>
      </p:sp>
      <p:sp>
        <p:nvSpPr>
          <p:cNvPr id="14" name="element_78fbf108dd610b83e9508eb6fe863fcd"/>
          <p:cNvSpPr/>
          <p:nvPr/>
        </p:nvSpPr>
        <p:spPr>
          <a:xfrm>
            <a:off x="6083656" y="3771900"/>
            <a:ext cx="2151834" cy="1371600"/>
          </a:xfrm>
          <a:prstGeom prst="roundRect">
            <a:avLst/>
          </a:prstGeom>
          <a:solidFill>
            <a:srgbClr val="E5E9D6"/>
          </a:solidFill>
          <a:ln w="19050">
            <a:solidFill>
              <a:srgbClr val="DED7CC"/>
            </a:solidFill>
            <a:prstDash val="solid"/>
          </a:ln>
        </p:spPr>
      </p:sp>
      <p:sp>
        <p:nvSpPr>
          <p:cNvPr id="15" name="element_78fbf108dd610b83e9508eb6fe863fcd:text"/>
          <p:cNvSpPr txBox="1"/>
          <p:nvPr/>
        </p:nvSpPr>
        <p:spPr>
          <a:xfrm>
            <a:off x="6083656"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Visual compose</a:t>
            </a:r>
            <a:endParaRPr lang="en-US" sz="1400" dirty="0"/>
          </a:p>
        </p:txBody>
      </p:sp>
      <p:sp>
        <p:nvSpPr>
          <p:cNvPr id="16" name="element_79b392bf8271676f67fb4bcdfe67c3e8"/>
          <p:cNvSpPr/>
          <p:nvPr/>
        </p:nvSpPr>
        <p:spPr>
          <a:xfrm>
            <a:off x="8698775" y="3771900"/>
            <a:ext cx="2151834" cy="1371600"/>
          </a:xfrm>
          <a:prstGeom prst="roundRect">
            <a:avLst/>
          </a:prstGeom>
          <a:solidFill>
            <a:srgbClr val="F2DED3"/>
          </a:solidFill>
          <a:ln w="19050">
            <a:solidFill>
              <a:srgbClr val="DED7CC"/>
            </a:solidFill>
            <a:prstDash val="solid"/>
          </a:ln>
        </p:spPr>
      </p:sp>
      <p:sp>
        <p:nvSpPr>
          <p:cNvPr id="17" name="element_79b392bf8271676f67fb4bcdfe67c3e8:text"/>
          <p:cNvSpPr txBox="1"/>
          <p:nvPr/>
        </p:nvSpPr>
        <p:spPr>
          <a:xfrm>
            <a:off x="8698775"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Validate + export</a:t>
            </a:r>
            <a:endParaRPr lang="en-US" sz="1400" dirty="0"/>
          </a:p>
        </p:txBody>
      </p:sp>
      <p:sp>
        <p:nvSpPr>
          <p:cNvPr id="18" name="element_b6e898eab8c741ebadce57f798e0d10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9" name="element_6f94dc8c5be6941c0b56ee5d0399f21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nodeslide-slide-id:slide_93b54e14070806a360855c3d571312a1"/>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4994b1c720d149531685f97fb07d3b2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ff17a7b683b91f6cb4a0a0584c887af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PROTOCOL</a:t>
            </a:r>
            <a:endParaRPr lang="en-US" sz="1500" dirty="0"/>
          </a:p>
        </p:txBody>
      </p:sp>
      <p:sp>
        <p:nvSpPr>
          <p:cNvPr id="5" name="element_f24ee89632d76180947a8feafe162a5f"/>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A beautiful deck cannot win if its evidence does not survive editing and export.</a:t>
            </a:r>
            <a:endParaRPr lang="en-US" sz="3500" dirty="0"/>
          </a:p>
        </p:txBody>
      </p:sp>
      <p:sp>
        <p:nvSpPr>
          <p:cNvPr id="6" name="element_271f90822faec25151c9086d584705c5"/>
          <p:cNvSpPr/>
          <p:nvPr/>
        </p:nvSpPr>
        <p:spPr>
          <a:xfrm>
            <a:off x="6278723" y="2674620"/>
            <a:ext cx="4937637" cy="2743200"/>
          </a:xfrm>
          <a:prstGeom prst="roundRect">
            <a:avLst/>
          </a:prstGeom>
          <a:solidFill>
            <a:srgbClr val="E5E9D6"/>
          </a:solidFill>
          <a:ln w="12700">
            <a:solidFill>
              <a:srgbClr val="DED7CC"/>
            </a:solidFill>
            <a:prstDash val="solid"/>
          </a:ln>
        </p:spPr>
      </p:sp>
      <p:sp>
        <p:nvSpPr>
          <p:cNvPr id="7" name="element_cd2baf092a8f0157dcb0c23f99f3ebe4"/>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The proposed blind rubric weights factual grounding first, then story and visual reasoning, while preserving editability and governance as release requirements.</a:t>
            </a:r>
            <a:endParaRPr lang="en-US" sz="1900" dirty="0"/>
          </a:p>
        </p:txBody>
      </p:sp>
      <p:sp>
        <p:nvSpPr>
          <p:cNvPr id="8" name="element_8ffec2f98ec98fa98f0c141e08570157"/>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Evidence before ornament</a:t>
            </a:r>
            <a:endParaRPr lang="en-US" sz="1700" dirty="0"/>
          </a:p>
        </p:txBody>
      </p:sp>
      <p:sp>
        <p:nvSpPr>
          <p:cNvPr id="9" name="element_830b873eef3e2d0e65cd23a023dad929"/>
          <p:cNvSpPr txBox="1"/>
          <p:nvPr/>
        </p:nvSpPr>
        <p:spPr>
          <a:xfrm>
            <a:off x="853419" y="507492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Blind scoring across identical inputs</a:t>
            </a:r>
            <a:endParaRPr lang="en-US" sz="1700" dirty="0"/>
          </a:p>
        </p:txBody>
      </p:sp>
      <p:sp>
        <p:nvSpPr>
          <p:cNvPr id="10" name="element_04c2d37bbd60429acb366775cd499fbb"/>
          <p:cNvSpPr txBox="1"/>
          <p:nvPr/>
        </p:nvSpPr>
        <p:spPr>
          <a:xfrm>
            <a:off x="853419" y="589788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Editable, reversible output required</a:t>
            </a:r>
            <a:endParaRPr lang="en-US" sz="1700" dirty="0"/>
          </a:p>
        </p:txBody>
      </p:sp>
      <p:graphicFrame>
        <p:nvGraphicFramePr>
          <p:cNvPr id="11" name="element_e72b87c14b9af116860557ae7f2a7e39" descr=""/>
          <p:cNvGraphicFramePr/>
          <p:nvPr/>
        </p:nvGraphicFramePr>
        <p:xfrm>
          <a:off x="6461598" y="2880360"/>
          <a:ext cx="4754761" cy="2743200"/>
        </p:xfrm>
        <a:graphic xmlns:a="http://schemas.openxmlformats.org/drawingml/2006/main">
          <a:graphicData uri="http://schemas.openxmlformats.org/drawingml/2006/chart">
            <c:chart xmlns:c="http://schemas.openxmlformats.org/drawingml/2006/chart" r:id="rId1"/>
          </a:graphicData>
        </a:graphic>
      </p:graphicFrame>
      <p:sp>
        <p:nvSpPr>
          <p:cNvPr id="12" name="element_4861233d5d0dbd9af58848d7faefe58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8b6beccaa370563161a1465df9d58b8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nodeslide-slide-id:slide_154dee9057a61bd70e177de48ee0087b"/>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38258bc715d44cd9b64130bc250442d8"/>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84a838c28fce2a14092308e7c3bd0d9e"/>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a:t>
            </a:r>
            <a:endParaRPr lang="en-US" sz="1500" dirty="0"/>
          </a:p>
        </p:txBody>
      </p:sp>
      <p:sp>
        <p:nvSpPr>
          <p:cNvPr id="5" name="element_61261ca8f5e182e394faa687d7a61868"/>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Scientific slide generation is a multimodal planning problem, not a text-to-template shortcut.</a:t>
            </a:r>
            <a:endParaRPr lang="en-US" sz="3500" dirty="0"/>
          </a:p>
        </p:txBody>
      </p:sp>
      <p:sp>
        <p:nvSpPr>
          <p:cNvPr id="6" name="element_981b3cff8d527f5cc45e1801902b1a15"/>
          <p:cNvSpPr/>
          <p:nvPr/>
        </p:nvSpPr>
        <p:spPr>
          <a:xfrm>
            <a:off x="6095848" y="2674620"/>
            <a:ext cx="5120512" cy="2743200"/>
          </a:xfrm>
          <a:prstGeom prst="roundRect">
            <a:avLst/>
          </a:prstGeom>
          <a:solidFill>
            <a:srgbClr val="F2DED3"/>
          </a:solidFill>
          <a:ln w="12700">
            <a:solidFill>
              <a:srgbClr val="DED7CC"/>
            </a:solidFill>
            <a:prstDash val="solid"/>
          </a:ln>
        </p:spPr>
      </p:sp>
      <p:sp>
        <p:nvSpPr>
          <p:cNvPr id="7" name="element_a7eb46a67227f0ff2a7b15915bccfa55"/>
          <p:cNvSpPr txBox="1"/>
          <p:nvPr/>
        </p:nvSpPr>
        <p:spPr>
          <a:xfrm>
            <a:off x="853419" y="2743200"/>
            <a:ext cx="4998595"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SlideGen coordinates outlining, mapping, arrangement, notes, and iterative refinement to produce editable PPTX; its authors report gains in visual quality, faithfulness, and reada…</a:t>
            </a:r>
            <a:endParaRPr lang="en-US" sz="1900" dirty="0"/>
          </a:p>
        </p:txBody>
      </p:sp>
      <p:sp>
        <p:nvSpPr>
          <p:cNvPr id="8" name="element_d40484a0e8153a8218af5c0fde136528"/>
          <p:cNvSpPr txBox="1"/>
          <p:nvPr/>
        </p:nvSpPr>
        <p:spPr>
          <a:xfrm>
            <a:off x="6461598" y="308610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Agentic and modular</a:t>
            </a:r>
            <a:endParaRPr lang="en-US" sz="1700" dirty="0"/>
          </a:p>
        </p:txBody>
      </p:sp>
      <p:sp>
        <p:nvSpPr>
          <p:cNvPr id="9" name="element_8bcc5493789ff08e86700e6658dbe612"/>
          <p:cNvSpPr txBox="1"/>
          <p:nvPr/>
        </p:nvSpPr>
        <p:spPr>
          <a:xfrm>
            <a:off x="6461598" y="390906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Visual-in-the-loop refinement</a:t>
            </a:r>
            <a:endParaRPr lang="en-US" sz="1700" dirty="0"/>
          </a:p>
        </p:txBody>
      </p:sp>
      <p:sp>
        <p:nvSpPr>
          <p:cNvPr id="10" name="element_f9e8b981dbb05df38fbb1a7eddb5f0fb"/>
          <p:cNvSpPr txBox="1"/>
          <p:nvPr/>
        </p:nvSpPr>
        <p:spPr>
          <a:xfrm>
            <a:off x="6461598" y="473202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Editable PPTX output</a:t>
            </a:r>
            <a:endParaRPr lang="en-US" sz="1700" dirty="0"/>
          </a:p>
        </p:txBody>
      </p:sp>
      <p:sp>
        <p:nvSpPr>
          <p:cNvPr id="11" name="element_b3fad4597bf3011a3711756ac04b9005"/>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74629169457fd4148b781ec870064e90"/>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nodeslide-slide-id:slide_b969ce6c6cf19819aa8c92cbfdfa472f"/>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b91cbc3a8ad61ca200ae89d3d1bd5dc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3293e2f70bb956942d0ff2fe345d0a8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PROTOCOL</a:t>
            </a:r>
            <a:endParaRPr lang="en-US" sz="1500" dirty="0"/>
          </a:p>
        </p:txBody>
      </p:sp>
      <p:sp>
        <p:nvSpPr>
          <p:cNvPr id="5" name="element_083d5456c0ab13ada57824708188729e"/>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NodeSlide earns the claim only through a blind, artifact-level comparison.</a:t>
            </a:r>
            <a:endParaRPr lang="en-US" sz="3500" dirty="0"/>
          </a:p>
        </p:txBody>
      </p:sp>
      <p:sp>
        <p:nvSpPr>
          <p:cNvPr id="6" name="element_319dc9f2e66683d001f47a627f1e3294"/>
          <p:cNvSpPr/>
          <p:nvPr/>
        </p:nvSpPr>
        <p:spPr>
          <a:xfrm>
            <a:off x="6278723" y="2674620"/>
            <a:ext cx="4937637" cy="2743200"/>
          </a:xfrm>
          <a:prstGeom prst="roundRect">
            <a:avLst/>
          </a:prstGeom>
          <a:solidFill>
            <a:srgbClr val="E5E9D6"/>
          </a:solidFill>
          <a:ln w="12700">
            <a:solidFill>
              <a:srgbClr val="DED7CC"/>
            </a:solidFill>
            <a:prstDash val="solid"/>
          </a:ln>
        </p:spPr>
      </p:sp>
      <p:sp>
        <p:nvSpPr>
          <p:cNvPr id="7" name="element_df08f46206ec2587a2a83fbd5a0b6885"/>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Generate held-out decks with identical inputs, score exported artifacts, inspect citation survival, and test whether every material change can be undone.</a:t>
            </a:r>
            <a:endParaRPr lang="en-US" sz="1900" dirty="0"/>
          </a:p>
        </p:txBody>
      </p:sp>
      <p:sp>
        <p:nvSpPr>
          <p:cNvPr id="8" name="element_fd0365f420c603e4180fc35eea8278fb"/>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Same prompt + sources</a:t>
            </a:r>
            <a:endParaRPr lang="en-US" sz="1700" dirty="0"/>
          </a:p>
        </p:txBody>
      </p:sp>
      <p:sp>
        <p:nvSpPr>
          <p:cNvPr id="9" name="element_12e576769f3a1e467a7b1fa1a4ff08a5"/>
          <p:cNvSpPr txBox="1"/>
          <p:nvPr/>
        </p:nvSpPr>
        <p:spPr>
          <a:xfrm>
            <a:off x="853419" y="507492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Blind artifact scoring</a:t>
            </a:r>
            <a:endParaRPr lang="en-US" sz="1700" dirty="0"/>
          </a:p>
        </p:txBody>
      </p:sp>
      <p:sp>
        <p:nvSpPr>
          <p:cNvPr id="10" name="element_685768f71dfb87f5f3a17aabf9693f1d"/>
          <p:cNvSpPr txBox="1"/>
          <p:nvPr/>
        </p:nvSpPr>
        <p:spPr>
          <a:xfrm>
            <a:off x="853419" y="589788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Citation, edit, export, and Undo checks</a:t>
            </a:r>
            <a:endParaRPr lang="en-US" sz="1700" dirty="0"/>
          </a:p>
        </p:txBody>
      </p:sp>
      <p:sp>
        <p:nvSpPr>
          <p:cNvPr id="11" name="element_37d34fdf7984926a2b1dd67c84a64460:fallback-shape"/>
          <p:cNvSpPr/>
          <p:nvPr/>
        </p:nvSpPr>
        <p:spPr>
          <a:xfrm>
            <a:off x="6461598" y="2743200"/>
            <a:ext cx="4754761" cy="1920240"/>
          </a:xfrm>
          <a:prstGeom prst="roundRect">
            <a:avLst/>
          </a:prstGeom>
          <a:solidFill>
            <a:srgbClr val="111318"/>
          </a:solidFill>
          <a:ln w="19050">
            <a:solidFill>
              <a:srgbClr val="DED7CC"/>
            </a:solidFill>
            <a:prstDash val="dash"/>
          </a:ln>
        </p:spPr>
      </p:sp>
      <p:sp>
        <p:nvSpPr>
          <p:cNvPr id="12" name="element_37d34fdf7984926a2b1dd67c84a64460:fallback-label"/>
          <p:cNvSpPr/>
          <p:nvPr/>
        </p:nvSpPr>
        <p:spPr>
          <a:xfrm>
            <a:off x="6461598" y="2743200"/>
            <a:ext cx="4754761" cy="19202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6B6158"/>
                </a:solidFill>
                <a:latin typeface="Geist Variable" pitchFamily="34" charset="0"/>
                <a:ea typeface="Geist Variable" pitchFamily="34" charset="-122"/>
                <a:cs typeface="Geist Variable" pitchFamily="34" charset="-120"/>
              </a:rPr>
              <a:t>Recorded NodeSlide browser journey</a:t>
            </a:r>
            <a:endParaRPr lang="en-US" sz="1400" dirty="0"/>
          </a:p>
          <a:p>
            <a:pPr algn="ctr" indent="0" marL="0">
              <a:buNone/>
            </a:pPr>
            <a:r>
              <a:rPr lang="en-US" sz="1400" dirty="0">
                <a:solidFill>
                  <a:srgbClr val="6B6158"/>
                </a:solidFill>
                <a:latin typeface="Geist Variable" pitchFamily="34" charset="0"/>
                <a:ea typeface="Geist Variable" pitchFamily="34" charset="-122"/>
                <a:cs typeface="Geist Variable" pitchFamily="34" charset="-120"/>
              </a:rPr>
              <a:t>Linked web video · https://raw.githubusercontent.com/HomenShum/parity-studio/codex/nodeslide-openui-quality-v2/artifacts/nodeslide-openui-quality-full-live-v3-2026-07-16/browser-journey.webm</a:t>
            </a:r>
            <a:endParaRPr lang="en-US" sz="1400" dirty="0"/>
          </a:p>
        </p:txBody>
      </p:sp>
      <p:sp>
        <p:nvSpPr>
          <p:cNvPr id="13" name="element_01cd632037642866b4a5d23cc65c48fc"/>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4" name="element_b4bee82c7636e5c68493cde084a34c7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nodeslide-slide-id:slide_625c65c2754f5dd8f748e171e051eb39"/>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9f258a8f6f7db63a87aeddb56de9e06e"/>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6d2f9bfbf30365ecaa78d837f3e7ac0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DECISION</a:t>
            </a:r>
            <a:endParaRPr lang="en-US" sz="1500" dirty="0"/>
          </a:p>
        </p:txBody>
      </p:sp>
      <p:sp>
        <p:nvSpPr>
          <p:cNvPr id="5" name="element_d95bee74ead15ca1b4d31f9156b21e8a"/>
          <p:cNvSpPr txBox="1"/>
          <p:nvPr/>
        </p:nvSpPr>
        <p:spPr>
          <a:xfrm>
            <a:off x="853419" y="960120"/>
            <a:ext cx="9997190" cy="150876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NodeSlide wins only when citations survive export and every agent action remains reversible.</a:t>
            </a:r>
            <a:endParaRPr lang="en-US" sz="3500" dirty="0"/>
          </a:p>
        </p:txBody>
      </p:sp>
      <p:sp>
        <p:nvSpPr>
          <p:cNvPr id="6" name="element_09aeb5ceb2e3f448bfc8cc0cb653b762"/>
          <p:cNvSpPr/>
          <p:nvPr/>
        </p:nvSpPr>
        <p:spPr>
          <a:xfrm>
            <a:off x="853419" y="5692140"/>
            <a:ext cx="9997190" cy="82296"/>
          </a:xfrm>
          <a:prstGeom prst="roundRect">
            <a:avLst/>
          </a:prstGeom>
          <a:solidFill>
            <a:srgbClr val="B44A2D"/>
          </a:solidFill>
          <a:ln w="12700">
            <a:solidFill>
              <a:srgbClr val="FFFFFF">
                <a:alpha val="0"/>
              </a:srgbClr>
            </a:solidFill>
            <a:prstDash val="solid"/>
          </a:ln>
        </p:spPr>
      </p:sp>
      <p:sp>
        <p:nvSpPr>
          <p:cNvPr id="7" name="element_9aa2ce9c7710511781ceac12edc90b36"/>
          <p:cNvSpPr txBox="1"/>
          <p:nvPr/>
        </p:nvSpPr>
        <p:spPr>
          <a:xfrm>
            <a:off x="853419" y="2743200"/>
            <a:ext cx="8046519" cy="109728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Ship only when the artifact, receipt, version transition, export, and recorded browser journey agree.</a:t>
            </a:r>
            <a:endParaRPr lang="en-US" sz="1900" dirty="0"/>
          </a:p>
        </p:txBody>
      </p:sp>
      <p:sp>
        <p:nvSpPr>
          <p:cNvPr id="8" name="element_ba0c4fee479f196659e90052f2e3c53b"/>
          <p:cNvSpPr txBox="1"/>
          <p:nvPr/>
        </p:nvSpPr>
        <p:spPr>
          <a:xfrm>
            <a:off x="853419" y="473202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Artifact quality passes</a:t>
            </a:r>
            <a:endParaRPr lang="en-US" sz="1600" dirty="0"/>
          </a:p>
        </p:txBody>
      </p:sp>
      <p:sp>
        <p:nvSpPr>
          <p:cNvPr id="9" name="element_99dec0331fc3e906eb99b12ae4284dff"/>
          <p:cNvSpPr txBox="1"/>
          <p:nvPr/>
        </p:nvSpPr>
        <p:spPr>
          <a:xfrm>
            <a:off x="4267093" y="473202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Receipt survives export</a:t>
            </a:r>
            <a:endParaRPr lang="en-US" sz="1600" dirty="0"/>
          </a:p>
        </p:txBody>
      </p:sp>
      <p:sp>
        <p:nvSpPr>
          <p:cNvPr id="10" name="element_1bfe752e0ab304d71453d296ca4744e1"/>
          <p:cNvSpPr txBox="1"/>
          <p:nvPr/>
        </p:nvSpPr>
        <p:spPr>
          <a:xfrm>
            <a:off x="7680768" y="473202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Undo remains immediate</a:t>
            </a:r>
            <a:endParaRPr lang="en-US" sz="1600" dirty="0"/>
          </a:p>
        </p:txBody>
      </p:sp>
      <p:sp>
        <p:nvSpPr>
          <p:cNvPr id="11" name="element_3e1208958b4d0f0f03d515549f7ef08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5ab11dc1e9afd9ba9efe28095f7f5fb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08</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Fraunces Variab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exactly eight visually ambitious, source-backed, claim-led sli…</dc:title>
  <dc:subject>Create an editable, reviewable presentation from this idea</dc:subject>
  <dc:creator>NodeSlide</dc:creator>
  <cp:lastModifiedBy>NodeSlide</cp:lastModifiedBy>
  <cp:revision>1</cp:revision>
  <dcterms:created xsi:type="dcterms:W3CDTF">2026-07-17T04:27:49Z</dcterms:created>
  <dcterms:modified xsi:type="dcterms:W3CDTF">2026-07-17T04:27:49Z</dcterms:modified>
</cp:coreProperties>
</file>