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Layout intent: hero. Keep the spoken transition focused on “Is a bold thesis cover: “NodeSlide must beat one-shot generation on governed creativity,” with one supporting line and…”
Evidence note: Content is based on the supplied creation brief. Illustrative examples are not independently verified; replace them with measured evidence before external publication.
NodeSlide sources
[source_9d8068e720f2be5918ab6bd0d95925ac]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Layout intent: comparison. Keep the spoken transition focused on “Is a three-column competitive landscape”
Evidence note: Content is based on the supplied creation brief. Illustrative examples are not independently verified; replace them with measured evidence before external publication.
NodeSlide sources
[source_9d8068e720f2be5918ab6bd0d95925ac]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Layout intent: contract. Keep the spoken transition focused on “Is an authoring contract that locks audience, decision, evidence ledger, and claim-led storyboard before layout”
Evidence note: Content is based on the supplied creation brief. Illustrative examples are not independently verified; replace them with measured evidence before external publication.
NodeSlide sources
[source_9d8068e720f2be5918ab6bd0d95925ac]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Layout intent: split. Keep the spoken transition focused on “Is the only diagram: use exactly four short native editable nodes labeled Strategy, Agent team, Validate + review, and…”
Evidence note: Content is based on the supplied creation brief. Illustrative examples are not independently verified; replace them with measured evidence before external publication.
NodeSlide sources
[source_9d8068e720f2be5918ab6bd0d95925ac]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Layout intent: contract. Keep the spoken transition focused on “A split composition: bounded repair on the left; HyperAgent-inspired versioned policy evolution, held-out evaluation, a…”
Evidence note: Content is based on the supplied creation brief. Illustrative examples are not independently verified; replace them with measured evidence before external publication.
NodeSlide sources
[source_9d8068e720f2be5918ab6bd0d95925ac]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
[source_924c3325ec09a6d0301267c44b73253a] Brief success criteria
Citation: Exactly 7 slides in the requested narrative; Structured chart, formula, and image primitives where relevant; Validation passes before presentation or export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Layout intent: evidence_board. Keep the spoken transition focused on “Is an evidence board with labeled proof slots for provider, named model, input and output tokens, nonzero cost, candida…”
Evidence note: Content is based on the supplied creation brief. Illustrative examples are not independently verified; replace them with measured evidence before external publication.
NodeSlide sources
[source_9d8068e720f2be5918ab6bd0d95925ac]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Layout intent: decision. Keep the spoken transition focused on “Is a decisive release-gate checklist ending with “Approve the quality gate and require recorded proof for every release”
Evidence note: Content is based on the supplied creation brief. Illustrative examples are not independently verified; replace them with measured evidence before external publication.
NodeSlide sources
[source_9d8068e720f2be5918ab6bd0d95925ac]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793a5443cbdd9ff1328fc76eb6f3934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26f95b33db5dadf31cb5f51d159c65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2d5bfeb4ceeccf6968717da44cb8f6bd"/>
          <p:cNvSpPr txBox="1"/>
          <p:nvPr/>
        </p:nvSpPr>
        <p:spPr>
          <a:xfrm>
            <a:off x="853419" y="1028700"/>
            <a:ext cx="7558851"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Fraunces Variable" pitchFamily="34" charset="0"/>
                <a:ea typeface="Fraunces Variable" pitchFamily="34" charset="-122"/>
                <a:cs typeface="Fraunces Variable" pitchFamily="34" charset="-120"/>
              </a:rPr>
              <a:t>Is a bold thesis cover: “NodeSlide must beat one-shot generation on governed creativity,” with one supporting line and…</a:t>
            </a:r>
            <a:endParaRPr lang="en-US" sz="4800" dirty="0"/>
          </a:p>
        </p:txBody>
      </p:sp>
      <p:sp>
        <p:nvSpPr>
          <p:cNvPr id="5" name="element_a82a86bca6c16113003ea5356ac626c3"/>
          <p:cNvSpPr/>
          <p:nvPr/>
        </p:nvSpPr>
        <p:spPr>
          <a:xfrm>
            <a:off x="9387605" y="1234440"/>
            <a:ext cx="1463003" cy="685800"/>
          </a:xfrm>
          <a:prstGeom prst="roundRect">
            <a:avLst/>
          </a:prstGeom>
          <a:solidFill>
            <a:srgbClr val="F2DED3"/>
          </a:solidFill>
          <a:ln w="25400">
            <a:solidFill>
              <a:srgbClr val="B44A2D"/>
            </a:solidFill>
            <a:prstDash val="solid"/>
          </a:ln>
        </p:spPr>
      </p:sp>
      <p:sp>
        <p:nvSpPr>
          <p:cNvPr id="6" name="element_85840334a8b78ede9e864a855a08bce5"/>
          <p:cNvSpPr/>
          <p:nvPr/>
        </p:nvSpPr>
        <p:spPr>
          <a:xfrm rot="-480000">
            <a:off x="8778021" y="2125980"/>
            <a:ext cx="2072588" cy="411480"/>
          </a:xfrm>
          <a:prstGeom prst="roundRect">
            <a:avLst/>
          </a:prstGeom>
          <a:solidFill>
            <a:srgbClr val="7566A8"/>
          </a:solidFill>
          <a:ln w="12700">
            <a:solidFill>
              <a:srgbClr val="FFFFFF">
                <a:alpha val="0"/>
              </a:srgbClr>
            </a:solidFill>
            <a:prstDash val="solid"/>
          </a:ln>
        </p:spPr>
      </p:sp>
      <p:sp>
        <p:nvSpPr>
          <p:cNvPr id="7" name="element_3f02c597e73874cdf44ec9ca5bb1af29"/>
          <p:cNvSpPr/>
          <p:nvPr/>
        </p:nvSpPr>
        <p:spPr>
          <a:xfrm rot="420000">
            <a:off x="9875273" y="2674620"/>
            <a:ext cx="975336" cy="685800"/>
          </a:xfrm>
          <a:prstGeom prst="roundRect">
            <a:avLst/>
          </a:prstGeom>
          <a:solidFill>
            <a:srgbClr val="F2DED3"/>
          </a:solidFill>
          <a:ln w="12700">
            <a:solidFill>
              <a:srgbClr val="FFFFFF">
                <a:alpha val="0"/>
              </a:srgbClr>
            </a:solidFill>
            <a:prstDash val="solid"/>
          </a:ln>
        </p:spPr>
      </p:sp>
      <p:sp>
        <p:nvSpPr>
          <p:cNvPr id="8" name="element_80214d97274907ed516721e3ae19df72"/>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NodeSlide should compete on governed creativity: a strong story, editable native objects, durable validation, and proof from the real browser path.</a:t>
            </a:r>
            <a:endParaRPr lang="en-US" sz="1900" dirty="0"/>
          </a:p>
        </p:txBody>
      </p:sp>
      <p:sp>
        <p:nvSpPr>
          <p:cNvPr id="9" name="element_0a33d28a88d009aae4e1f274411e86c8"/>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Evidence-backed acceptance</a:t>
            </a:r>
            <a:endParaRPr lang="en-US" sz="1600" dirty="0"/>
          </a:p>
        </p:txBody>
      </p:sp>
      <p:sp>
        <p:nvSpPr>
          <p:cNvPr id="10" name="element_ea6e2ef4f4b996ef75d94bd1c12736db"/>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Editable native output</a:t>
            </a:r>
            <a:endParaRPr lang="en-US" sz="1600" dirty="0"/>
          </a:p>
        </p:txBody>
      </p:sp>
      <p:sp>
        <p:nvSpPr>
          <p:cNvPr id="11" name="element_1a6c09bb9b8c3e4c1d9f400b241c8055"/>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Recorded end-to-end proof</a:t>
            </a:r>
            <a:endParaRPr lang="en-US" sz="1600" dirty="0"/>
          </a:p>
        </p:txBody>
      </p:sp>
      <p:sp>
        <p:nvSpPr>
          <p:cNvPr id="12" name="element_7f36e57a1f40165d41d7bd38c9b5141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183db7556d5cb6ae58ba97beb84bedb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b4eb9750163f1bdd21db78427101a06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6747196606f6a8d87739adb3262283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6212f032011c6250c1a35ae6b6db3fc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Is a three-column competitive landscape</a:t>
            </a:r>
            <a:endParaRPr lang="en-US" sz="3800" dirty="0"/>
          </a:p>
        </p:txBody>
      </p:sp>
      <p:sp>
        <p:nvSpPr>
          <p:cNvPr id="5" name="element_c00d3843de477e52da41e02688efb3ae"/>
          <p:cNvSpPr/>
          <p:nvPr/>
        </p:nvSpPr>
        <p:spPr>
          <a:xfrm>
            <a:off x="792460" y="4046220"/>
            <a:ext cx="3169841" cy="1371600"/>
          </a:xfrm>
          <a:prstGeom prst="roundRect">
            <a:avLst/>
          </a:prstGeom>
          <a:solidFill>
            <a:srgbClr val="F2DED3"/>
          </a:solidFill>
          <a:ln w="12700">
            <a:solidFill>
              <a:srgbClr val="DED7CC"/>
            </a:solidFill>
            <a:prstDash val="solid"/>
          </a:ln>
        </p:spPr>
      </p:sp>
      <p:sp>
        <p:nvSpPr>
          <p:cNvPr id="6" name="element_f57e2cf264d8631c1d36d791bb1f6067"/>
          <p:cNvSpPr/>
          <p:nvPr/>
        </p:nvSpPr>
        <p:spPr>
          <a:xfrm>
            <a:off x="4206135" y="4046220"/>
            <a:ext cx="3169841" cy="1371600"/>
          </a:xfrm>
          <a:prstGeom prst="roundRect">
            <a:avLst/>
          </a:prstGeom>
          <a:solidFill>
            <a:srgbClr val="F2DED3"/>
          </a:solidFill>
          <a:ln w="12700">
            <a:solidFill>
              <a:srgbClr val="DED7CC"/>
            </a:solidFill>
            <a:prstDash val="solid"/>
          </a:ln>
        </p:spPr>
      </p:sp>
      <p:sp>
        <p:nvSpPr>
          <p:cNvPr id="7" name="element_0846cc9d9b10bbfa831953f61078da73"/>
          <p:cNvSpPr/>
          <p:nvPr/>
        </p:nvSpPr>
        <p:spPr>
          <a:xfrm>
            <a:off x="7619810" y="4046220"/>
            <a:ext cx="3169841" cy="1371600"/>
          </a:xfrm>
          <a:prstGeom prst="roundRect">
            <a:avLst/>
          </a:prstGeom>
          <a:solidFill>
            <a:srgbClr val="F2DED3"/>
          </a:solidFill>
          <a:ln w="12700">
            <a:solidFill>
              <a:srgbClr val="DED7CC"/>
            </a:solidFill>
            <a:prstDash val="solid"/>
          </a:ln>
        </p:spPr>
      </p:sp>
      <p:sp>
        <p:nvSpPr>
          <p:cNvPr id="8" name="element_fc8512cc0dd98e83e1edac7614b4573a"/>
          <p:cNvSpPr txBox="1"/>
          <p:nvPr/>
        </p:nvSpPr>
        <p:spPr>
          <a:xfrm>
            <a:off x="853419" y="274320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Make is a three-column competitive landscape concrete without inventing unsupported facts.</a:t>
            </a:r>
            <a:endParaRPr lang="en-US" sz="1900" dirty="0"/>
          </a:p>
        </p:txBody>
      </p:sp>
      <p:sp>
        <p:nvSpPr>
          <p:cNvPr id="9" name="element_b3d0d1d1c70314707739b375edc24c8f"/>
          <p:cNvSpPr txBox="1"/>
          <p:nvPr/>
        </p:nvSpPr>
        <p:spPr>
          <a:xfrm>
            <a:off x="853419"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One distinct narrative job</a:t>
            </a:r>
            <a:endParaRPr lang="en-US" sz="1600" dirty="0"/>
          </a:p>
        </p:txBody>
      </p:sp>
      <p:sp>
        <p:nvSpPr>
          <p:cNvPr id="10" name="element_f4983e88a4dbc7ee44b20b5004480726"/>
          <p:cNvSpPr txBox="1"/>
          <p:nvPr/>
        </p:nvSpPr>
        <p:spPr>
          <a:xfrm>
            <a:off x="4267093"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Editable presentation primitives</a:t>
            </a:r>
            <a:endParaRPr lang="en-US" sz="1600" dirty="0"/>
          </a:p>
        </p:txBody>
      </p:sp>
      <p:sp>
        <p:nvSpPr>
          <p:cNvPr id="11" name="element_3664a85e0e35667853a99e83bac3a6c9"/>
          <p:cNvSpPr txBox="1"/>
          <p:nvPr/>
        </p:nvSpPr>
        <p:spPr>
          <a:xfrm>
            <a:off x="7680768"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No unsupported factual claims</a:t>
            </a:r>
            <a:endParaRPr lang="en-US" sz="1600" dirty="0"/>
          </a:p>
        </p:txBody>
      </p:sp>
      <p:sp>
        <p:nvSpPr>
          <p:cNvPr id="12" name="element_ec0c8b683a953c9ccdca574b5e4be10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f0603978fed4bbb78f539ebcfca80d8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0866710ff433953aee0a44c325c8deb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91220cd5daacb92575ac2a649407d6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1d00ce5f15ace5406087c07247a31544"/>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Is an authoring contract that locks audience, decision, evidence ledger, and claim-led storyboard before layout</a:t>
            </a:r>
            <a:endParaRPr lang="en-US" sz="3800" dirty="0"/>
          </a:p>
        </p:txBody>
      </p:sp>
      <p:sp>
        <p:nvSpPr>
          <p:cNvPr id="5" name="element_44d5abc36e4ae55fd8983a13d45e3081"/>
          <p:cNvSpPr/>
          <p:nvPr/>
        </p:nvSpPr>
        <p:spPr>
          <a:xfrm>
            <a:off x="5973931" y="2537460"/>
            <a:ext cx="5242429" cy="2331720"/>
          </a:xfrm>
          <a:prstGeom prst="roundRect">
            <a:avLst/>
          </a:prstGeom>
          <a:solidFill>
            <a:srgbClr val="E5E9D6"/>
          </a:solidFill>
          <a:ln w="12700">
            <a:solidFill>
              <a:srgbClr val="DED7CC"/>
            </a:solidFill>
            <a:prstDash val="solid"/>
          </a:ln>
        </p:spPr>
      </p:sp>
      <p:sp>
        <p:nvSpPr>
          <p:cNvPr id="6" name="element_5e0c7da5738fefe7df5b64d38637efc6"/>
          <p:cNvSpPr txBox="1"/>
          <p:nvPr/>
        </p:nvSpPr>
        <p:spPr>
          <a:xfrm>
            <a:off x="6339682"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Start with the communication job: name the audience, decision, central takeaway, and success signal.</a:t>
            </a:r>
            <a:endParaRPr lang="en-US" sz="1900" dirty="0"/>
          </a:p>
        </p:txBody>
      </p:sp>
      <p:sp>
        <p:nvSpPr>
          <p:cNvPr id="7" name="element_cdc0bbeea28743e154e4f4f9e9e1ba4c"/>
          <p:cNvSpPr txBox="1"/>
          <p:nvPr/>
        </p:nvSpPr>
        <p:spPr>
          <a:xfrm>
            <a:off x="853419" y="28803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audience and decision</a:t>
            </a:r>
            <a:endParaRPr lang="en-US" sz="1700" dirty="0"/>
          </a:p>
        </p:txBody>
      </p:sp>
      <p:sp>
        <p:nvSpPr>
          <p:cNvPr id="8" name="element_85cc3e0aa36c4b41977265de343a1899"/>
          <p:cNvSpPr txBox="1"/>
          <p:nvPr/>
        </p:nvSpPr>
        <p:spPr>
          <a:xfrm>
            <a:off x="853419" y="37033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State the central takeaway</a:t>
            </a:r>
            <a:endParaRPr lang="en-US" sz="1700" dirty="0"/>
          </a:p>
        </p:txBody>
      </p:sp>
      <p:sp>
        <p:nvSpPr>
          <p:cNvPr id="9" name="element_47c16db87e8a05111f327ddd4e6eebc4"/>
          <p:cNvSpPr txBox="1"/>
          <p:nvPr/>
        </p:nvSpPr>
        <p:spPr>
          <a:xfrm>
            <a:off x="853419" y="452628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Define the release bar</a:t>
            </a:r>
            <a:endParaRPr lang="en-US" sz="1700" dirty="0"/>
          </a:p>
        </p:txBody>
      </p:sp>
      <p:sp>
        <p:nvSpPr>
          <p:cNvPr id="10" name="element_88d71a26a48f7de877b0c2c434777f1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f15af51b2e669d2da15da9db752c36b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b2e6db011b6de815abb26e5219ad4cb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d27b3142661a2c4ae14933a29555bf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3c943116b03a292d4cefdf1df9427ab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Is the only diagram: use exactly four short native editable nodes labeled Strategy, Agent team, Validate + review, and…</a:t>
            </a:r>
            <a:endParaRPr lang="en-US" sz="3800" dirty="0"/>
          </a:p>
        </p:txBody>
      </p:sp>
      <p:sp>
        <p:nvSpPr>
          <p:cNvPr id="5" name="element_7d85d88a0c93a7942c2521557a73b6f8"/>
          <p:cNvSpPr/>
          <p:nvPr/>
        </p:nvSpPr>
        <p:spPr>
          <a:xfrm>
            <a:off x="5912972" y="2674620"/>
            <a:ext cx="121917" cy="2468880"/>
          </a:xfrm>
          <a:prstGeom prst="roundRect">
            <a:avLst/>
          </a:prstGeom>
          <a:solidFill>
            <a:srgbClr val="7566A8"/>
          </a:solidFill>
          <a:ln w="12700">
            <a:solidFill>
              <a:srgbClr val="FFFFFF">
                <a:alpha val="0"/>
              </a:srgbClr>
            </a:solidFill>
            <a:prstDash val="solid"/>
          </a:ln>
        </p:spPr>
      </p:sp>
      <p:sp>
        <p:nvSpPr>
          <p:cNvPr id="6" name="element_02f0b4a913e991c652631f5528d24595"/>
          <p:cNvSpPr txBox="1"/>
          <p:nvPr/>
        </p:nvSpPr>
        <p:spPr>
          <a:xfrm>
            <a:off x="6339682"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Start with the communication job: name the audience, decision, central takeaway, and success signal.</a:t>
            </a:r>
            <a:endParaRPr lang="en-US" sz="1900" dirty="0"/>
          </a:p>
        </p:txBody>
      </p:sp>
      <p:sp>
        <p:nvSpPr>
          <p:cNvPr id="7" name="element_01539af052014c0261ddfb2a15aa6fa4"/>
          <p:cNvSpPr txBox="1"/>
          <p:nvPr/>
        </p:nvSpPr>
        <p:spPr>
          <a:xfrm>
            <a:off x="853419" y="28803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audience and decision</a:t>
            </a:r>
            <a:endParaRPr lang="en-US" sz="1700" dirty="0"/>
          </a:p>
        </p:txBody>
      </p:sp>
      <p:sp>
        <p:nvSpPr>
          <p:cNvPr id="8" name="element_2693dfc77db7b114e68daf6b03c4c759"/>
          <p:cNvSpPr txBox="1"/>
          <p:nvPr/>
        </p:nvSpPr>
        <p:spPr>
          <a:xfrm>
            <a:off x="853419" y="37033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State the central takeaway</a:t>
            </a:r>
            <a:endParaRPr lang="en-US" sz="1700" dirty="0"/>
          </a:p>
        </p:txBody>
      </p:sp>
      <p:sp>
        <p:nvSpPr>
          <p:cNvPr id="9" name="element_dae2235bf29f34686a897f5110c441c8"/>
          <p:cNvSpPr txBox="1"/>
          <p:nvPr/>
        </p:nvSpPr>
        <p:spPr>
          <a:xfrm>
            <a:off x="853419" y="452628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Define the release bar</a:t>
            </a:r>
            <a:endParaRPr lang="en-US" sz="1700" dirty="0"/>
          </a:p>
        </p:txBody>
      </p:sp>
      <p:sp>
        <p:nvSpPr>
          <p:cNvPr id="10" name="element_29a8885550a40df895027e81643c688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87ed9d072f364bdc461abc5c803d62e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e93522a22ca2a26a2d23df91a43b1eb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ae32d628b42f8fdc12ba0933129a3c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e5a97ee079b371a0f47e7298b5aee3a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 split composition: bounded repair on the left; HyperAgent-inspired versioned policy evolution, held-out evaluation, a…</a:t>
            </a:r>
            <a:endParaRPr lang="en-US" sz="3800" dirty="0"/>
          </a:p>
        </p:txBody>
      </p:sp>
      <p:sp>
        <p:nvSpPr>
          <p:cNvPr id="5" name="element_bc9511658a5e716ccb4620b2fa9d7f22"/>
          <p:cNvSpPr/>
          <p:nvPr/>
        </p:nvSpPr>
        <p:spPr>
          <a:xfrm>
            <a:off x="5973931" y="2537460"/>
            <a:ext cx="5242429" cy="2331720"/>
          </a:xfrm>
          <a:prstGeom prst="roundRect">
            <a:avLst/>
          </a:prstGeom>
          <a:solidFill>
            <a:srgbClr val="E5E9D6"/>
          </a:solidFill>
          <a:ln w="12700">
            <a:solidFill>
              <a:srgbClr val="DED7CC"/>
            </a:solidFill>
            <a:prstDash val="solid"/>
          </a:ln>
        </p:spPr>
      </p:sp>
      <p:sp>
        <p:nvSpPr>
          <p:cNvPr id="6" name="element_804deef0052c4b04e6daf6b5dae39b88"/>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Use the market as a design brief: Canva compresses branded asset work, Gamma compresses research-to-story, and NodeSlide must add governed editable execution plus policy learning.</a:t>
            </a:r>
            <a:endParaRPr lang="en-US" sz="1900" dirty="0"/>
          </a:p>
        </p:txBody>
      </p:sp>
      <p:sp>
        <p:nvSpPr>
          <p:cNvPr id="7" name="element_b57774f17aedd72243cf46f81f64d9b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Canva: brand and asset velocity</a:t>
            </a:r>
            <a:endParaRPr lang="en-US" sz="1700" dirty="0"/>
          </a:p>
        </p:txBody>
      </p:sp>
      <p:sp>
        <p:nvSpPr>
          <p:cNvPr id="8" name="element_0bd5e9499166d72fa63da2f7c8688bfe"/>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Gamma: research and story velocity</a:t>
            </a:r>
            <a:endParaRPr lang="en-US" sz="1700" dirty="0"/>
          </a:p>
        </p:txBody>
      </p:sp>
      <p:sp>
        <p:nvSpPr>
          <p:cNvPr id="9" name="element_67339c256c17af1fa28e303793a41576"/>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NodeSlide: governed execution; HyperAgent: policy evolution</a:t>
            </a:r>
            <a:endParaRPr lang="en-US" sz="1700" dirty="0"/>
          </a:p>
        </p:txBody>
      </p:sp>
      <p:sp>
        <p:nvSpPr>
          <p:cNvPr id="10" name="element_5635775a0bdbc90e610f21308a28fe4a"/>
          <p:cNvSpPr txBox="1"/>
          <p:nvPr/>
        </p:nvSpPr>
        <p:spPr>
          <a:xfrm>
            <a:off x="6827349" y="2811780"/>
            <a:ext cx="4145176" cy="1028700"/>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gates</a:t>
            </a:r>
            <a:endParaRPr lang="en-US" sz="4300" dirty="0"/>
          </a:p>
        </p:txBody>
      </p:sp>
      <p:sp>
        <p:nvSpPr>
          <p:cNvPr id="11" name="element_0d247fe6921af3324c9a654cb3180f97"/>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6B6158"/>
                </a:solidFill>
                <a:latin typeface="Geist Variable" pitchFamily="34" charset="0"/>
                <a:ea typeface="Geist Variable" pitchFamily="34" charset="-122"/>
                <a:cs typeface="Geist Variable" pitchFamily="34" charset="-120"/>
              </a:rPr>
              <a:t>content, visual, and release proof must agree</a:t>
            </a:r>
            <a:endParaRPr lang="en-US" sz="1500" dirty="0"/>
          </a:p>
        </p:txBody>
      </p:sp>
      <p:sp>
        <p:nvSpPr>
          <p:cNvPr id="12" name="element_faf1b43f3ae93852c4df49cc3f9c64c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8bb0179bdb407aa3c8405cc844efdd8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f704542300e9fea5d2e67cc0b0f1631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5df9b30c7249ed0e8764aee3750d07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2bd87067f6bafae46b8c36e98ae0f69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 live run is only real when its receipt survives export.</a:t>
            </a:r>
            <a:endParaRPr lang="en-US" sz="3800" dirty="0"/>
          </a:p>
        </p:txBody>
      </p:sp>
      <p:sp>
        <p:nvSpPr>
          <p:cNvPr id="5" name="element_3f54f755a43fc562b4069484eb8f9428"/>
          <p:cNvSpPr/>
          <p:nvPr/>
        </p:nvSpPr>
        <p:spPr>
          <a:xfrm>
            <a:off x="792460" y="4046220"/>
            <a:ext cx="3169841" cy="1371600"/>
          </a:xfrm>
          <a:prstGeom prst="roundRect">
            <a:avLst/>
          </a:prstGeom>
          <a:solidFill>
            <a:srgbClr val="E5E9D6"/>
          </a:solidFill>
          <a:ln w="12700">
            <a:solidFill>
              <a:srgbClr val="DED7CC"/>
            </a:solidFill>
            <a:prstDash val="solid"/>
          </a:ln>
        </p:spPr>
      </p:sp>
      <p:sp>
        <p:nvSpPr>
          <p:cNvPr id="6" name="element_0faccfe65985aaffc61f748a033cd40a"/>
          <p:cNvSpPr/>
          <p:nvPr/>
        </p:nvSpPr>
        <p:spPr>
          <a:xfrm>
            <a:off x="4206135" y="4046220"/>
            <a:ext cx="3169841" cy="1371600"/>
          </a:xfrm>
          <a:prstGeom prst="roundRect">
            <a:avLst/>
          </a:prstGeom>
          <a:solidFill>
            <a:srgbClr val="E5E9D6"/>
          </a:solidFill>
          <a:ln w="12700">
            <a:solidFill>
              <a:srgbClr val="DED7CC"/>
            </a:solidFill>
            <a:prstDash val="solid"/>
          </a:ln>
        </p:spPr>
      </p:sp>
      <p:sp>
        <p:nvSpPr>
          <p:cNvPr id="7" name="element_ec76877e6777bc4cbc7dbc1a9757f31a"/>
          <p:cNvSpPr/>
          <p:nvPr/>
        </p:nvSpPr>
        <p:spPr>
          <a:xfrm>
            <a:off x="7619810" y="4046220"/>
            <a:ext cx="3169841" cy="1371600"/>
          </a:xfrm>
          <a:prstGeom prst="roundRect">
            <a:avLst/>
          </a:prstGeom>
          <a:solidFill>
            <a:srgbClr val="E5E9D6"/>
          </a:solidFill>
          <a:ln w="12700">
            <a:solidFill>
              <a:srgbClr val="DED7CC"/>
            </a:solidFill>
            <a:prstDash val="solid"/>
          </a:ln>
        </p:spPr>
      </p:sp>
      <p:sp>
        <p:nvSpPr>
          <p:cNvPr id="8" name="element_2acd66a87d5eaf302297d64cc30ee4d1"/>
          <p:cNvSpPr txBox="1"/>
          <p:nvPr/>
        </p:nvSpPr>
        <p:spPr>
          <a:xfrm>
            <a:off x="853419" y="274320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Treat evidence as a ledger rather than decoration: every material claim keeps its source, revision, and status.</a:t>
            </a:r>
            <a:endParaRPr lang="en-US" sz="1900" dirty="0"/>
          </a:p>
        </p:txBody>
      </p:sp>
      <p:sp>
        <p:nvSpPr>
          <p:cNvPr id="9" name="element_41efbf06885ba201ee4ba9381b60fcac"/>
          <p:cNvSpPr txBox="1"/>
          <p:nvPr/>
        </p:nvSpPr>
        <p:spPr>
          <a:xfrm>
            <a:off x="853419"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Claim and source stay linked</a:t>
            </a:r>
            <a:endParaRPr lang="en-US" sz="1600" dirty="0"/>
          </a:p>
        </p:txBody>
      </p:sp>
      <p:sp>
        <p:nvSpPr>
          <p:cNvPr id="10" name="element_2c8b6dde52000b38e4747fe588984918"/>
          <p:cNvSpPr txBox="1"/>
          <p:nvPr/>
        </p:nvSpPr>
        <p:spPr>
          <a:xfrm>
            <a:off x="4267093"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Assumptions stay explicit</a:t>
            </a:r>
            <a:endParaRPr lang="en-US" sz="1600" dirty="0"/>
          </a:p>
        </p:txBody>
      </p:sp>
      <p:sp>
        <p:nvSpPr>
          <p:cNvPr id="11" name="element_5461d57d8fb0fcd3d88e42dbaec45226"/>
          <p:cNvSpPr txBox="1"/>
          <p:nvPr/>
        </p:nvSpPr>
        <p:spPr>
          <a:xfrm>
            <a:off x="7680768"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Revisions keep provenance</a:t>
            </a:r>
            <a:endParaRPr lang="en-US" sz="1600" dirty="0"/>
          </a:p>
        </p:txBody>
      </p:sp>
      <p:sp>
        <p:nvSpPr>
          <p:cNvPr id="12" name="element_8694c48805aa27470067c84c070b1f8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69e11e6146e519e0fb3743749e092f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989a179f19e385ec9433335dd5deb83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54f86aa371e9bf8b03c2d989cb7d08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6b7d800309087729e73295f8dbe72444"/>
          <p:cNvSpPr txBox="1"/>
          <p:nvPr/>
        </p:nvSpPr>
        <p:spPr>
          <a:xfrm>
            <a:off x="853419" y="1028700"/>
            <a:ext cx="9753356" cy="1371600"/>
          </a:xfrm>
          <a:prstGeom prst="rect">
            <a:avLst/>
          </a:prstGeom>
          <a:noFill/>
          <a:ln/>
        </p:spPr>
        <p:txBody>
          <a:bodyPr wrap="square" lIns="0" tIns="0" rIns="0" bIns="0" rtlCol="0" anchor="t">
            <a:normAutofit/>
          </a:bodyPr>
          <a:lstStyle/>
          <a:p>
            <a:pPr algn="l" indent="0" marL="0">
              <a:lnSpc>
                <a:spcPct val="104000"/>
              </a:lnSpc>
              <a:buNone/>
            </a:pPr>
            <a:r>
              <a:rPr lang="en-US" sz="4200" b="1" spc="-80" kern="0" dirty="0">
                <a:solidFill>
                  <a:srgbClr val="26221D"/>
                </a:solidFill>
                <a:latin typeface="Fraunces Variable" pitchFamily="34" charset="0"/>
                <a:ea typeface="Fraunces Variable" pitchFamily="34" charset="-122"/>
                <a:cs typeface="Fraunces Variable" pitchFamily="34" charset="-120"/>
              </a:rPr>
              <a:t>Is a decisive release-gate checklist ending with “Approve the quality gate and require recorded proof for every release</a:t>
            </a:r>
            <a:endParaRPr lang="en-US" sz="4200" dirty="0"/>
          </a:p>
        </p:txBody>
      </p:sp>
      <p:sp>
        <p:nvSpPr>
          <p:cNvPr id="5" name="element_a679138c39ebf5656aa856f7d79e39be"/>
          <p:cNvSpPr/>
          <p:nvPr/>
        </p:nvSpPr>
        <p:spPr>
          <a:xfrm>
            <a:off x="853419" y="4594860"/>
            <a:ext cx="9997190" cy="82296"/>
          </a:xfrm>
          <a:prstGeom prst="roundRect">
            <a:avLst/>
          </a:prstGeom>
          <a:solidFill>
            <a:srgbClr val="B44A2D"/>
          </a:solidFill>
          <a:ln w="12700">
            <a:solidFill>
              <a:srgbClr val="FFFFFF">
                <a:alpha val="0"/>
              </a:srgbClr>
            </a:solidFill>
            <a:prstDash val="solid"/>
          </a:ln>
        </p:spPr>
      </p:sp>
      <p:sp>
        <p:nvSpPr>
          <p:cNvPr id="6" name="element_14c05bd9f3c9897300fa5c6e17fe3a58"/>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Convert independent critic findings into bounded repair instructions and stop at a strict iteration limit.</a:t>
            </a:r>
            <a:endParaRPr lang="en-US" sz="1900" dirty="0"/>
          </a:p>
        </p:txBody>
      </p:sp>
      <p:sp>
        <p:nvSpPr>
          <p:cNvPr id="7" name="element_b579ef92463dce181aa100392177d563"/>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Independent specialist critics</a:t>
            </a:r>
            <a:endParaRPr lang="en-US" sz="1600" dirty="0"/>
          </a:p>
        </p:txBody>
      </p:sp>
      <p:sp>
        <p:nvSpPr>
          <p:cNvPr id="8" name="element_5a683282bacf2fad04a3d1df9bcc3aaf"/>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Bounded repair with stop rules</a:t>
            </a:r>
            <a:endParaRPr lang="en-US" sz="1600" dirty="0"/>
          </a:p>
        </p:txBody>
      </p:sp>
      <p:sp>
        <p:nvSpPr>
          <p:cNvPr id="9" name="element_ceb92525cfe024e50140d3baaf799258"/>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Versioned policy, held-out promotion</a:t>
            </a:r>
            <a:endParaRPr lang="en-US" sz="1600" dirty="0"/>
          </a:p>
        </p:txBody>
      </p:sp>
      <p:sp>
        <p:nvSpPr>
          <p:cNvPr id="10" name="element_7b285d2b45ae1854b397e3359aa7fd7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5bb321d68f789c396e9b8dd0e7f42fe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raunces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exactly seven visually ambitious, claim-led slides explaining…</dc:title>
  <dc:subject>Create an editable, reviewable presentation from this idea</dc:subject>
  <dc:creator>NodeSlide</dc:creator>
  <cp:lastModifiedBy>NodeSlide</cp:lastModifiedBy>
  <cp:revision>1</cp:revision>
  <dcterms:created xsi:type="dcterms:W3CDTF">2026-07-16T22:43:45Z</dcterms:created>
  <dcterms:modified xsi:type="dcterms:W3CDTF">2026-07-16T22:43:45Z</dcterms:modified>
</cp:coreProperties>
</file>