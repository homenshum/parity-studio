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Thesis. Layout intent: hero. Keep the spoken transition focused on “NodeSlide must beat one-shot generation on governed creativity”
Evidence note: Content is based on the supplied creation brief. Illustrative examples are not independently verified; replace them with measured evidence before external publication.
NodeSlide sources
[source_21bafffcc5202d4124309415247ad3fc]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a visual tension motif.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Slide 6 is an evidence board with labeled proof slots for provider, named model, input and output tokens, nonzero cost, candidate digest, durable validation receipt, version delta, and export artifact. Do not invent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Landscape. Layout intent: comparison. Keep the spoken transition focused on “Own editable, governed execution where rivals win speed or brand”
Evidence note: Content is based on the supplied creation brief. Illustrative examples are not independently verified; replace them with measured evidence before external publication.
NodeSlide sources
[source_21bafffcc5202d4124309415247ad3fc]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a visual tension motif.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Slide 6 is an evidence board with labeled proof slots for provider, named model, input and output tokens, nonzero cost, candidate digest, durable validation receipt, version delta, and export artifact. Do not invent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Contract. Layout intent: contract. Keep the spoken transition focused on “Lock audience, decision, evidence, and storyboard before layout”
Evidence note: Content is based on the supplied creation brief. Illustrative examples are not independently verified; replace them with measured evidence before external publication.
NodeSlide sources
[source_21bafffcc5202d4124309415247ad3fc]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a visual tension motif.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Slide 6 is an evidence board with labeled proof slots for provider, named model, input and output tokens, nonzero cost, candidate digest, durable validation receipt, version delta, and export artifact. Do not invent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Pipeline. Layout intent: flow. Keep the spoken transition focused on “From strategy to editable export through a governed agent pipeline”
Evidence note: Content is based on the supplied creation brief. Illustrative examples are not independently verified; replace them with measured evidence before external publication.
NodeSlide sources
[source_21bafffcc5202d4124309415247ad3fc]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a visual tension motif.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Slide 6 is an evidence board with labeled proof slots for provider, named model, input and output tokens, nonzero cost, candidate digest, durable validation receipt, version delta, and export artifact. Do not invent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Safety. Layout intent: split. Keep the spoken transition focused on “Bounded repair on the left; versioned policy evolution on the right”
Evidence note: Content is based on the supplied creation brief. Illustrative examples are not independently verified; replace them with measured evidence before external publication.
NodeSlide sources
[source_21bafffcc5202d4124309415247ad3fc]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a visual tension motif.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Slide 6 is an evidence board with labeled proof slots for provider, named model, input and output tokens, nonzero cost, candidate digest, durable validation receipt, version delta, and export artifact. Do not invent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Layout intent: evidence_board. Keep the spoken transition focused on “Every release carries a durable, auditable evidence receipt”
Evidence note: Content is based on the supplied creation brief. Illustrative examples are not independently verified; replace them with measured evidence before external publication.
NodeSlide sources
[source_21bafffcc5202d4124309415247ad3fc]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a visual tension motif.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Slide 6 is an evidence board with labeled proof slots for provider, named model, input and output tokens, nonzero cost, candidate digest, durable validation receipt, version delta, and export artifact. Do not invent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Decision. Layout intent: decision. Keep the spoken transition focused on “Approve the quality gate and require recorded proof for every release”
Evidence note: Content is based on the supplied creation brief. Illustrative examples are not independently verified; replace them with measured evidence before external publication.
NodeSlide sources
[source_21bafffcc5202d4124309415247ad3fc]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a visual tension motif.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Slide 6 is an evidence board with labeled proof slots for provider, named model, input and output tokens, nonzero cost, candidate digest, durable validation receipt, version delta, and export artifact. Do not invent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660fd19f6512eb0e910e3b8011f1ffd9"/>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3f77b32980ec10da68dbc4f705c6b9a7"/>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THESIS</a:t>
            </a:r>
            <a:endParaRPr lang="en-US" sz="1500" dirty="0"/>
          </a:p>
        </p:txBody>
      </p:sp>
      <p:sp>
        <p:nvSpPr>
          <p:cNvPr id="4" name="element_5f30d2189a73210cf1851ab653663f36"/>
          <p:cNvSpPr txBox="1"/>
          <p:nvPr/>
        </p:nvSpPr>
        <p:spPr>
          <a:xfrm>
            <a:off x="853419" y="1028700"/>
            <a:ext cx="7558851"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Fraunces Variable" pitchFamily="34" charset="0"/>
                <a:ea typeface="Fraunces Variable" pitchFamily="34" charset="-122"/>
                <a:cs typeface="Fraunces Variable" pitchFamily="34" charset="-120"/>
              </a:rPr>
              <a:t>NodeSlide must beat one-shot generation on governed creativity</a:t>
            </a:r>
            <a:endParaRPr lang="en-US" sz="4800" dirty="0"/>
          </a:p>
        </p:txBody>
      </p:sp>
      <p:sp>
        <p:nvSpPr>
          <p:cNvPr id="5" name="element_c4f7e2c2cb5cbede001a2e490d12bc64"/>
          <p:cNvSpPr/>
          <p:nvPr/>
        </p:nvSpPr>
        <p:spPr>
          <a:xfrm>
            <a:off x="9387605" y="1234440"/>
            <a:ext cx="1463003" cy="685800"/>
          </a:xfrm>
          <a:prstGeom prst="roundRect">
            <a:avLst/>
          </a:prstGeom>
          <a:solidFill>
            <a:srgbClr val="F2DED3"/>
          </a:solidFill>
          <a:ln w="25400">
            <a:solidFill>
              <a:srgbClr val="B44A2D"/>
            </a:solidFill>
            <a:prstDash val="solid"/>
          </a:ln>
        </p:spPr>
      </p:sp>
      <p:sp>
        <p:nvSpPr>
          <p:cNvPr id="6" name="element_ca584ed8ffbfdaf5ec351e4ccb26dbfe"/>
          <p:cNvSpPr/>
          <p:nvPr/>
        </p:nvSpPr>
        <p:spPr>
          <a:xfrm rot="-480000">
            <a:off x="8778021" y="2125980"/>
            <a:ext cx="2072588" cy="411480"/>
          </a:xfrm>
          <a:prstGeom prst="roundRect">
            <a:avLst/>
          </a:prstGeom>
          <a:solidFill>
            <a:srgbClr val="7566A8"/>
          </a:solidFill>
          <a:ln w="12700">
            <a:solidFill>
              <a:srgbClr val="FFFFFF">
                <a:alpha val="0"/>
              </a:srgbClr>
            </a:solidFill>
            <a:prstDash val="solid"/>
          </a:ln>
        </p:spPr>
      </p:sp>
      <p:sp>
        <p:nvSpPr>
          <p:cNvPr id="7" name="element_d3617a18bbf19efbff70ced39e7c4f40"/>
          <p:cNvSpPr/>
          <p:nvPr/>
        </p:nvSpPr>
        <p:spPr>
          <a:xfrm rot="420000">
            <a:off x="9875273" y="2674620"/>
            <a:ext cx="975336" cy="685800"/>
          </a:xfrm>
          <a:prstGeom prst="roundRect">
            <a:avLst/>
          </a:prstGeom>
          <a:solidFill>
            <a:srgbClr val="F2DED3"/>
          </a:solidFill>
          <a:ln w="12700">
            <a:solidFill>
              <a:srgbClr val="FFFFFF">
                <a:alpha val="0"/>
              </a:srgbClr>
            </a:solidFill>
            <a:prstDash val="solid"/>
          </a:ln>
        </p:spPr>
      </p:sp>
      <p:sp>
        <p:nvSpPr>
          <p:cNvPr id="8" name="element_7bda92a483c45d6d61cb5f579bc58583"/>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One-shot generation is fast but ungoverned. NodeSlide wins by making creativity editable, auditable, and release-ready.</a:t>
            </a:r>
            <a:endParaRPr lang="en-US" sz="1900" dirty="0"/>
          </a:p>
        </p:txBody>
      </p:sp>
      <p:sp>
        <p:nvSpPr>
          <p:cNvPr id="9" name="element_f508be7037f465be374c5ae7f0f6994f"/>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Governed creativity over raw speed</a:t>
            </a:r>
            <a:endParaRPr lang="en-US" sz="1600" dirty="0"/>
          </a:p>
        </p:txBody>
      </p:sp>
      <p:sp>
        <p:nvSpPr>
          <p:cNvPr id="10" name="element_0dc1497f60b598ea02c8f8893c0ada18"/>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Editable, auditable, release-ready output</a:t>
            </a:r>
            <a:endParaRPr lang="en-US" sz="1600" dirty="0"/>
          </a:p>
        </p:txBody>
      </p:sp>
      <p:sp>
        <p:nvSpPr>
          <p:cNvPr id="11" name="element_418112ffd4b36a1c4c29156ef12b5ede"/>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Dogfood the system we build</a:t>
            </a:r>
            <a:endParaRPr lang="en-US" sz="1600" dirty="0"/>
          </a:p>
        </p:txBody>
      </p:sp>
      <p:sp>
        <p:nvSpPr>
          <p:cNvPr id="12" name="element_ac58166496ecd3a3996ef690845050bf"/>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a87fd9b0f3012c0dd2deb44408bf803a"/>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1a8a7bcee4e708f7a18ca865aab8e30f"/>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5e46fc0f8ccb57f0263a842931d07c5f"/>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LANDSCAPE</a:t>
            </a:r>
            <a:endParaRPr lang="en-US" sz="1500" dirty="0"/>
          </a:p>
        </p:txBody>
      </p:sp>
      <p:sp>
        <p:nvSpPr>
          <p:cNvPr id="4" name="element_4eda51eaa6cbbad805ad4254414f6a90"/>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Fraunces Variable" pitchFamily="34" charset="0"/>
                <a:ea typeface="Fraunces Variable" pitchFamily="34" charset="-122"/>
                <a:cs typeface="Fraunces Variable" pitchFamily="34" charset="-120"/>
              </a:rPr>
              <a:t>Own editable, governed execution where rivals win speed or brand</a:t>
            </a:r>
            <a:endParaRPr lang="en-US" sz="3800" dirty="0"/>
          </a:p>
        </p:txBody>
      </p:sp>
      <p:sp>
        <p:nvSpPr>
          <p:cNvPr id="5" name="element_6e8511f6a5654cc32ae5ddccde4874fe"/>
          <p:cNvSpPr/>
          <p:nvPr/>
        </p:nvSpPr>
        <p:spPr>
          <a:xfrm>
            <a:off x="792460" y="4046220"/>
            <a:ext cx="3169841" cy="1371600"/>
          </a:xfrm>
          <a:prstGeom prst="roundRect">
            <a:avLst/>
          </a:prstGeom>
          <a:solidFill>
            <a:srgbClr val="F2DED3"/>
          </a:solidFill>
          <a:ln w="12700">
            <a:solidFill>
              <a:srgbClr val="DED7CC"/>
            </a:solidFill>
            <a:prstDash val="solid"/>
          </a:ln>
        </p:spPr>
      </p:sp>
      <p:sp>
        <p:nvSpPr>
          <p:cNvPr id="6" name="element_e896c9e3385b01c8dfada75036fd62ba"/>
          <p:cNvSpPr/>
          <p:nvPr/>
        </p:nvSpPr>
        <p:spPr>
          <a:xfrm>
            <a:off x="4206135" y="4046220"/>
            <a:ext cx="3169841" cy="1371600"/>
          </a:xfrm>
          <a:prstGeom prst="roundRect">
            <a:avLst/>
          </a:prstGeom>
          <a:solidFill>
            <a:srgbClr val="F2DED3"/>
          </a:solidFill>
          <a:ln w="12700">
            <a:solidFill>
              <a:srgbClr val="DED7CC"/>
            </a:solidFill>
            <a:prstDash val="solid"/>
          </a:ln>
        </p:spPr>
      </p:sp>
      <p:sp>
        <p:nvSpPr>
          <p:cNvPr id="7" name="element_e4fd311c080306fae3a2bc9dac7320a8"/>
          <p:cNvSpPr/>
          <p:nvPr/>
        </p:nvSpPr>
        <p:spPr>
          <a:xfrm>
            <a:off x="7619810" y="4046220"/>
            <a:ext cx="3169841" cy="1371600"/>
          </a:xfrm>
          <a:prstGeom prst="roundRect">
            <a:avLst/>
          </a:prstGeom>
          <a:solidFill>
            <a:srgbClr val="F2DED3"/>
          </a:solidFill>
          <a:ln w="12700">
            <a:solidFill>
              <a:srgbClr val="DED7CC"/>
            </a:solidFill>
            <a:prstDash val="solid"/>
          </a:ln>
        </p:spPr>
      </p:sp>
      <p:sp>
        <p:nvSpPr>
          <p:cNvPr id="8" name="element_4017812fb0b25fafe4e5ebf0fd11f174"/>
          <p:cNvSpPr txBox="1"/>
          <p:nvPr/>
        </p:nvSpPr>
        <p:spPr>
          <a:xfrm>
            <a:off x="853419" y="2743200"/>
            <a:ext cx="9997190" cy="8915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Canva AI leads brand and asset velocity; Gamma AI leads research-to-story speed. NodeSlide must own the editable, governed execution layer.</a:t>
            </a:r>
            <a:endParaRPr lang="en-US" sz="1900" dirty="0"/>
          </a:p>
        </p:txBody>
      </p:sp>
      <p:sp>
        <p:nvSpPr>
          <p:cNvPr id="9" name="element_5d51a53bbf0dbcbe43c4e4567a61d824"/>
          <p:cNvSpPr txBox="1"/>
          <p:nvPr/>
        </p:nvSpPr>
        <p:spPr>
          <a:xfrm>
            <a:off x="853419" y="425196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Canva AI: brand and asset velocity</a:t>
            </a:r>
            <a:endParaRPr lang="en-US" sz="1600" dirty="0"/>
          </a:p>
        </p:txBody>
      </p:sp>
      <p:sp>
        <p:nvSpPr>
          <p:cNvPr id="10" name="element_b6957dae9732f51fcb5ae7ca2da81eca"/>
          <p:cNvSpPr txBox="1"/>
          <p:nvPr/>
        </p:nvSpPr>
        <p:spPr>
          <a:xfrm>
            <a:off x="4267093" y="425196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Gamma AI: research-to-story speed</a:t>
            </a:r>
            <a:endParaRPr lang="en-US" sz="1600" dirty="0"/>
          </a:p>
        </p:txBody>
      </p:sp>
      <p:sp>
        <p:nvSpPr>
          <p:cNvPr id="11" name="element_9eb396bfa1ecebeec9e6665cd996f5f9"/>
          <p:cNvSpPr txBox="1"/>
          <p:nvPr/>
        </p:nvSpPr>
        <p:spPr>
          <a:xfrm>
            <a:off x="7680768" y="425196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NodeSlide: editable, governed execution</a:t>
            </a:r>
            <a:endParaRPr lang="en-US" sz="1600" dirty="0"/>
          </a:p>
        </p:txBody>
      </p:sp>
      <p:sp>
        <p:nvSpPr>
          <p:cNvPr id="12" name="element_85227587e623d948f6d814c7239024f5"/>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07a58980becf4e9fb173525966a04933"/>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ba5a1190c8b510ed951285e562dcded5"/>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c19b421e4867f954afb727ba3703902b"/>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CONTRACT</a:t>
            </a:r>
            <a:endParaRPr lang="en-US" sz="1500" dirty="0"/>
          </a:p>
        </p:txBody>
      </p:sp>
      <p:sp>
        <p:nvSpPr>
          <p:cNvPr id="4" name="element_a58e6a73ebd19a4fa62126954dafebc8"/>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Fraunces Variable" pitchFamily="34" charset="0"/>
                <a:ea typeface="Fraunces Variable" pitchFamily="34" charset="-122"/>
                <a:cs typeface="Fraunces Variable" pitchFamily="34" charset="-120"/>
              </a:rPr>
              <a:t>Lock audience, decision, evidence, and storyboard before layout</a:t>
            </a:r>
            <a:endParaRPr lang="en-US" sz="3800" dirty="0"/>
          </a:p>
        </p:txBody>
      </p:sp>
      <p:sp>
        <p:nvSpPr>
          <p:cNvPr id="5" name="element_3c093b2157b0fa6402225d9a7b624a57"/>
          <p:cNvSpPr/>
          <p:nvPr/>
        </p:nvSpPr>
        <p:spPr>
          <a:xfrm>
            <a:off x="5973931" y="2537460"/>
            <a:ext cx="5242429" cy="2331720"/>
          </a:xfrm>
          <a:prstGeom prst="roundRect">
            <a:avLst/>
          </a:prstGeom>
          <a:solidFill>
            <a:srgbClr val="E5E9D6"/>
          </a:solidFill>
          <a:ln w="12700">
            <a:solidFill>
              <a:srgbClr val="DED7CC"/>
            </a:solidFill>
            <a:prstDash val="solid"/>
          </a:ln>
        </p:spPr>
      </p:sp>
      <p:sp>
        <p:nvSpPr>
          <p:cNvPr id="6" name="element_8ad7903520fb1065800bf4c66cb5ccc5"/>
          <p:cNvSpPr txBox="1"/>
          <p:nvPr/>
        </p:nvSpPr>
        <p:spPr>
          <a:xfrm>
            <a:off x="6339682" y="2743200"/>
            <a:ext cx="4998595"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No layout begins until the authoring contract binds audience, decision, evidence ledger, and claim-led storyboard.</a:t>
            </a:r>
            <a:endParaRPr lang="en-US" sz="1900" dirty="0"/>
          </a:p>
        </p:txBody>
      </p:sp>
      <p:sp>
        <p:nvSpPr>
          <p:cNvPr id="7" name="element_c56229fe24b29731b647a65eb8ebefc1"/>
          <p:cNvSpPr txBox="1"/>
          <p:nvPr/>
        </p:nvSpPr>
        <p:spPr>
          <a:xfrm>
            <a:off x="853419" y="288036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Audience and decision defined first</a:t>
            </a:r>
            <a:endParaRPr lang="en-US" sz="1700" dirty="0"/>
          </a:p>
        </p:txBody>
      </p:sp>
      <p:sp>
        <p:nvSpPr>
          <p:cNvPr id="8" name="element_e76055ebd820fa840a8bc40545440222"/>
          <p:cNvSpPr txBox="1"/>
          <p:nvPr/>
        </p:nvSpPr>
        <p:spPr>
          <a:xfrm>
            <a:off x="853419" y="370332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Evidence ledger bound before design</a:t>
            </a:r>
            <a:endParaRPr lang="en-US" sz="1700" dirty="0"/>
          </a:p>
        </p:txBody>
      </p:sp>
      <p:sp>
        <p:nvSpPr>
          <p:cNvPr id="9" name="element_94013a6aae8b8f27ff6f6a6b3aa3cf5f"/>
          <p:cNvSpPr txBox="1"/>
          <p:nvPr/>
        </p:nvSpPr>
        <p:spPr>
          <a:xfrm>
            <a:off x="853419" y="452628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Claim-led storyboard precedes layout</a:t>
            </a:r>
            <a:endParaRPr lang="en-US" sz="1700" dirty="0"/>
          </a:p>
        </p:txBody>
      </p:sp>
      <p:sp>
        <p:nvSpPr>
          <p:cNvPr id="10" name="element_495b1dad447894c3423c392a669696e1"/>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ed5c112747f0f0af5716dcdb66990c9a"/>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cb3d95a9747249b12374750b63a429e0"/>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0171d52e0da3ab0dad0438b369cdaf58"/>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PIPELINE</a:t>
            </a:r>
            <a:endParaRPr lang="en-US" sz="1500" dirty="0"/>
          </a:p>
        </p:txBody>
      </p:sp>
      <p:sp>
        <p:nvSpPr>
          <p:cNvPr id="4" name="element_83f76a762a1124bc045a9d8fdc02da61"/>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Fraunces Variable" pitchFamily="34" charset="0"/>
                <a:ea typeface="Fraunces Variable" pitchFamily="34" charset="-122"/>
                <a:cs typeface="Fraunces Variable" pitchFamily="34" charset="-120"/>
              </a:rPr>
              <a:t>From strategy to editable export through a governed agent pipeline</a:t>
            </a:r>
            <a:endParaRPr lang="en-US" sz="3800" dirty="0"/>
          </a:p>
        </p:txBody>
      </p:sp>
      <p:sp>
        <p:nvSpPr>
          <p:cNvPr id="5" name="element_e38a899f8b077492f7d605f7a86555fd"/>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 four-stage live-agent pipeline turns strategy into validated, editable export with review at every stage.</a:t>
            </a:r>
            <a:endParaRPr lang="en-US" sz="1900" dirty="0"/>
          </a:p>
        </p:txBody>
      </p:sp>
      <p:sp>
        <p:nvSpPr>
          <p:cNvPr id="6" name="element_3ac6327bb3dcd3ff989176c8167322eb"/>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Strategy sets the communication job</a:t>
            </a:r>
            <a:endParaRPr lang="en-US" sz="1700" dirty="0"/>
          </a:p>
        </p:txBody>
      </p:sp>
      <p:sp>
        <p:nvSpPr>
          <p:cNvPr id="7" name="element_0db7ff7f0f6917940db45ae1b220ebc7"/>
          <p:cNvSpPr txBox="1"/>
          <p:nvPr/>
        </p:nvSpPr>
        <p:spPr>
          <a:xfrm>
            <a:off x="853419" y="507492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Agent team authors the deck</a:t>
            </a:r>
            <a:endParaRPr lang="en-US" sz="1700" dirty="0"/>
          </a:p>
        </p:txBody>
      </p:sp>
      <p:sp>
        <p:nvSpPr>
          <p:cNvPr id="8" name="element_c4280f3fa8d30c77dc74c57ada5c2cab"/>
          <p:cNvSpPr txBox="1"/>
          <p:nvPr/>
        </p:nvSpPr>
        <p:spPr>
          <a:xfrm>
            <a:off x="853419" y="589788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Validate and review before export</a:t>
            </a:r>
            <a:endParaRPr lang="en-US" sz="1700" dirty="0"/>
          </a:p>
        </p:txBody>
      </p:sp>
      <p:sp>
        <p:nvSpPr>
          <p:cNvPr id="9" name="element_3b05e8ec62d34172db9837aceb44710c"/>
          <p:cNvSpPr/>
          <p:nvPr/>
        </p:nvSpPr>
        <p:spPr>
          <a:xfrm>
            <a:off x="6339682" y="3223260"/>
            <a:ext cx="993623" cy="1234440"/>
          </a:xfrm>
          <a:prstGeom prst="roundRect">
            <a:avLst/>
          </a:prstGeom>
          <a:solidFill>
            <a:srgbClr val="E5E9D6"/>
          </a:solidFill>
          <a:ln w="19050">
            <a:solidFill>
              <a:srgbClr val="DED7CC"/>
            </a:solidFill>
            <a:prstDash val="solid"/>
          </a:ln>
        </p:spPr>
      </p:sp>
      <p:sp>
        <p:nvSpPr>
          <p:cNvPr id="10" name="element_3b05e8ec62d34172db9837aceb44710c:text"/>
          <p:cNvSpPr txBox="1"/>
          <p:nvPr/>
        </p:nvSpPr>
        <p:spPr>
          <a:xfrm>
            <a:off x="6339682" y="3223260"/>
            <a:ext cx="993623" cy="1234440"/>
          </a:xfrm>
          <a:prstGeom prst="rect">
            <a:avLst/>
          </a:prstGeom>
          <a:noFill/>
          <a:ln/>
        </p:spPr>
        <p:txBody>
          <a:bodyPr wrap="square" lIns="76200" tIns="76200" rIns="76200" bIns="76200" rtlCol="0" anchor="ctr">
            <a:normAutofit/>
          </a:bodyPr>
          <a:lstStyle/>
          <a:p>
            <a:pPr algn="ctr" indent="0" marL="0">
              <a:lnSpc>
                <a:spcPct val="115000"/>
              </a:lnSpc>
              <a:buNone/>
            </a:pPr>
            <a:r>
              <a:rPr lang="en-US" sz="1400" b="1" dirty="0">
                <a:solidFill>
                  <a:srgbClr val="34452C"/>
                </a:solidFill>
                <a:latin typeface="Geist Variable" pitchFamily="34" charset="0"/>
                <a:ea typeface="Geist Variable" pitchFamily="34" charset="-122"/>
                <a:cs typeface="Geist Variable" pitchFamily="34" charset="-120"/>
              </a:rPr>
              <a:t>Strategy</a:t>
            </a:r>
            <a:endParaRPr lang="en-US" sz="1400" dirty="0"/>
          </a:p>
        </p:txBody>
      </p:sp>
      <p:sp>
        <p:nvSpPr>
          <p:cNvPr id="11" name="element_18abe0a4ba27adc9b10d06bb8cf6103e"/>
          <p:cNvSpPr/>
          <p:nvPr/>
        </p:nvSpPr>
        <p:spPr>
          <a:xfrm>
            <a:off x="7394263" y="3669030"/>
            <a:ext cx="219451" cy="0"/>
          </a:xfrm>
          <a:prstGeom prst="line">
            <a:avLst/>
          </a:prstGeom>
          <a:noFill/>
          <a:ln w="25400">
            <a:solidFill>
              <a:srgbClr val="7566A8"/>
            </a:solidFill>
            <a:prstDash val="solid"/>
            <a:tailEnd type="triangle"/>
          </a:ln>
        </p:spPr>
      </p:sp>
      <p:sp>
        <p:nvSpPr>
          <p:cNvPr id="12" name="element_947c06b174e05e2794c32a640a9077f2"/>
          <p:cNvSpPr/>
          <p:nvPr/>
        </p:nvSpPr>
        <p:spPr>
          <a:xfrm>
            <a:off x="7674672" y="3223260"/>
            <a:ext cx="993623" cy="1234440"/>
          </a:xfrm>
          <a:prstGeom prst="roundRect">
            <a:avLst/>
          </a:prstGeom>
          <a:solidFill>
            <a:srgbClr val="E5E9D6"/>
          </a:solidFill>
          <a:ln w="19050">
            <a:solidFill>
              <a:srgbClr val="DED7CC"/>
            </a:solidFill>
            <a:prstDash val="solid"/>
          </a:ln>
        </p:spPr>
      </p:sp>
      <p:sp>
        <p:nvSpPr>
          <p:cNvPr id="13" name="element_947c06b174e05e2794c32a640a9077f2:text"/>
          <p:cNvSpPr txBox="1"/>
          <p:nvPr/>
        </p:nvSpPr>
        <p:spPr>
          <a:xfrm>
            <a:off x="7674672" y="3223260"/>
            <a:ext cx="993623" cy="1234440"/>
          </a:xfrm>
          <a:prstGeom prst="rect">
            <a:avLst/>
          </a:prstGeom>
          <a:noFill/>
          <a:ln/>
        </p:spPr>
        <p:txBody>
          <a:bodyPr wrap="square" lIns="76200" tIns="76200" rIns="76200" bIns="76200" rtlCol="0" anchor="ctr">
            <a:normAutofit/>
          </a:bodyPr>
          <a:lstStyle/>
          <a:p>
            <a:pPr algn="ctr" indent="0" marL="0">
              <a:lnSpc>
                <a:spcPct val="115000"/>
              </a:lnSpc>
              <a:buNone/>
            </a:pPr>
            <a:r>
              <a:rPr lang="en-US" sz="1400" b="1" dirty="0">
                <a:solidFill>
                  <a:srgbClr val="34452C"/>
                </a:solidFill>
                <a:latin typeface="Geist Variable" pitchFamily="34" charset="0"/>
                <a:ea typeface="Geist Variable" pitchFamily="34" charset="-122"/>
                <a:cs typeface="Geist Variable" pitchFamily="34" charset="-120"/>
              </a:rPr>
              <a:t>Agent team</a:t>
            </a:r>
            <a:endParaRPr lang="en-US" sz="1400" dirty="0"/>
          </a:p>
        </p:txBody>
      </p:sp>
      <p:sp>
        <p:nvSpPr>
          <p:cNvPr id="14" name="element_a95f776864ee10209d644f7150555085"/>
          <p:cNvSpPr/>
          <p:nvPr/>
        </p:nvSpPr>
        <p:spPr>
          <a:xfrm>
            <a:off x="8729254" y="3669030"/>
            <a:ext cx="219451" cy="0"/>
          </a:xfrm>
          <a:prstGeom prst="line">
            <a:avLst/>
          </a:prstGeom>
          <a:noFill/>
          <a:ln w="25400">
            <a:solidFill>
              <a:srgbClr val="7566A8"/>
            </a:solidFill>
            <a:prstDash val="solid"/>
            <a:tailEnd type="triangle"/>
          </a:ln>
        </p:spPr>
      </p:sp>
      <p:sp>
        <p:nvSpPr>
          <p:cNvPr id="15" name="element_738b4e6855de015c260cff2c6359ed76"/>
          <p:cNvSpPr/>
          <p:nvPr/>
        </p:nvSpPr>
        <p:spPr>
          <a:xfrm>
            <a:off x="9009663" y="3223260"/>
            <a:ext cx="993623" cy="1234440"/>
          </a:xfrm>
          <a:prstGeom prst="roundRect">
            <a:avLst/>
          </a:prstGeom>
          <a:solidFill>
            <a:srgbClr val="E5E9D6"/>
          </a:solidFill>
          <a:ln w="19050">
            <a:solidFill>
              <a:srgbClr val="DED7CC"/>
            </a:solidFill>
            <a:prstDash val="solid"/>
          </a:ln>
        </p:spPr>
      </p:sp>
      <p:sp>
        <p:nvSpPr>
          <p:cNvPr id="16" name="element_738b4e6855de015c260cff2c6359ed76:text"/>
          <p:cNvSpPr txBox="1"/>
          <p:nvPr/>
        </p:nvSpPr>
        <p:spPr>
          <a:xfrm>
            <a:off x="9009663" y="3223260"/>
            <a:ext cx="993623" cy="1234440"/>
          </a:xfrm>
          <a:prstGeom prst="rect">
            <a:avLst/>
          </a:prstGeom>
          <a:noFill/>
          <a:ln/>
        </p:spPr>
        <p:txBody>
          <a:bodyPr wrap="square" lIns="76200" tIns="76200" rIns="76200" bIns="76200" rtlCol="0" anchor="ctr">
            <a:normAutofit/>
          </a:bodyPr>
          <a:lstStyle/>
          <a:p>
            <a:pPr algn="ctr" indent="0" marL="0">
              <a:lnSpc>
                <a:spcPct val="115000"/>
              </a:lnSpc>
              <a:buNone/>
            </a:pPr>
            <a:r>
              <a:rPr lang="en-US" sz="1400" b="1" dirty="0">
                <a:solidFill>
                  <a:srgbClr val="34452C"/>
                </a:solidFill>
                <a:latin typeface="Geist Variable" pitchFamily="34" charset="0"/>
                <a:ea typeface="Geist Variable" pitchFamily="34" charset="-122"/>
                <a:cs typeface="Geist Variable" pitchFamily="34" charset="-120"/>
              </a:rPr>
              <a:t>Validate + review</a:t>
            </a:r>
            <a:endParaRPr lang="en-US" sz="1400" dirty="0"/>
          </a:p>
        </p:txBody>
      </p:sp>
      <p:sp>
        <p:nvSpPr>
          <p:cNvPr id="17" name="element_478b1c3ad99ea74a0bb1dbd7c26138c2"/>
          <p:cNvSpPr/>
          <p:nvPr/>
        </p:nvSpPr>
        <p:spPr>
          <a:xfrm>
            <a:off x="10064244" y="3669030"/>
            <a:ext cx="219451" cy="0"/>
          </a:xfrm>
          <a:prstGeom prst="line">
            <a:avLst/>
          </a:prstGeom>
          <a:noFill/>
          <a:ln w="25400">
            <a:solidFill>
              <a:srgbClr val="7566A8"/>
            </a:solidFill>
            <a:prstDash val="solid"/>
            <a:tailEnd type="triangle"/>
          </a:ln>
        </p:spPr>
      </p:sp>
      <p:sp>
        <p:nvSpPr>
          <p:cNvPr id="18" name="element_916b4684e49ec11aea0759fa725cc13e"/>
          <p:cNvSpPr/>
          <p:nvPr/>
        </p:nvSpPr>
        <p:spPr>
          <a:xfrm>
            <a:off x="10344653" y="3223260"/>
            <a:ext cx="993623" cy="1234440"/>
          </a:xfrm>
          <a:prstGeom prst="roundRect">
            <a:avLst/>
          </a:prstGeom>
          <a:solidFill>
            <a:srgbClr val="E5E9D6"/>
          </a:solidFill>
          <a:ln w="19050">
            <a:solidFill>
              <a:srgbClr val="DED7CC"/>
            </a:solidFill>
            <a:prstDash val="solid"/>
          </a:ln>
        </p:spPr>
      </p:sp>
      <p:sp>
        <p:nvSpPr>
          <p:cNvPr id="19" name="element_916b4684e49ec11aea0759fa725cc13e:text"/>
          <p:cNvSpPr txBox="1"/>
          <p:nvPr/>
        </p:nvSpPr>
        <p:spPr>
          <a:xfrm>
            <a:off x="10344653" y="3223260"/>
            <a:ext cx="993623" cy="1234440"/>
          </a:xfrm>
          <a:prstGeom prst="rect">
            <a:avLst/>
          </a:prstGeom>
          <a:noFill/>
          <a:ln/>
        </p:spPr>
        <p:txBody>
          <a:bodyPr wrap="square" lIns="76200" tIns="76200" rIns="76200" bIns="76200" rtlCol="0" anchor="ctr">
            <a:normAutofit/>
          </a:bodyPr>
          <a:lstStyle/>
          <a:p>
            <a:pPr algn="ctr" indent="0" marL="0">
              <a:lnSpc>
                <a:spcPct val="115000"/>
              </a:lnSpc>
              <a:buNone/>
            </a:pPr>
            <a:r>
              <a:rPr lang="en-US" sz="1400" b="1" dirty="0">
                <a:solidFill>
                  <a:srgbClr val="34452C"/>
                </a:solidFill>
                <a:latin typeface="Geist Variable" pitchFamily="34" charset="0"/>
                <a:ea typeface="Geist Variable" pitchFamily="34" charset="-122"/>
                <a:cs typeface="Geist Variable" pitchFamily="34" charset="-120"/>
              </a:rPr>
              <a:t>Editable export</a:t>
            </a:r>
            <a:endParaRPr lang="en-US" sz="1400" dirty="0"/>
          </a:p>
        </p:txBody>
      </p:sp>
      <p:sp>
        <p:nvSpPr>
          <p:cNvPr id="20" name="element_1d0f274ae83d22f72c58faadfd83aa63"/>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21" name="element_ff62e9f12dfaeaa887983eb0dfdbd8b6"/>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3a3b91e5d91a9a8dc04b5ed5346ed650"/>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039ef358d86d22a786d4dba6397689a5"/>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SAFETY</a:t>
            </a:r>
            <a:endParaRPr lang="en-US" sz="1500" dirty="0"/>
          </a:p>
        </p:txBody>
      </p:sp>
      <p:sp>
        <p:nvSpPr>
          <p:cNvPr id="4" name="element_e272aa18771113c381f830cb30f6250a"/>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Fraunces Variable" pitchFamily="34" charset="0"/>
                <a:ea typeface="Fraunces Variable" pitchFamily="34" charset="-122"/>
                <a:cs typeface="Fraunces Variable" pitchFamily="34" charset="-120"/>
              </a:rPr>
              <a:t>Bounded repair on the left; versioned policy evolution on the right</a:t>
            </a:r>
            <a:endParaRPr lang="en-US" sz="3800" dirty="0"/>
          </a:p>
        </p:txBody>
      </p:sp>
      <p:sp>
        <p:nvSpPr>
          <p:cNvPr id="5" name="element_9381638f5925d9def9d6ffc9bcffffb9"/>
          <p:cNvSpPr/>
          <p:nvPr/>
        </p:nvSpPr>
        <p:spPr>
          <a:xfrm>
            <a:off x="5912972" y="2674620"/>
            <a:ext cx="121917" cy="2468880"/>
          </a:xfrm>
          <a:prstGeom prst="roundRect">
            <a:avLst/>
          </a:prstGeom>
          <a:solidFill>
            <a:srgbClr val="7566A8"/>
          </a:solidFill>
          <a:ln w="12700">
            <a:solidFill>
              <a:srgbClr val="FFFFFF">
                <a:alpha val="0"/>
              </a:srgbClr>
            </a:solidFill>
            <a:prstDash val="solid"/>
          </a:ln>
        </p:spPr>
      </p:sp>
      <p:sp>
        <p:nvSpPr>
          <p:cNvPr id="6" name="element_2c37b26b3e27ae8e5d4cdcc0a4cee748"/>
          <p:cNvSpPr txBox="1"/>
          <p:nvPr/>
        </p:nvSpPr>
        <p:spPr>
          <a:xfrm>
            <a:off x="6339682" y="2743200"/>
            <a:ext cx="4998595"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Left: bounded repair keeps fixes scoped and reviewable. Right: HyperAgent-inspired versioned policy evolution, held-out evaluation, and safe promotion.</a:t>
            </a:r>
            <a:endParaRPr lang="en-US" sz="1900" dirty="0"/>
          </a:p>
        </p:txBody>
      </p:sp>
      <p:sp>
        <p:nvSpPr>
          <p:cNvPr id="7" name="element_5c7893d210b67562ebd7dda30abdd013"/>
          <p:cNvSpPr txBox="1"/>
          <p:nvPr/>
        </p:nvSpPr>
        <p:spPr>
          <a:xfrm>
            <a:off x="853419" y="288036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Bounded repair: scoped, reviewable fixes</a:t>
            </a:r>
            <a:endParaRPr lang="en-US" sz="1700" dirty="0"/>
          </a:p>
        </p:txBody>
      </p:sp>
      <p:sp>
        <p:nvSpPr>
          <p:cNvPr id="8" name="element_17102b065893ee5d6fce921915eb7411"/>
          <p:cNvSpPr txBox="1"/>
          <p:nvPr/>
        </p:nvSpPr>
        <p:spPr>
          <a:xfrm>
            <a:off x="853419" y="370332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Versioned policy evolution: held-out evaluation</a:t>
            </a:r>
            <a:endParaRPr lang="en-US" sz="1700" dirty="0"/>
          </a:p>
        </p:txBody>
      </p:sp>
      <p:sp>
        <p:nvSpPr>
          <p:cNvPr id="9" name="element_bd290dfae75c7d360e039a0262e890c7"/>
          <p:cNvSpPr txBox="1"/>
          <p:nvPr/>
        </p:nvSpPr>
        <p:spPr>
          <a:xfrm>
            <a:off x="853419" y="452628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Safe promotion: no production mutation</a:t>
            </a:r>
            <a:endParaRPr lang="en-US" sz="1700" dirty="0"/>
          </a:p>
        </p:txBody>
      </p:sp>
      <p:sp>
        <p:nvSpPr>
          <p:cNvPr id="10" name="element_28166061bd2a735242c66b224181c051"/>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af7c61e64735f3abe3c65ea5d881a6fc"/>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0c08ac97692134cfde559cc0be535e18"/>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a28d921469ae63d266edd00ef975e5d1"/>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a:t>
            </a:r>
            <a:endParaRPr lang="en-US" sz="1500" dirty="0"/>
          </a:p>
        </p:txBody>
      </p:sp>
      <p:sp>
        <p:nvSpPr>
          <p:cNvPr id="4" name="element_a4208b7e2ff5f118c5f1e594cb11b26e"/>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Fraunces Variable" pitchFamily="34" charset="0"/>
                <a:ea typeface="Fraunces Variable" pitchFamily="34" charset="-122"/>
                <a:cs typeface="Fraunces Variable" pitchFamily="34" charset="-120"/>
              </a:rPr>
              <a:t>A live run is only real when its receipt survives export.</a:t>
            </a:r>
            <a:endParaRPr lang="en-US" sz="3800" dirty="0"/>
          </a:p>
        </p:txBody>
      </p:sp>
      <p:sp>
        <p:nvSpPr>
          <p:cNvPr id="5" name="element_aff2ec6f7bcb29b0abc0df3faa06d622"/>
          <p:cNvSpPr/>
          <p:nvPr/>
        </p:nvSpPr>
        <p:spPr>
          <a:xfrm>
            <a:off x="792460" y="4046220"/>
            <a:ext cx="3169841" cy="1371600"/>
          </a:xfrm>
          <a:prstGeom prst="roundRect">
            <a:avLst/>
          </a:prstGeom>
          <a:solidFill>
            <a:srgbClr val="E5E9D6"/>
          </a:solidFill>
          <a:ln w="12700">
            <a:solidFill>
              <a:srgbClr val="DED7CC"/>
            </a:solidFill>
            <a:prstDash val="solid"/>
          </a:ln>
        </p:spPr>
      </p:sp>
      <p:sp>
        <p:nvSpPr>
          <p:cNvPr id="6" name="element_ac93c500d094829a7635c7555f26dfe1"/>
          <p:cNvSpPr/>
          <p:nvPr/>
        </p:nvSpPr>
        <p:spPr>
          <a:xfrm>
            <a:off x="4206135" y="4046220"/>
            <a:ext cx="3169841" cy="1371600"/>
          </a:xfrm>
          <a:prstGeom prst="roundRect">
            <a:avLst/>
          </a:prstGeom>
          <a:solidFill>
            <a:srgbClr val="E5E9D6"/>
          </a:solidFill>
          <a:ln w="12700">
            <a:solidFill>
              <a:srgbClr val="DED7CC"/>
            </a:solidFill>
            <a:prstDash val="solid"/>
          </a:ln>
        </p:spPr>
      </p:sp>
      <p:sp>
        <p:nvSpPr>
          <p:cNvPr id="7" name="element_82bb84abdc019cf654c7ece9ae72dc20"/>
          <p:cNvSpPr/>
          <p:nvPr/>
        </p:nvSpPr>
        <p:spPr>
          <a:xfrm>
            <a:off x="7619810" y="4046220"/>
            <a:ext cx="3169841" cy="1371600"/>
          </a:xfrm>
          <a:prstGeom prst="roundRect">
            <a:avLst/>
          </a:prstGeom>
          <a:solidFill>
            <a:srgbClr val="E5E9D6"/>
          </a:solidFill>
          <a:ln w="12700">
            <a:solidFill>
              <a:srgbClr val="DED7CC"/>
            </a:solidFill>
            <a:prstDash val="solid"/>
          </a:ln>
        </p:spPr>
      </p:sp>
      <p:sp>
        <p:nvSpPr>
          <p:cNvPr id="8" name="element_f4ec6699e697d9950c5194f64f313ea3"/>
          <p:cNvSpPr txBox="1"/>
          <p:nvPr/>
        </p:nvSpPr>
        <p:spPr>
          <a:xfrm>
            <a:off x="853419" y="2743200"/>
            <a:ext cx="9997190" cy="8915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Labeled proof slots make every release auditable. No values are invented; slots are filled only when evidence is supplied.</a:t>
            </a:r>
            <a:endParaRPr lang="en-US" sz="1900" dirty="0"/>
          </a:p>
        </p:txBody>
      </p:sp>
      <p:sp>
        <p:nvSpPr>
          <p:cNvPr id="9" name="element_e10f6ec9e6f05d171fb8f03069f75564"/>
          <p:cNvSpPr txBox="1"/>
          <p:nvPr/>
        </p:nvSpPr>
        <p:spPr>
          <a:xfrm>
            <a:off x="853419" y="425196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Provider and named model recorded</a:t>
            </a:r>
            <a:endParaRPr lang="en-US" sz="1600" dirty="0"/>
          </a:p>
        </p:txBody>
      </p:sp>
      <p:sp>
        <p:nvSpPr>
          <p:cNvPr id="10" name="element_28048a15f2e462aff9950b27bf78aaee"/>
          <p:cNvSpPr txBox="1"/>
          <p:nvPr/>
        </p:nvSpPr>
        <p:spPr>
          <a:xfrm>
            <a:off x="4267093" y="425196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Input and output tokens with nonzero cost</a:t>
            </a:r>
            <a:endParaRPr lang="en-US" sz="1600" dirty="0"/>
          </a:p>
        </p:txBody>
      </p:sp>
      <p:sp>
        <p:nvSpPr>
          <p:cNvPr id="11" name="element_99cf09e02c71492627dcc19ca5449d37"/>
          <p:cNvSpPr txBox="1"/>
          <p:nvPr/>
        </p:nvSpPr>
        <p:spPr>
          <a:xfrm>
            <a:off x="7680768" y="425196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Candidate digest, validation receipt, version delta, export artifact</a:t>
            </a:r>
            <a:endParaRPr lang="en-US" sz="1600" dirty="0"/>
          </a:p>
        </p:txBody>
      </p:sp>
      <p:sp>
        <p:nvSpPr>
          <p:cNvPr id="12" name="element_4e707cc296d74558a8c3c56c24ac5b83"/>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5b7d8f63c7222a5deccf4c2d4483eadd"/>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c620e3bb5a05428292a3235743888a3d"/>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5474f609b56d2e9f91027df99b2ab808"/>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DECISION</a:t>
            </a:r>
            <a:endParaRPr lang="en-US" sz="1500" dirty="0"/>
          </a:p>
        </p:txBody>
      </p:sp>
      <p:sp>
        <p:nvSpPr>
          <p:cNvPr id="4" name="element_edc57a429e1b5105cd7337f11aa12611"/>
          <p:cNvSpPr txBox="1"/>
          <p:nvPr/>
        </p:nvSpPr>
        <p:spPr>
          <a:xfrm>
            <a:off x="853419" y="1028700"/>
            <a:ext cx="9753356" cy="1371600"/>
          </a:xfrm>
          <a:prstGeom prst="rect">
            <a:avLst/>
          </a:prstGeom>
          <a:noFill/>
          <a:ln/>
        </p:spPr>
        <p:txBody>
          <a:bodyPr wrap="square" lIns="0" tIns="0" rIns="0" bIns="0" rtlCol="0" anchor="t">
            <a:normAutofit/>
          </a:bodyPr>
          <a:lstStyle/>
          <a:p>
            <a:pPr algn="l" indent="0" marL="0">
              <a:lnSpc>
                <a:spcPct val="104000"/>
              </a:lnSpc>
              <a:buNone/>
            </a:pPr>
            <a:r>
              <a:rPr lang="en-US" sz="4200" b="1" spc="-80" kern="0" dirty="0">
                <a:solidFill>
                  <a:srgbClr val="26221D"/>
                </a:solidFill>
                <a:latin typeface="Fraunces Variable" pitchFamily="34" charset="0"/>
                <a:ea typeface="Fraunces Variable" pitchFamily="34" charset="-122"/>
                <a:cs typeface="Fraunces Variable" pitchFamily="34" charset="-120"/>
              </a:rPr>
              <a:t>Approve the quality gate and require recorded proof for every release</a:t>
            </a:r>
            <a:endParaRPr lang="en-US" sz="4200" dirty="0"/>
          </a:p>
        </p:txBody>
      </p:sp>
      <p:sp>
        <p:nvSpPr>
          <p:cNvPr id="5" name="element_15c7af9c69a0db1eed20d808aee44ae7"/>
          <p:cNvSpPr/>
          <p:nvPr/>
        </p:nvSpPr>
        <p:spPr>
          <a:xfrm>
            <a:off x="853419" y="4594860"/>
            <a:ext cx="9997190" cy="82296"/>
          </a:xfrm>
          <a:prstGeom prst="roundRect">
            <a:avLst/>
          </a:prstGeom>
          <a:solidFill>
            <a:srgbClr val="B44A2D"/>
          </a:solidFill>
          <a:ln w="12700">
            <a:solidFill>
              <a:srgbClr val="FFFFFF">
                <a:alpha val="0"/>
              </a:srgbClr>
            </a:solidFill>
            <a:prstDash val="solid"/>
          </a:ln>
        </p:spPr>
      </p:sp>
      <p:sp>
        <p:nvSpPr>
          <p:cNvPr id="6" name="element_e1e4d3abb5764e83bbd319f8c8102d9e"/>
          <p:cNvSpPr txBox="1"/>
          <p:nvPr/>
        </p:nvSpPr>
        <p:spPr>
          <a:xfrm>
            <a:off x="853419" y="2743200"/>
            <a:ext cx="804651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The release-gate checklist ensures governance, editability, and proof before any ship. Approve the roadmap and require recorded browser proof.</a:t>
            </a:r>
            <a:endParaRPr lang="en-US" sz="1900" dirty="0"/>
          </a:p>
        </p:txBody>
      </p:sp>
      <p:sp>
        <p:nvSpPr>
          <p:cNvPr id="7" name="element_27be3bf6068c84f95b90b2562b23b3e0"/>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Governance and editability verified</a:t>
            </a:r>
            <a:endParaRPr lang="en-US" sz="1600" dirty="0"/>
          </a:p>
        </p:txBody>
      </p:sp>
      <p:sp>
        <p:nvSpPr>
          <p:cNvPr id="8" name="element_dd94e7e6bc72ac76dace52a68ff372a8"/>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Recorded browser proof required</a:t>
            </a:r>
            <a:endParaRPr lang="en-US" sz="1600" dirty="0"/>
          </a:p>
        </p:txBody>
      </p:sp>
      <p:sp>
        <p:nvSpPr>
          <p:cNvPr id="9" name="element_c44ded8408468f711b89ebd3da548471"/>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Approve the governed authoring roadmap</a:t>
            </a:r>
            <a:endParaRPr lang="en-US" sz="1600" dirty="0"/>
          </a:p>
        </p:txBody>
      </p:sp>
      <p:sp>
        <p:nvSpPr>
          <p:cNvPr id="10" name="element_7ebdaece7858dac8960c3906b0303e31"/>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d873f37bfac1f6671b52d88d34163dd8"/>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Fraunces Variab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exactly seven visually ambitious, claim-led slides explaining…</dc:title>
  <dc:subject>Create an editable, reviewable presentation from this idea</dc:subject>
  <dc:creator>NodeSlide</dc:creator>
  <cp:lastModifiedBy>NodeSlide</cp:lastModifiedBy>
  <cp:revision>1</cp:revision>
  <dcterms:created xsi:type="dcterms:W3CDTF">2026-07-16T21:14:44Z</dcterms:created>
  <dcterms:modified xsi:type="dcterms:W3CDTF">2026-07-16T21:14:44Z</dcterms:modified>
</cp:coreProperties>
</file>