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Layout intent: hero. Keep the spoken transition focused on “Is a bold thesis cover: “NodeSlide must beat one-shot generation on governed creativity,” with one supporting line and…”
Evidence note: Content is based on the supplied creation brief. Illustrative examples are not independently verified; replace them with measured evidence before external publication.
NodeSlide sources
[source_c0b997107de518af5d5487d3f6d92ea3]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Layout intent: comparison. Keep the spoken transition focused on “Is a three-column competitive landscape”
Evidence note: Content is based on the supplied creation brief. Illustrative examples are not independently verified; replace them with measured evidence before external publication.
NodeSlide sources
[source_c0b997107de518af5d5487d3f6d92ea3]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Layout intent: contract. Keep the spoken transition focused on “Is an authoring contract that locks audience, decision, evidence ledger, and claim-led storyboard before layout”
Evidence note: Content is based on the supplied creation brief. Illustrative examples are not independently verified; replace them with measured evidence before external publication.
NodeSlide sources
[source_c0b997107de518af5d5487d3f6d92ea3]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Layout intent: split. Keep the spoken transition focused on “Is the only diagram: use exactly four short native editable nodes labeled Strategy, Agent team, Validate + review, and…”
Evidence note: Content is based on the supplied creation brief. Illustrative examples are not independently verified; replace them with measured evidence before external publication.
NodeSlide sources
[source_c0b997107de518af5d5487d3f6d92ea3]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Layout intent: contract. Keep the spoken transition focused on “A split composition: bounded repair on the left; HyperAgent-inspired versioned policy evolution, held-out evaluation, a…”
Evidence note: Content is based on the supplied creation brief. Illustrative examples are not independently verified; replace them with measured evidence before external publication.
NodeSlide sources
[source_c0b997107de518af5d5487d3f6d92ea3]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
[source_5451ffb904c40c76762b91a1163df8d9] Brief success criteria
Citation: Exactly 7 slides in the requested narrative; Structured chart, formula, and image primitives where relevant; Validation passes before presentation or export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Layout intent: evidence_board. Keep the spoken transition focused on “Is an evidence board with labeled proof slots for provider, named model, input and output tokens, nonzero cost, candida…”
Evidence note: Content is based on the supplied creation brief. Illustrative examples are not independently verified; replace them with measured evidence before external publication.
NodeSlide sources
[source_c0b997107de518af5d5487d3f6d92ea3]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Layout intent: decision. Keep the spoken transition focused on “Is a decisive release-gate checklist ending with “Approve the quality gate and require recorded proof for every release”
Evidence note: Content is based on the supplied creation brief. Illustrative examples are not independently verified; replace them with measured evidence before external publication.
NodeSlide sources
[source_c0b997107de518af5d5487d3f6d92ea3]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ae8386d8343330859e8576e35736ee82"/>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a376328b547b5110773b554c8ef2c40d"/>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890c57cba85193c9ee0a34b61ad5f743"/>
          <p:cNvSpPr txBox="1"/>
          <p:nvPr/>
        </p:nvSpPr>
        <p:spPr>
          <a:xfrm>
            <a:off x="853419" y="1028700"/>
            <a:ext cx="7558851"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Fraunces Variable" pitchFamily="34" charset="0"/>
                <a:ea typeface="Fraunces Variable" pitchFamily="34" charset="-122"/>
                <a:cs typeface="Fraunces Variable" pitchFamily="34" charset="-120"/>
              </a:rPr>
              <a:t>Is a bold thesis cover: “NodeSlide must beat one-shot generation on governed creativity,” with one supporting line and…</a:t>
            </a:r>
            <a:endParaRPr lang="en-US" sz="4800" dirty="0"/>
          </a:p>
        </p:txBody>
      </p:sp>
      <p:sp>
        <p:nvSpPr>
          <p:cNvPr id="5" name="element_ea1dc38e10808bdd596857fe03f84f71"/>
          <p:cNvSpPr/>
          <p:nvPr/>
        </p:nvSpPr>
        <p:spPr>
          <a:xfrm>
            <a:off x="9387605" y="1234440"/>
            <a:ext cx="1463003" cy="685800"/>
          </a:xfrm>
          <a:prstGeom prst="roundRect">
            <a:avLst/>
          </a:prstGeom>
          <a:solidFill>
            <a:srgbClr val="F2DED3"/>
          </a:solidFill>
          <a:ln w="25400">
            <a:solidFill>
              <a:srgbClr val="B44A2D"/>
            </a:solidFill>
            <a:prstDash val="solid"/>
          </a:ln>
        </p:spPr>
      </p:sp>
      <p:sp>
        <p:nvSpPr>
          <p:cNvPr id="6" name="element_73a99de7ec68f1b55bb646925dcbe351"/>
          <p:cNvSpPr/>
          <p:nvPr/>
        </p:nvSpPr>
        <p:spPr>
          <a:xfrm rot="-480000">
            <a:off x="8778021" y="2125980"/>
            <a:ext cx="2072588" cy="411480"/>
          </a:xfrm>
          <a:prstGeom prst="roundRect">
            <a:avLst/>
          </a:prstGeom>
          <a:solidFill>
            <a:srgbClr val="7566A8"/>
          </a:solidFill>
          <a:ln w="12700">
            <a:solidFill>
              <a:srgbClr val="FFFFFF">
                <a:alpha val="0"/>
              </a:srgbClr>
            </a:solidFill>
            <a:prstDash val="solid"/>
          </a:ln>
        </p:spPr>
      </p:sp>
      <p:sp>
        <p:nvSpPr>
          <p:cNvPr id="7" name="element_127c92a0acb7abbf23c331a0d243006a"/>
          <p:cNvSpPr/>
          <p:nvPr/>
        </p:nvSpPr>
        <p:spPr>
          <a:xfrm rot="420000">
            <a:off x="9875273" y="2674620"/>
            <a:ext cx="975336" cy="685800"/>
          </a:xfrm>
          <a:prstGeom prst="roundRect">
            <a:avLst/>
          </a:prstGeom>
          <a:solidFill>
            <a:srgbClr val="F2DED3"/>
          </a:solidFill>
          <a:ln w="12700">
            <a:solidFill>
              <a:srgbClr val="FFFFFF">
                <a:alpha val="0"/>
              </a:srgbClr>
            </a:solidFill>
            <a:prstDash val="solid"/>
          </a:ln>
        </p:spPr>
      </p:sp>
      <p:sp>
        <p:nvSpPr>
          <p:cNvPr id="8" name="element_7a96554704f1b7c0359e79adfbd5e36c"/>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NodeSlide should compete on governed creativity: a strong story, editable native objects, durable validation, and proof from the real browser path.</a:t>
            </a:r>
            <a:endParaRPr lang="en-US" sz="1900" dirty="0"/>
          </a:p>
        </p:txBody>
      </p:sp>
      <p:sp>
        <p:nvSpPr>
          <p:cNvPr id="9" name="element_70fe111dc6093e052aeaeeec7278040c"/>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Evidence-backed acceptance</a:t>
            </a:r>
            <a:endParaRPr lang="en-US" sz="1600" dirty="0"/>
          </a:p>
        </p:txBody>
      </p:sp>
      <p:sp>
        <p:nvSpPr>
          <p:cNvPr id="10" name="element_9be66588d89c023c3b352c0a3e784ed5"/>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Editable native output</a:t>
            </a:r>
            <a:endParaRPr lang="en-US" sz="1600" dirty="0"/>
          </a:p>
        </p:txBody>
      </p:sp>
      <p:sp>
        <p:nvSpPr>
          <p:cNvPr id="11" name="element_5fc1b9bb66d419bae7628916e2e8f5dc"/>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Recorded end-to-end proof</a:t>
            </a:r>
            <a:endParaRPr lang="en-US" sz="1600" dirty="0"/>
          </a:p>
        </p:txBody>
      </p:sp>
      <p:sp>
        <p:nvSpPr>
          <p:cNvPr id="12" name="element_bb85f9e8ef351d5e9d7c8444255ad3e4"/>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267a140a5f5b64f5feddd4efd1858822"/>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da9522741a11e0f0afb1f7fce6cc7b34"/>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7cfe599a9a84590d42782c803ae76658"/>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4a4bd84f2eaa1dc3bb7ad0005282028c"/>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Is a three-column competitive landscape</a:t>
            </a:r>
            <a:endParaRPr lang="en-US" sz="3800" dirty="0"/>
          </a:p>
        </p:txBody>
      </p:sp>
      <p:sp>
        <p:nvSpPr>
          <p:cNvPr id="5" name="element_1ec02a81c40055e7bd30468eb799a93b"/>
          <p:cNvSpPr/>
          <p:nvPr/>
        </p:nvSpPr>
        <p:spPr>
          <a:xfrm>
            <a:off x="792460" y="4046220"/>
            <a:ext cx="3169841" cy="1371600"/>
          </a:xfrm>
          <a:prstGeom prst="roundRect">
            <a:avLst/>
          </a:prstGeom>
          <a:solidFill>
            <a:srgbClr val="F2DED3"/>
          </a:solidFill>
          <a:ln w="12700">
            <a:solidFill>
              <a:srgbClr val="DED7CC"/>
            </a:solidFill>
            <a:prstDash val="solid"/>
          </a:ln>
        </p:spPr>
      </p:sp>
      <p:sp>
        <p:nvSpPr>
          <p:cNvPr id="6" name="element_6b78ff9e026967a1c864d37bebb30a38"/>
          <p:cNvSpPr/>
          <p:nvPr/>
        </p:nvSpPr>
        <p:spPr>
          <a:xfrm>
            <a:off x="4206135" y="4046220"/>
            <a:ext cx="3169841" cy="1371600"/>
          </a:xfrm>
          <a:prstGeom prst="roundRect">
            <a:avLst/>
          </a:prstGeom>
          <a:solidFill>
            <a:srgbClr val="F2DED3"/>
          </a:solidFill>
          <a:ln w="12700">
            <a:solidFill>
              <a:srgbClr val="DED7CC"/>
            </a:solidFill>
            <a:prstDash val="solid"/>
          </a:ln>
        </p:spPr>
      </p:sp>
      <p:sp>
        <p:nvSpPr>
          <p:cNvPr id="7" name="element_e9b4037ccdc453959c9af0252116c27a"/>
          <p:cNvSpPr/>
          <p:nvPr/>
        </p:nvSpPr>
        <p:spPr>
          <a:xfrm>
            <a:off x="7619810" y="4046220"/>
            <a:ext cx="3169841" cy="1371600"/>
          </a:xfrm>
          <a:prstGeom prst="roundRect">
            <a:avLst/>
          </a:prstGeom>
          <a:solidFill>
            <a:srgbClr val="F2DED3"/>
          </a:solidFill>
          <a:ln w="12700">
            <a:solidFill>
              <a:srgbClr val="DED7CC"/>
            </a:solidFill>
            <a:prstDash val="solid"/>
          </a:ln>
        </p:spPr>
      </p:sp>
      <p:sp>
        <p:nvSpPr>
          <p:cNvPr id="8" name="element_7a16eabaded3f174da76fe04065943c8"/>
          <p:cNvSpPr txBox="1"/>
          <p:nvPr/>
        </p:nvSpPr>
        <p:spPr>
          <a:xfrm>
            <a:off x="853419" y="2743200"/>
            <a:ext cx="9997190" cy="8915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Make is a three-column competitive landscape concrete without inventing unsupported facts.</a:t>
            </a:r>
            <a:endParaRPr lang="en-US" sz="1900" dirty="0"/>
          </a:p>
        </p:txBody>
      </p:sp>
      <p:sp>
        <p:nvSpPr>
          <p:cNvPr id="9" name="element_3c95d766606cae585e4af8071f549c46"/>
          <p:cNvSpPr txBox="1"/>
          <p:nvPr/>
        </p:nvSpPr>
        <p:spPr>
          <a:xfrm>
            <a:off x="853419" y="425196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One distinct narrative job</a:t>
            </a:r>
            <a:endParaRPr lang="en-US" sz="1600" dirty="0"/>
          </a:p>
        </p:txBody>
      </p:sp>
      <p:sp>
        <p:nvSpPr>
          <p:cNvPr id="10" name="element_790cceeaf79fc473689c154f981f99ad"/>
          <p:cNvSpPr txBox="1"/>
          <p:nvPr/>
        </p:nvSpPr>
        <p:spPr>
          <a:xfrm>
            <a:off x="4267093" y="425196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Editable presentation primitives</a:t>
            </a:r>
            <a:endParaRPr lang="en-US" sz="1600" dirty="0"/>
          </a:p>
        </p:txBody>
      </p:sp>
      <p:sp>
        <p:nvSpPr>
          <p:cNvPr id="11" name="element_a43401814a29f0f3b2b2d20d0fa642ec"/>
          <p:cNvSpPr txBox="1"/>
          <p:nvPr/>
        </p:nvSpPr>
        <p:spPr>
          <a:xfrm>
            <a:off x="7680768" y="425196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No unsupported factual claims</a:t>
            </a:r>
            <a:endParaRPr lang="en-US" sz="1600" dirty="0"/>
          </a:p>
        </p:txBody>
      </p:sp>
      <p:sp>
        <p:nvSpPr>
          <p:cNvPr id="12" name="element_b868188232c191bd08790a490ad1e3eb"/>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611f36a1f5235e359a85f0c990b681f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36180da3ce0a082da91c257e14a3e252"/>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31ca6ec814a7e6d244286c6fcb6b8628"/>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4839c337ae4f998be7696135b7e8e132"/>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Is an authoring contract that locks audience, decision, evidence ledger, and claim-led storyboard before layout</a:t>
            </a:r>
            <a:endParaRPr lang="en-US" sz="3800" dirty="0"/>
          </a:p>
        </p:txBody>
      </p:sp>
      <p:sp>
        <p:nvSpPr>
          <p:cNvPr id="5" name="element_1680c842f8abc564ff2abfe876778ae0"/>
          <p:cNvSpPr/>
          <p:nvPr/>
        </p:nvSpPr>
        <p:spPr>
          <a:xfrm>
            <a:off x="5973931" y="2537460"/>
            <a:ext cx="5242429" cy="2331720"/>
          </a:xfrm>
          <a:prstGeom prst="roundRect">
            <a:avLst/>
          </a:prstGeom>
          <a:solidFill>
            <a:srgbClr val="E5E9D6"/>
          </a:solidFill>
          <a:ln w="12700">
            <a:solidFill>
              <a:srgbClr val="DED7CC"/>
            </a:solidFill>
            <a:prstDash val="solid"/>
          </a:ln>
        </p:spPr>
      </p:sp>
      <p:sp>
        <p:nvSpPr>
          <p:cNvPr id="6" name="element_299a1b8f44fb9143acc2b416776767d3"/>
          <p:cNvSpPr txBox="1"/>
          <p:nvPr/>
        </p:nvSpPr>
        <p:spPr>
          <a:xfrm>
            <a:off x="6339682" y="2743200"/>
            <a:ext cx="4998595"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Start with the communication job: name the audience, decision, central takeaway, and success signal.</a:t>
            </a:r>
            <a:endParaRPr lang="en-US" sz="1900" dirty="0"/>
          </a:p>
        </p:txBody>
      </p:sp>
      <p:sp>
        <p:nvSpPr>
          <p:cNvPr id="7" name="element_7b22569e75f2a1cc4f230c545d3d1dae"/>
          <p:cNvSpPr txBox="1"/>
          <p:nvPr/>
        </p:nvSpPr>
        <p:spPr>
          <a:xfrm>
            <a:off x="853419" y="288036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audience and decision</a:t>
            </a:r>
            <a:endParaRPr lang="en-US" sz="1700" dirty="0"/>
          </a:p>
        </p:txBody>
      </p:sp>
      <p:sp>
        <p:nvSpPr>
          <p:cNvPr id="8" name="element_c5a17818a53b4d483ac6a116bec7b39c"/>
          <p:cNvSpPr txBox="1"/>
          <p:nvPr/>
        </p:nvSpPr>
        <p:spPr>
          <a:xfrm>
            <a:off x="853419" y="370332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State the central takeaway</a:t>
            </a:r>
            <a:endParaRPr lang="en-US" sz="1700" dirty="0"/>
          </a:p>
        </p:txBody>
      </p:sp>
      <p:sp>
        <p:nvSpPr>
          <p:cNvPr id="9" name="element_417ba2a6d4c1827ad15eea6c320ca644"/>
          <p:cNvSpPr txBox="1"/>
          <p:nvPr/>
        </p:nvSpPr>
        <p:spPr>
          <a:xfrm>
            <a:off x="853419" y="452628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Define the release bar</a:t>
            </a:r>
            <a:endParaRPr lang="en-US" sz="1700" dirty="0"/>
          </a:p>
        </p:txBody>
      </p:sp>
      <p:sp>
        <p:nvSpPr>
          <p:cNvPr id="10" name="element_17a6d247bb84116fbd7d1e5b424938d3"/>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86d6fd913b60affe70b7a46a76c8f338"/>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4cd9d3b633cfdf9f95be239e559b23b1"/>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5574e0e9759414352b89d0d86dc022a4"/>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d01c25554c64670acfcbeac798dda989"/>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Is the only diagram: use exactly four short native editable nodes labeled Strategy, Agent team, Validate + review, and…</a:t>
            </a:r>
            <a:endParaRPr lang="en-US" sz="3800" dirty="0"/>
          </a:p>
        </p:txBody>
      </p:sp>
      <p:sp>
        <p:nvSpPr>
          <p:cNvPr id="5" name="element_2f9f6f3cfad4bf45426a348a4c0f73c9"/>
          <p:cNvSpPr/>
          <p:nvPr/>
        </p:nvSpPr>
        <p:spPr>
          <a:xfrm>
            <a:off x="5912972" y="2674620"/>
            <a:ext cx="121917" cy="2468880"/>
          </a:xfrm>
          <a:prstGeom prst="roundRect">
            <a:avLst/>
          </a:prstGeom>
          <a:solidFill>
            <a:srgbClr val="7566A8"/>
          </a:solidFill>
          <a:ln w="12700">
            <a:solidFill>
              <a:srgbClr val="FFFFFF">
                <a:alpha val="0"/>
              </a:srgbClr>
            </a:solidFill>
            <a:prstDash val="solid"/>
          </a:ln>
        </p:spPr>
      </p:sp>
      <p:sp>
        <p:nvSpPr>
          <p:cNvPr id="6" name="element_54732757236832e46adf7f0886f4d75a"/>
          <p:cNvSpPr txBox="1"/>
          <p:nvPr/>
        </p:nvSpPr>
        <p:spPr>
          <a:xfrm>
            <a:off x="6339682" y="2743200"/>
            <a:ext cx="4998595"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Start with the communication job: name the audience, decision, central takeaway, and success signal.</a:t>
            </a:r>
            <a:endParaRPr lang="en-US" sz="1900" dirty="0"/>
          </a:p>
        </p:txBody>
      </p:sp>
      <p:sp>
        <p:nvSpPr>
          <p:cNvPr id="7" name="element_d5e4b3aad1a56d8cc34f48ba1510aeda"/>
          <p:cNvSpPr txBox="1"/>
          <p:nvPr/>
        </p:nvSpPr>
        <p:spPr>
          <a:xfrm>
            <a:off x="853419" y="288036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audience and decision</a:t>
            </a:r>
            <a:endParaRPr lang="en-US" sz="1700" dirty="0"/>
          </a:p>
        </p:txBody>
      </p:sp>
      <p:sp>
        <p:nvSpPr>
          <p:cNvPr id="8" name="element_1ab0df2ea5effb9cdad7607b6579251e"/>
          <p:cNvSpPr txBox="1"/>
          <p:nvPr/>
        </p:nvSpPr>
        <p:spPr>
          <a:xfrm>
            <a:off x="853419" y="370332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State the central takeaway</a:t>
            </a:r>
            <a:endParaRPr lang="en-US" sz="1700" dirty="0"/>
          </a:p>
        </p:txBody>
      </p:sp>
      <p:sp>
        <p:nvSpPr>
          <p:cNvPr id="9" name="element_f5c6e20934cc7de4e0bc7261f2a947b1"/>
          <p:cNvSpPr txBox="1"/>
          <p:nvPr/>
        </p:nvSpPr>
        <p:spPr>
          <a:xfrm>
            <a:off x="853419" y="452628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Define the release bar</a:t>
            </a:r>
            <a:endParaRPr lang="en-US" sz="1700" dirty="0"/>
          </a:p>
        </p:txBody>
      </p:sp>
      <p:sp>
        <p:nvSpPr>
          <p:cNvPr id="10" name="element_37babd630bef97d01ec7a65467abfb9c"/>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89aa09cb27bfba3b1de1e8e08fe6cba6"/>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1e26c1870b08b5002127e5ac5ca92ecf"/>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d0eb0ca158342f23540b738be6b4e9fc"/>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49f4593aa5a656a1f6f4ab3993e57c86"/>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A split composition: bounded repair on the left; HyperAgent-inspired versioned policy evolution, held-out evaluation, a…</a:t>
            </a:r>
            <a:endParaRPr lang="en-US" sz="3800" dirty="0"/>
          </a:p>
        </p:txBody>
      </p:sp>
      <p:sp>
        <p:nvSpPr>
          <p:cNvPr id="5" name="element_20006e93df60c02ed5f794fa9879543b"/>
          <p:cNvSpPr/>
          <p:nvPr/>
        </p:nvSpPr>
        <p:spPr>
          <a:xfrm>
            <a:off x="5973931" y="2537460"/>
            <a:ext cx="5242429" cy="2331720"/>
          </a:xfrm>
          <a:prstGeom prst="roundRect">
            <a:avLst/>
          </a:prstGeom>
          <a:solidFill>
            <a:srgbClr val="E5E9D6"/>
          </a:solidFill>
          <a:ln w="12700">
            <a:solidFill>
              <a:srgbClr val="DED7CC"/>
            </a:solidFill>
            <a:prstDash val="solid"/>
          </a:ln>
        </p:spPr>
      </p:sp>
      <p:sp>
        <p:nvSpPr>
          <p:cNvPr id="6" name="element_4191881a89c7cd1a47fd1f0afad2d472"/>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Use the market as a design brief: Canva compresses branded asset work, Gamma compresses research-to-story, and NodeSlide must add governed editable execution plus policy learning.</a:t>
            </a:r>
            <a:endParaRPr lang="en-US" sz="1900" dirty="0"/>
          </a:p>
        </p:txBody>
      </p:sp>
      <p:sp>
        <p:nvSpPr>
          <p:cNvPr id="7" name="element_ccb318e0eb87b723ee239a0ff3dabb49"/>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Canva: brand and asset velocity</a:t>
            </a:r>
            <a:endParaRPr lang="en-US" sz="1700" dirty="0"/>
          </a:p>
        </p:txBody>
      </p:sp>
      <p:sp>
        <p:nvSpPr>
          <p:cNvPr id="8" name="element_50b831079ca91c2f62d3c98583ab9850"/>
          <p:cNvSpPr txBox="1"/>
          <p:nvPr/>
        </p:nvSpPr>
        <p:spPr>
          <a:xfrm>
            <a:off x="853419" y="507492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Gamma: research and story velocity</a:t>
            </a:r>
            <a:endParaRPr lang="en-US" sz="1700" dirty="0"/>
          </a:p>
        </p:txBody>
      </p:sp>
      <p:sp>
        <p:nvSpPr>
          <p:cNvPr id="9" name="element_b86d02e539043df4b0788eb34bd091a2"/>
          <p:cNvSpPr txBox="1"/>
          <p:nvPr/>
        </p:nvSpPr>
        <p:spPr>
          <a:xfrm>
            <a:off x="853419" y="589788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NodeSlide: governed execution; HyperAgent: policy evolution</a:t>
            </a:r>
            <a:endParaRPr lang="en-US" sz="1700" dirty="0"/>
          </a:p>
        </p:txBody>
      </p:sp>
      <p:sp>
        <p:nvSpPr>
          <p:cNvPr id="10" name="element_95067a4810fea4db6817ac09df60d0d2"/>
          <p:cNvSpPr txBox="1"/>
          <p:nvPr/>
        </p:nvSpPr>
        <p:spPr>
          <a:xfrm>
            <a:off x="6827349" y="2811780"/>
            <a:ext cx="4145176" cy="1028700"/>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gates</a:t>
            </a:r>
            <a:endParaRPr lang="en-US" sz="4300" dirty="0"/>
          </a:p>
        </p:txBody>
      </p:sp>
      <p:sp>
        <p:nvSpPr>
          <p:cNvPr id="11" name="element_636c7914809491c8d33a2d17f05ee7b7"/>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6B6158"/>
                </a:solidFill>
                <a:latin typeface="Geist Variable" pitchFamily="34" charset="0"/>
                <a:ea typeface="Geist Variable" pitchFamily="34" charset="-122"/>
                <a:cs typeface="Geist Variable" pitchFamily="34" charset="-120"/>
              </a:rPr>
              <a:t>content, visual, and release proof must agree</a:t>
            </a:r>
            <a:endParaRPr lang="en-US" sz="1500" dirty="0"/>
          </a:p>
        </p:txBody>
      </p:sp>
      <p:sp>
        <p:nvSpPr>
          <p:cNvPr id="12" name="element_43edc3d34c95e1ee656746db1f1790f8"/>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8368015a44fd2aa2132c64ff5eb2d69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615de53e1f0f08bcb15c05e15ab58953"/>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2c1c4b3a78140eb5659929a07503ac10"/>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547b82a43cc3b26d6f79fc5d92300b2e"/>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A live run is only real when its receipt survives export.</a:t>
            </a:r>
            <a:endParaRPr lang="en-US" sz="3800" dirty="0"/>
          </a:p>
        </p:txBody>
      </p:sp>
      <p:sp>
        <p:nvSpPr>
          <p:cNvPr id="5" name="element_b9df0dfbef6a7f3e8847a71adf4eee0a"/>
          <p:cNvSpPr/>
          <p:nvPr/>
        </p:nvSpPr>
        <p:spPr>
          <a:xfrm>
            <a:off x="792460" y="4046220"/>
            <a:ext cx="3169841" cy="1371600"/>
          </a:xfrm>
          <a:prstGeom prst="roundRect">
            <a:avLst/>
          </a:prstGeom>
          <a:solidFill>
            <a:srgbClr val="E5E9D6"/>
          </a:solidFill>
          <a:ln w="12700">
            <a:solidFill>
              <a:srgbClr val="DED7CC"/>
            </a:solidFill>
            <a:prstDash val="solid"/>
          </a:ln>
        </p:spPr>
      </p:sp>
      <p:sp>
        <p:nvSpPr>
          <p:cNvPr id="6" name="element_6520c33927ce7dd24839336bdd9a2d62"/>
          <p:cNvSpPr/>
          <p:nvPr/>
        </p:nvSpPr>
        <p:spPr>
          <a:xfrm>
            <a:off x="4206135" y="4046220"/>
            <a:ext cx="3169841" cy="1371600"/>
          </a:xfrm>
          <a:prstGeom prst="roundRect">
            <a:avLst/>
          </a:prstGeom>
          <a:solidFill>
            <a:srgbClr val="E5E9D6"/>
          </a:solidFill>
          <a:ln w="12700">
            <a:solidFill>
              <a:srgbClr val="DED7CC"/>
            </a:solidFill>
            <a:prstDash val="solid"/>
          </a:ln>
        </p:spPr>
      </p:sp>
      <p:sp>
        <p:nvSpPr>
          <p:cNvPr id="7" name="element_645652a1e19a4e40dd64472d18a39a6e"/>
          <p:cNvSpPr/>
          <p:nvPr/>
        </p:nvSpPr>
        <p:spPr>
          <a:xfrm>
            <a:off x="7619810" y="4046220"/>
            <a:ext cx="3169841" cy="1371600"/>
          </a:xfrm>
          <a:prstGeom prst="roundRect">
            <a:avLst/>
          </a:prstGeom>
          <a:solidFill>
            <a:srgbClr val="E5E9D6"/>
          </a:solidFill>
          <a:ln w="12700">
            <a:solidFill>
              <a:srgbClr val="DED7CC"/>
            </a:solidFill>
            <a:prstDash val="solid"/>
          </a:ln>
        </p:spPr>
      </p:sp>
      <p:sp>
        <p:nvSpPr>
          <p:cNvPr id="8" name="element_c9ca54020671daefb9eb60f6e0d8ad49"/>
          <p:cNvSpPr txBox="1"/>
          <p:nvPr/>
        </p:nvSpPr>
        <p:spPr>
          <a:xfrm>
            <a:off x="853419" y="2743200"/>
            <a:ext cx="9997190" cy="8915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Treat evidence as a ledger rather than decoration: every material claim keeps its source, revision, and status.</a:t>
            </a:r>
            <a:endParaRPr lang="en-US" sz="1900" dirty="0"/>
          </a:p>
        </p:txBody>
      </p:sp>
      <p:sp>
        <p:nvSpPr>
          <p:cNvPr id="9" name="element_17106e5ed6279de7bd03f10578ed059a"/>
          <p:cNvSpPr txBox="1"/>
          <p:nvPr/>
        </p:nvSpPr>
        <p:spPr>
          <a:xfrm>
            <a:off x="853419" y="425196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Claim and source stay linked</a:t>
            </a:r>
            <a:endParaRPr lang="en-US" sz="1600" dirty="0"/>
          </a:p>
        </p:txBody>
      </p:sp>
      <p:sp>
        <p:nvSpPr>
          <p:cNvPr id="10" name="element_ae46a15631e9160cd7caff81379c68b6"/>
          <p:cNvSpPr txBox="1"/>
          <p:nvPr/>
        </p:nvSpPr>
        <p:spPr>
          <a:xfrm>
            <a:off x="4267093" y="425196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Assumptions stay explicit</a:t>
            </a:r>
            <a:endParaRPr lang="en-US" sz="1600" dirty="0"/>
          </a:p>
        </p:txBody>
      </p:sp>
      <p:sp>
        <p:nvSpPr>
          <p:cNvPr id="11" name="element_f20785feaa8dd2813c22823152d07285"/>
          <p:cNvSpPr txBox="1"/>
          <p:nvPr/>
        </p:nvSpPr>
        <p:spPr>
          <a:xfrm>
            <a:off x="7680768" y="425196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Revisions keep provenance</a:t>
            </a:r>
            <a:endParaRPr lang="en-US" sz="1600" dirty="0"/>
          </a:p>
        </p:txBody>
      </p:sp>
      <p:sp>
        <p:nvSpPr>
          <p:cNvPr id="12" name="element_924358a8f04d1dd085cd9e3c7b00e230"/>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3c8c952aaef40aa13b127e86529752ea"/>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05520a004dd7137720d73a6bb6d1cafc"/>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785fed7f40369242e9bcb8f32c734f36"/>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2a01d01dd1eeb4d1eac07e558ad27757"/>
          <p:cNvSpPr txBox="1"/>
          <p:nvPr/>
        </p:nvSpPr>
        <p:spPr>
          <a:xfrm>
            <a:off x="853419" y="1028700"/>
            <a:ext cx="9753356" cy="1371600"/>
          </a:xfrm>
          <a:prstGeom prst="rect">
            <a:avLst/>
          </a:prstGeom>
          <a:noFill/>
          <a:ln/>
        </p:spPr>
        <p:txBody>
          <a:bodyPr wrap="square" lIns="0" tIns="0" rIns="0" bIns="0" rtlCol="0" anchor="t">
            <a:normAutofit/>
          </a:bodyPr>
          <a:lstStyle/>
          <a:p>
            <a:pPr algn="l" indent="0" marL="0">
              <a:lnSpc>
                <a:spcPct val="104000"/>
              </a:lnSpc>
              <a:buNone/>
            </a:pPr>
            <a:r>
              <a:rPr lang="en-US" sz="4200" b="1" spc="-80" kern="0" dirty="0">
                <a:solidFill>
                  <a:srgbClr val="26221D"/>
                </a:solidFill>
                <a:latin typeface="Fraunces Variable" pitchFamily="34" charset="0"/>
                <a:ea typeface="Fraunces Variable" pitchFamily="34" charset="-122"/>
                <a:cs typeface="Fraunces Variable" pitchFamily="34" charset="-120"/>
              </a:rPr>
              <a:t>Is a decisive release-gate checklist ending with “Approve the quality gate and require recorded proof for every release</a:t>
            </a:r>
            <a:endParaRPr lang="en-US" sz="4200" dirty="0"/>
          </a:p>
        </p:txBody>
      </p:sp>
      <p:sp>
        <p:nvSpPr>
          <p:cNvPr id="5" name="element_634d90268cc8b82024b50858961beaf8"/>
          <p:cNvSpPr/>
          <p:nvPr/>
        </p:nvSpPr>
        <p:spPr>
          <a:xfrm>
            <a:off x="853419" y="4594860"/>
            <a:ext cx="9997190" cy="82296"/>
          </a:xfrm>
          <a:prstGeom prst="roundRect">
            <a:avLst/>
          </a:prstGeom>
          <a:solidFill>
            <a:srgbClr val="B44A2D"/>
          </a:solidFill>
          <a:ln w="12700">
            <a:solidFill>
              <a:srgbClr val="FFFFFF">
                <a:alpha val="0"/>
              </a:srgbClr>
            </a:solidFill>
            <a:prstDash val="solid"/>
          </a:ln>
        </p:spPr>
      </p:sp>
      <p:sp>
        <p:nvSpPr>
          <p:cNvPr id="6" name="element_e02ef90fd656207c6e8df9cebb46a679"/>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Convert independent critic findings into bounded repair instructions and stop at a strict iteration limit.</a:t>
            </a:r>
            <a:endParaRPr lang="en-US" sz="1900" dirty="0"/>
          </a:p>
        </p:txBody>
      </p:sp>
      <p:sp>
        <p:nvSpPr>
          <p:cNvPr id="7" name="element_5ee6f0307de2cba4671013239f44a053"/>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Independent specialist critics</a:t>
            </a:r>
            <a:endParaRPr lang="en-US" sz="1600" dirty="0"/>
          </a:p>
        </p:txBody>
      </p:sp>
      <p:sp>
        <p:nvSpPr>
          <p:cNvPr id="8" name="element_77dd066201abe58cbbfa23faa11ef020"/>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Bounded repair with stop rules</a:t>
            </a:r>
            <a:endParaRPr lang="en-US" sz="1600" dirty="0"/>
          </a:p>
        </p:txBody>
      </p:sp>
      <p:sp>
        <p:nvSpPr>
          <p:cNvPr id="9" name="element_2483d406bd67ed23b8111faccb8a23d7"/>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Versioned policy, held-out promotion</a:t>
            </a:r>
            <a:endParaRPr lang="en-US" sz="1600" dirty="0"/>
          </a:p>
        </p:txBody>
      </p:sp>
      <p:sp>
        <p:nvSpPr>
          <p:cNvPr id="10" name="element_5fab9c379ed2cbd983102b30d106e516"/>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ab395e08c3b50aa82fa1cfa2a1f1fc8c"/>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Fraunces Variab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exactly seven visually ambitious, claim-led slides explaining…</dc:title>
  <dc:subject>Create an editable, reviewable presentation from this idea</dc:subject>
  <dc:creator>NodeSlide</dc:creator>
  <cp:lastModifiedBy>NodeSlide</cp:lastModifiedBy>
  <cp:revision>1</cp:revision>
  <dcterms:created xsi:type="dcterms:W3CDTF">2026-07-16T22:44:26Z</dcterms:created>
  <dcterms:modified xsi:type="dcterms:W3CDTF">2026-07-16T22:44:26Z</dcterms:modified>
</cp:coreProperties>
</file>