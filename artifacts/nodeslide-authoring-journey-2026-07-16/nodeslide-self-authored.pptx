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“That NodeSlide should ship governed creativity, not one-shot generation”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“Benchmarks Canva AI, Gamma AI, NodeSlide, and Meta HyperAgent”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“Defines the communication job, evidence ledger, and claim-led storyboard”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“The editable authoring workflow as a native diagram”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“Separates specialist critics, bounded repair, and policy evolution”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
[source_7176e8612588a38fa4200d74617937ee] Brief success criteria
Citation: Exactly 7 slides in the requested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“Proves the browser journey, durable receipt, version advance, and editable export”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“Ends with the adoption checklist”
Evidence note: Content is based on the supplied creation brief. Illustrative examples are not independently verified; replace them with measured evidence before external publication.
NodeSlide sources
[source_73c3ba9a762d3aaccf9cc0dd9aefd8d2] Create exactly seven concise, claim-led slides explaining why NodeSli… — creation brief
Citation: Create exactly seven concise, claim-led slides explaining why NodeSlide should dogfood its own authoring system. Audience: product and design leadership. Slide 1 states that NodeSlide should ship governed creativity, not one-shot generation. Slide 2 benchmarks Canva AI, Gamma AI, NodeSlide, and Meta HyperAgent. Slide 3 defines the communication job, evidence ledger, and claim-led storyboard. Slide 4 shows the editable authoring workflow as a native diagram. Slide 5 separates specialist critics, bounded repair, and policy evolution. Slide 6 proves the browser journey, durable receipt, version advance, and editable export. Slide 7 ends with the adoption checklist. Treat Canva and Gamma as design inspirations rather than unverified performance claims. Treat HyperAgent as inspiration for versioned policy evolution, held-out evaluation, and safe promotion—not permission to mutate production code. Keep every object editable and do not invent data.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76ac5d1f0aae1397f4ac5e505f8051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59751a4c6a4ec4403106d17dd69de9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9a32cfe3c3b84bcbd0a5c6070ae6c25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That NodeSlide should ship governed creativity, not one-shot generation</a:t>
            </a:r>
            <a:endParaRPr lang="en-US" sz="4800" dirty="0"/>
          </a:p>
        </p:txBody>
      </p:sp>
      <p:sp>
        <p:nvSpPr>
          <p:cNvPr id="5" name="element_9f6259115029defd5a50787e9534101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should compete on governed creativity: a strong story, editable native objects, durable validation, and proof from the real browser path.</a:t>
            </a:r>
            <a:endParaRPr lang="en-US" sz="1900" dirty="0"/>
          </a:p>
        </p:txBody>
      </p:sp>
      <p:sp>
        <p:nvSpPr>
          <p:cNvPr id="6" name="element_7766c77ef34e89517a34efc97358511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Evidence-backed acceptance</a:t>
            </a:r>
            <a:endParaRPr lang="en-US" sz="1600" dirty="0"/>
          </a:p>
        </p:txBody>
      </p:sp>
      <p:sp>
        <p:nvSpPr>
          <p:cNvPr id="7" name="element_3ebf78a01d3840bfd391a3715d13b9ec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Editable native output</a:t>
            </a:r>
            <a:endParaRPr lang="en-US" sz="1600" dirty="0"/>
          </a:p>
        </p:txBody>
      </p:sp>
      <p:sp>
        <p:nvSpPr>
          <p:cNvPr id="8" name="element_5108d3e49f766c86cc3236d7dd7fa86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Recorded end-to-end proof</a:t>
            </a:r>
            <a:endParaRPr lang="en-US" sz="1600" dirty="0"/>
          </a:p>
        </p:txBody>
      </p:sp>
      <p:sp>
        <p:nvSpPr>
          <p:cNvPr id="9" name="element_46208b2faaf2fd9d75c7f6d2db418f9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6338ff493425f8b2f382bfd18633cd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18c5f123046d4c6dddccade1b133ed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e079b86a8f21796f9d32e45b5223b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5b72beebf6cbf6da79a865da2c67f41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Benchmarks Canva AI, Gamma AI, NodeSlide, and Meta HyperAgent</a:t>
            </a:r>
            <a:endParaRPr lang="en-US" sz="3800" dirty="0"/>
          </a:p>
        </p:txBody>
      </p:sp>
      <p:sp>
        <p:nvSpPr>
          <p:cNvPr id="5" name="element_b514cdc0f9ef9ce69cdfe59699149c37"/>
          <p:cNvSpPr txBox="1"/>
          <p:nvPr/>
        </p:nvSpPr>
        <p:spPr>
          <a:xfrm>
            <a:off x="853419" y="2743200"/>
            <a:ext cx="49985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market as a design brief: Canva compresses branded asset work, Gamma compresses research-to-story, and NodeSlide must add governed editable execution plus policy learning.</a:t>
            </a:r>
            <a:endParaRPr lang="en-US" sz="1900" dirty="0"/>
          </a:p>
        </p:txBody>
      </p:sp>
      <p:sp>
        <p:nvSpPr>
          <p:cNvPr id="6" name="element_49be434b558d2e24745124d17bb99a07"/>
          <p:cNvSpPr txBox="1"/>
          <p:nvPr/>
        </p:nvSpPr>
        <p:spPr>
          <a:xfrm>
            <a:off x="6949266" y="2880360"/>
            <a:ext cx="426709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Canva: brand and asset velocity</a:t>
            </a:r>
            <a:endParaRPr lang="en-US" sz="1700" dirty="0"/>
          </a:p>
        </p:txBody>
      </p:sp>
      <p:sp>
        <p:nvSpPr>
          <p:cNvPr id="7" name="element_ab5e78534c648167e312c820a048d443"/>
          <p:cNvSpPr txBox="1"/>
          <p:nvPr/>
        </p:nvSpPr>
        <p:spPr>
          <a:xfrm>
            <a:off x="6949266" y="3703320"/>
            <a:ext cx="426709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Gamma: research and story velocity</a:t>
            </a:r>
            <a:endParaRPr lang="en-US" sz="1700" dirty="0"/>
          </a:p>
        </p:txBody>
      </p:sp>
      <p:sp>
        <p:nvSpPr>
          <p:cNvPr id="8" name="element_17b855e24a81ad955ecfd3abe2c1a713"/>
          <p:cNvSpPr txBox="1"/>
          <p:nvPr/>
        </p:nvSpPr>
        <p:spPr>
          <a:xfrm>
            <a:off x="6949266" y="4526280"/>
            <a:ext cx="426709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NodeSlide: governed execution; HyperAgent: policy evolution</a:t>
            </a:r>
            <a:endParaRPr lang="en-US" sz="1700" dirty="0"/>
          </a:p>
        </p:txBody>
      </p:sp>
      <p:sp>
        <p:nvSpPr>
          <p:cNvPr id="9" name="element_b416e6aaaf792b323da30b8be889e4d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7b94c54861e76b9d9be6499de93d8d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917f99e6066420f207ea43dc7ea787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45f20cede752dc6ade3a7c53f123a5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3ecf513a473f35078eb7486fab8ce1b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Defines the communication job, evidence ledger, and claim-led storyboard</a:t>
            </a:r>
            <a:endParaRPr lang="en-US" sz="3800" dirty="0"/>
          </a:p>
        </p:txBody>
      </p:sp>
      <p:sp>
        <p:nvSpPr>
          <p:cNvPr id="5" name="element_eb9be0262f871470cd55311881bcfaab"/>
          <p:cNvSpPr txBox="1"/>
          <p:nvPr/>
        </p:nvSpPr>
        <p:spPr>
          <a:xfrm>
            <a:off x="6339682" y="2743200"/>
            <a:ext cx="49985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Lock the audience and decision first, attach evidence to each material claim, then assign one claim-led job to every slide.</a:t>
            </a:r>
            <a:endParaRPr lang="en-US" sz="1900" dirty="0"/>
          </a:p>
        </p:txBody>
      </p:sp>
      <p:sp>
        <p:nvSpPr>
          <p:cNvPr id="6" name="element_3829dee68a7ec24c2888ac5134cf0ce6"/>
          <p:cNvSpPr txBox="1"/>
          <p:nvPr/>
        </p:nvSpPr>
        <p:spPr>
          <a:xfrm>
            <a:off x="853419" y="288036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Audience and decision</a:t>
            </a:r>
            <a:endParaRPr lang="en-US" sz="1700" dirty="0"/>
          </a:p>
        </p:txBody>
      </p:sp>
      <p:sp>
        <p:nvSpPr>
          <p:cNvPr id="7" name="element_3bdebfbc89b0eab88257d5069e20ed76"/>
          <p:cNvSpPr txBox="1"/>
          <p:nvPr/>
        </p:nvSpPr>
        <p:spPr>
          <a:xfrm>
            <a:off x="853419" y="370332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Claim and evidence ledger</a:t>
            </a:r>
            <a:endParaRPr lang="en-US" sz="1700" dirty="0"/>
          </a:p>
        </p:txBody>
      </p:sp>
      <p:sp>
        <p:nvSpPr>
          <p:cNvPr id="8" name="element_7b891459328f4eeb2f5d36a1fc09ba2b"/>
          <p:cNvSpPr txBox="1"/>
          <p:nvPr/>
        </p:nvSpPr>
        <p:spPr>
          <a:xfrm>
            <a:off x="853419" y="452628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One claim-led job per slide</a:t>
            </a:r>
            <a:endParaRPr lang="en-US" sz="1700" dirty="0"/>
          </a:p>
        </p:txBody>
      </p:sp>
      <p:sp>
        <p:nvSpPr>
          <p:cNvPr id="9" name="element_7eb0566c3da270374ab632cb9ed843f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12da92eb1568d3b7e476fcfb3f31a6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ebf5d511e8d78bd05682fae6d3e6b1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ad2f2a4e29f8f4a9990c0337e3de8b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02dde964458c6a249101776ca788e38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The editable authoring workflow as a native diagram</a:t>
            </a:r>
            <a:endParaRPr lang="en-US" sz="3800" dirty="0"/>
          </a:p>
        </p:txBody>
      </p:sp>
      <p:sp>
        <p:nvSpPr>
          <p:cNvPr id="5" name="element_882caeec1315b651a64e92f6156a690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Make the editable authoring workflow as a native diagram concrete without inventing unsupported facts.</a:t>
            </a:r>
            <a:endParaRPr lang="en-US" sz="1900" dirty="0"/>
          </a:p>
        </p:txBody>
      </p:sp>
      <p:sp>
        <p:nvSpPr>
          <p:cNvPr id="6" name="element_5afb93849c0a27c4c529831d1445c8a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Strategy + evidence</a:t>
            </a:r>
            <a:endParaRPr lang="en-US" sz="1700" dirty="0"/>
          </a:p>
        </p:txBody>
      </p:sp>
      <p:sp>
        <p:nvSpPr>
          <p:cNvPr id="7" name="element_517a384b6c8f93c55b0066f97181518b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Story + composition</a:t>
            </a:r>
            <a:endParaRPr lang="en-US" sz="1700" dirty="0"/>
          </a:p>
        </p:txBody>
      </p:sp>
      <p:sp>
        <p:nvSpPr>
          <p:cNvPr id="8" name="element_8c8c8f04b8b0056746d4c6e12a5d1d0c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Critique + accept</a:t>
            </a:r>
            <a:endParaRPr lang="en-US" sz="1700" dirty="0"/>
          </a:p>
        </p:txBody>
      </p:sp>
      <p:sp>
        <p:nvSpPr>
          <p:cNvPr id="9" name="element_c1041bda92979753e42ee8dc2fadc6d1"/>
          <p:cNvSpPr/>
          <p:nvPr/>
        </p:nvSpPr>
        <p:spPr>
          <a:xfrm>
            <a:off x="6339682" y="3223260"/>
            <a:ext cx="1438620" cy="1234440"/>
          </a:xfrm>
          <a:prstGeom prst="roundRect">
            <a:avLst/>
          </a:prstGeom>
          <a:solidFill>
            <a:srgbClr val="E5E9D6"/>
          </a:solidFill>
          <a:ln w="19050">
            <a:solidFill>
              <a:srgbClr val="DED7CC"/>
            </a:solidFill>
            <a:prstDash val="solid"/>
          </a:ln>
        </p:spPr>
      </p:sp>
      <p:sp>
        <p:nvSpPr>
          <p:cNvPr id="10" name="element_c1041bda92979753e42ee8dc2fadc6d1:text"/>
          <p:cNvSpPr txBox="1"/>
          <p:nvPr/>
        </p:nvSpPr>
        <p:spPr>
          <a:xfrm>
            <a:off x="6339682" y="3223260"/>
            <a:ext cx="143862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Strategy + evidence</a:t>
            </a:r>
            <a:endParaRPr lang="en-US" sz="1400" dirty="0"/>
          </a:p>
        </p:txBody>
      </p:sp>
      <p:sp>
        <p:nvSpPr>
          <p:cNvPr id="11" name="element_f64740c347dcac7d75a2165729722c91"/>
          <p:cNvSpPr/>
          <p:nvPr/>
        </p:nvSpPr>
        <p:spPr>
          <a:xfrm>
            <a:off x="7839260" y="3669030"/>
            <a:ext cx="219451" cy="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9771d8432b8abd8365c071a28842d108"/>
          <p:cNvSpPr/>
          <p:nvPr/>
        </p:nvSpPr>
        <p:spPr>
          <a:xfrm>
            <a:off x="8119669" y="3223260"/>
            <a:ext cx="1438620" cy="1234440"/>
          </a:xfrm>
          <a:prstGeom prst="roundRect">
            <a:avLst/>
          </a:prstGeom>
          <a:solidFill>
            <a:srgbClr val="E5E9D6"/>
          </a:solidFill>
          <a:ln w="19050">
            <a:solidFill>
              <a:srgbClr val="DED7CC"/>
            </a:solidFill>
            <a:prstDash val="solid"/>
          </a:ln>
        </p:spPr>
      </p:sp>
      <p:sp>
        <p:nvSpPr>
          <p:cNvPr id="13" name="element_9771d8432b8abd8365c071a28842d108:text"/>
          <p:cNvSpPr txBox="1"/>
          <p:nvPr/>
        </p:nvSpPr>
        <p:spPr>
          <a:xfrm>
            <a:off x="8119669" y="3223260"/>
            <a:ext cx="143862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Story + composition</a:t>
            </a:r>
            <a:endParaRPr lang="en-US" sz="1400" dirty="0"/>
          </a:p>
        </p:txBody>
      </p:sp>
      <p:sp>
        <p:nvSpPr>
          <p:cNvPr id="14" name="element_ba9a0e9e2a6a568c656335eec9930205"/>
          <p:cNvSpPr/>
          <p:nvPr/>
        </p:nvSpPr>
        <p:spPr>
          <a:xfrm>
            <a:off x="9619248" y="3669030"/>
            <a:ext cx="219451" cy="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5" name="element_67d2fa3903812982c057b25549cd2c2d"/>
          <p:cNvSpPr/>
          <p:nvPr/>
        </p:nvSpPr>
        <p:spPr>
          <a:xfrm>
            <a:off x="9899657" y="3223260"/>
            <a:ext cx="1438620" cy="1234440"/>
          </a:xfrm>
          <a:prstGeom prst="roundRect">
            <a:avLst/>
          </a:prstGeom>
          <a:solidFill>
            <a:srgbClr val="E5E9D6"/>
          </a:solidFill>
          <a:ln w="19050">
            <a:solidFill>
              <a:srgbClr val="DED7CC"/>
            </a:solidFill>
            <a:prstDash val="solid"/>
          </a:ln>
        </p:spPr>
      </p:sp>
      <p:sp>
        <p:nvSpPr>
          <p:cNvPr id="16" name="element_67d2fa3903812982c057b25549cd2c2d:text"/>
          <p:cNvSpPr txBox="1"/>
          <p:nvPr/>
        </p:nvSpPr>
        <p:spPr>
          <a:xfrm>
            <a:off x="9899657" y="3223260"/>
            <a:ext cx="143862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Critique + accept</a:t>
            </a:r>
            <a:endParaRPr lang="en-US" sz="1400" dirty="0"/>
          </a:p>
        </p:txBody>
      </p:sp>
      <p:sp>
        <p:nvSpPr>
          <p:cNvPr id="17" name="element_1a5bea8a4af84a1ca895d84b0207c1b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921a3dc98369387d0ace0de2aceab45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7136c21f5301e579185618cf29a8b5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5a2766cf0b1b8e1fbb5f5733e30d98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7da8933dbed5946025d793ea93eecfe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Separates specialist critics, bounded repair, and policy evolution</a:t>
            </a:r>
            <a:endParaRPr lang="en-US" sz="3800" dirty="0"/>
          </a:p>
        </p:txBody>
      </p:sp>
      <p:sp>
        <p:nvSpPr>
          <p:cNvPr id="5" name="element_4fd0320e6c10a8ae930cf6520265652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Convert independent critic findings into bounded repair instructions and stop at a strict iteration limit.</a:t>
            </a:r>
            <a:endParaRPr lang="en-US" sz="1900" dirty="0"/>
          </a:p>
        </p:txBody>
      </p:sp>
      <p:sp>
        <p:nvSpPr>
          <p:cNvPr id="6" name="element_42c7abc3ef777059e29f296ed179bcba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Independent specialist critics</a:t>
            </a:r>
            <a:endParaRPr lang="en-US" sz="1700" dirty="0"/>
          </a:p>
        </p:txBody>
      </p:sp>
      <p:sp>
        <p:nvSpPr>
          <p:cNvPr id="7" name="element_c6e302ecbf061753704aea50ca217a6a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Bounded repair with stop rules</a:t>
            </a:r>
            <a:endParaRPr lang="en-US" sz="1700" dirty="0"/>
          </a:p>
        </p:txBody>
      </p:sp>
      <p:sp>
        <p:nvSpPr>
          <p:cNvPr id="8" name="element_1c77c2221c52058c29c28ee496bebe05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Versioned policy, held-out promotion</a:t>
            </a:r>
            <a:endParaRPr lang="en-US" sz="1700" dirty="0"/>
          </a:p>
        </p:txBody>
      </p:sp>
      <p:sp>
        <p:nvSpPr>
          <p:cNvPr id="9" name="element_fbad633b9b9c2bf29bfbcf49187e8caf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gates</a:t>
            </a:r>
            <a:endParaRPr lang="en-US" sz="4300" dirty="0"/>
          </a:p>
        </p:txBody>
      </p:sp>
      <p:sp>
        <p:nvSpPr>
          <p:cNvPr id="10" name="element_d916267aec5b0bfb47ceb9db53d8c459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content, visual, and release proof must agree</a:t>
            </a:r>
            <a:endParaRPr lang="en-US" sz="1500" dirty="0"/>
          </a:p>
        </p:txBody>
      </p:sp>
      <p:sp>
        <p:nvSpPr>
          <p:cNvPr id="11" name="element_e716a4df4c1a45efd3e0ff01063375c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c8bb46817df5523e283f1026b467cc0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321ff8e34de90b0b606b2ef201c0a8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567e52d6976a41fd01c16dfdd7337a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2c28cb58a40c075f911e125b1ec8024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Proves the browser journey, durable receipt, version advance, and editable export</a:t>
            </a:r>
            <a:endParaRPr lang="en-US" sz="3800" dirty="0"/>
          </a:p>
        </p:txBody>
      </p:sp>
      <p:sp>
        <p:nvSpPr>
          <p:cNvPr id="5" name="element_6c6f88185078c30b2ff9582ad57d873e"/>
          <p:cNvSpPr txBox="1"/>
          <p:nvPr/>
        </p:nvSpPr>
        <p:spPr>
          <a:xfrm>
            <a:off x="853419" y="2743200"/>
            <a:ext cx="49985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release is incomplete until the browser journey, export, screenshot, GIF, versions, and receipts agree.</a:t>
            </a:r>
            <a:endParaRPr lang="en-US" sz="1900" dirty="0"/>
          </a:p>
        </p:txBody>
      </p:sp>
      <p:sp>
        <p:nvSpPr>
          <p:cNvPr id="6" name="element_d13692ad4e25bf5d964d1b0e92449560"/>
          <p:cNvSpPr txBox="1"/>
          <p:nvPr/>
        </p:nvSpPr>
        <p:spPr>
          <a:xfrm>
            <a:off x="6949266" y="2880360"/>
            <a:ext cx="426709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Record the real browser path</a:t>
            </a:r>
            <a:endParaRPr lang="en-US" sz="1700" dirty="0"/>
          </a:p>
        </p:txBody>
      </p:sp>
      <p:sp>
        <p:nvSpPr>
          <p:cNvPr id="7" name="element_bd06c954bb2e5488885968c1432eb630"/>
          <p:cNvSpPr txBox="1"/>
          <p:nvPr/>
        </p:nvSpPr>
        <p:spPr>
          <a:xfrm>
            <a:off x="6949266" y="3703320"/>
            <a:ext cx="426709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Bind receipt to deck and version</a:t>
            </a:r>
            <a:endParaRPr lang="en-US" sz="1700" dirty="0"/>
          </a:p>
        </p:txBody>
      </p:sp>
      <p:sp>
        <p:nvSpPr>
          <p:cNvPr id="8" name="element_1c765a939f0c29c108abd28cb213f0cc"/>
          <p:cNvSpPr txBox="1"/>
          <p:nvPr/>
        </p:nvSpPr>
        <p:spPr>
          <a:xfrm>
            <a:off x="6949266" y="4526280"/>
            <a:ext cx="426709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Verify editable export and proof digest</a:t>
            </a:r>
            <a:endParaRPr lang="en-US" sz="1700" dirty="0"/>
          </a:p>
        </p:txBody>
      </p:sp>
      <p:sp>
        <p:nvSpPr>
          <p:cNvPr id="9" name="element_48ad3af4d23952f7671c242c6c3e5a2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38776e1c5f8e25a6507e1018510ba2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8badad62bcd44a271f4779c4e30d42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33f2875b92e141472164efcb022ac0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cc00343208892d08d1ba0f9e517adae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Adopt the quality gate and require recorded proof for every release.</a:t>
            </a:r>
            <a:endParaRPr lang="en-US" sz="3800" dirty="0"/>
          </a:p>
        </p:txBody>
      </p:sp>
      <p:sp>
        <p:nvSpPr>
          <p:cNvPr id="5" name="element_9e1f8ba7e18d359f03bde5223d8d7341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Ship only when evidence, a durable acceptance receipt, the recorded journey, and the editable export all agree.</a:t>
            </a:r>
            <a:endParaRPr lang="en-US" sz="1900" dirty="0"/>
          </a:p>
        </p:txBody>
      </p:sp>
      <p:sp>
        <p:nvSpPr>
          <p:cNvPr id="6" name="element_152572bd53abce73676ee05be2abe7c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Require evidence-backed acceptance</a:t>
            </a:r>
            <a:endParaRPr lang="en-US" sz="1600" dirty="0"/>
          </a:p>
        </p:txBody>
      </p:sp>
      <p:sp>
        <p:nvSpPr>
          <p:cNvPr id="7" name="element_0e1181ab98c5f3c20d461b622775bb22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Require recorded end-to-end proof</a:t>
            </a:r>
            <a:endParaRPr lang="en-US" sz="1600" dirty="0"/>
          </a:p>
        </p:txBody>
      </p:sp>
      <p:sp>
        <p:nvSpPr>
          <p:cNvPr id="8" name="element_cfca65d2e8cafab1a75d4af49012a74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Benchmark and promote policy safely</a:t>
            </a:r>
            <a:endParaRPr lang="en-US" sz="1600" dirty="0"/>
          </a:p>
        </p:txBody>
      </p:sp>
      <p:sp>
        <p:nvSpPr>
          <p:cNvPr id="9" name="element_2046c90dd5ad0f0c2b3f644f907029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95971d8dedbca0d5ed6084bade5111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exactly seven concise, claim-led slides explaining why NodeSli…</dc:title>
  <dc:subject>Create an editable, reviewable presentation from this idea</dc:subject>
  <dc:creator>NodeSlide</dc:creator>
  <cp:lastModifiedBy>NodeSlide</cp:lastModifiedBy>
  <cp:revision>1</cp:revision>
  <dcterms:created xsi:type="dcterms:W3CDTF">2026-07-16T19:57:26Z</dcterms:created>
  <dcterms:modified xsi:type="dcterms:W3CDTF">2026-07-16T19:57:26Z</dcterms:modified>
</cp:coreProperties>
</file>