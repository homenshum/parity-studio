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Opening / 01. Layout intent: hero. Keep the spoken transition focused on “Create an editable, reviewable presentation from this idea”
Evidence note: Content is based on the supplied creation brief. Illustrative examples are not independently verified; replace them with measured evidence before external publication.
NodeSlide sources
[source_d880e00a2b96ca1643e9fd1f6f4cda5a] World Cup 2022 — The Data Story — creation brief
Citation: Create an evidence-led presentation about the 2022 FIFA World Cup with an editable chart, a goals-per-match formula, source-linked claims, and a clear executive takeaway.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Context / 02. Layout intent: comparison. Keep the spoken transition focused on “The cost of waiting is usually hidden in repeated work.”
Evidence note: Content is based on the supplied creation brief. Illustrative examples are not independently verified; replace them with measured evidence before external publication.
NodeSlide sources
[source_d880e00a2b96ca1643e9fd1f6f4cda5a] World Cup 2022 — The Data Story — creation brief
Citation: Create an evidence-led presentation about the 2022 FIFA World Cup with an editable chart, a goals-per-match formula, source-linked claims, and a clear executive takeaway.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Insight / 03. Layout intent: contract. Keep the spoken transition focused on “A better outcome starts with a sharper point of view.”
Evidence note: Content is based on the supplied creation brief. Illustrative examples are not independently verified; replace them with measured evidence before external publication.
NodeSlide sources
[source_d880e00a2b96ca1643e9fd1f6f4cda5a] World Cup 2022 — The Data Story — creation brief
Citation: Create an evidence-led presentation about the 2022 FIFA World Cup with an editable chart, a goals-per-match formula, source-linked claims, and a clear executive takeaway.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Approach / 04. Layout intent: split. Keep the spoken transition focused on “The requested calculation remains a structured formula.”
Evidence note: Content is based on the supplied creation brief. Illustrative examples are not independently verified; replace them with measured evidence before external publication.
NodeSlide sources
[source_d880e00a2b96ca1643e9fd1f6f4cda5a] World Cup 2022 — The Data Story — creation brief
Citation: Create an evidence-led presentation about the 2022 FIFA World Cup with an editable chart, a goals-per-match formula, source-linked claims, and a clear executive takeaway.
Disclaimer: Internal working material
[source_7b62c4c0ad5b134b178cbbd81c9ae3fd] Brief success criteria
Citation: A coherent 6–8 slide narrative; Structured chart, formula, and image primitives where relevant; Validation passes before presentation or export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Evidence / 05. Layout intent: contract. Keep the spoken transition focused on “The requested values remain an editable chart.”
Evidence note: Content is based on the supplied creation brief. Illustrative examples are not independently verified; replace them with measured evidence before external publication.
NodeSlide sources
[source_d880e00a2b96ca1643e9fd1f6f4cda5a] World Cup 2022 — The Data Story — creation brief
Citation: Create an evidence-led presentation about the 2022 FIFA World Cup with an editable chart, a goals-per-match formula, source-linked claims, and a clear executive takeaway.
Disclaimer: Internal working material
[source_7b62c4c0ad5b134b178cbbd81c9ae3fd] Brief success criteria
Citation: A coherent 6–8 slide narrative; Structured chart, formula, and image primitives where relevant; Validation passes before presentation or export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Delivery / 06. Layout intent: split. Keep the spoken transition focused on “Start narrow, learn quickly, and preserve room to adapt.”
Evidence note: Content is based on the supplied creation brief. Illustrative examples are not independently verified; replace them with measured evidence before external publication.
NodeSlide sources
[source_d880e00a2b96ca1643e9fd1f6f4cda5a] World Cup 2022 — The Data Story — creation brief
Citation: Create an evidence-led presentation about the 2022 FIFA World Cup with an editable chart, a goals-per-match formula, source-linked claims, and a clear executive takeaway.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Close / 07. Layout intent: evidence_board. Keep the spoken transition focused on “Create an editable, reviewable presentation from this idea”
Evidence note: Content is based on the supplied creation brief. Illustrative examples are not independently verified; replace them with measured evidence before external publication.
NodeSlide sources
[source_d880e00a2b96ca1643e9fd1f6f4cda5a] World Cup 2022 — The Data Story — creation brief
Citation: Create an evidence-led presentation about the 2022 FIFA World Cup with an editable chart, a goals-per-match formula, source-linked claims, and a clear executive takeaway.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Appendix / 08. Layout intent: decision. Keep the spoken transition focused on “Keep the evidence available without crowding the main argument.”
Evidence note: Content is based on the supplied creation brief. Illustrative examples are not independently verified; replace them with measured evidence before external publication.
NodeSlide sources
[source_d880e00a2b96ca1643e9fd1f6f4cda5a] World Cup 2022 — The Data Story — creation brief
Citation: Create an evidence-led presentation about the 2022 FIFA World Cup with an editable chart, a goals-per-match formula, source-linked claims, and a clear executive takeaway.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slide-slide-id:slide_6f9e2a5a2dee4ac7a39e7f9364ab53e8"/>
          <p:cNvSpPr/>
          <p:nvPr/>
        </p:nvSpPr>
        <p:spPr>
          <a:xfrm>
            <a:off x="0" y="0"/>
            <a:ext cx="914" cy="9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3b794dbfef1084adc3491048e0948770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element_fc4d03fc1ba7f6ced5f11890867865e7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OPENING / 01</a:t>
            </a:r>
            <a:endParaRPr lang="en-US" sz="1500" dirty="0"/>
          </a:p>
        </p:txBody>
      </p:sp>
      <p:sp>
        <p:nvSpPr>
          <p:cNvPr id="5" name="element_5ea4089c6f8f6b2f17f4b305b39e103c"/>
          <p:cNvSpPr txBox="1"/>
          <p:nvPr/>
        </p:nvSpPr>
        <p:spPr>
          <a:xfrm>
            <a:off x="853419" y="1097280"/>
            <a:ext cx="743693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80" kern="0" dirty="0">
                <a:solidFill>
                  <a:srgbClr val="26221D"/>
                </a:solidFill>
                <a:latin typeface="Fraunces Variable" pitchFamily="34" charset="0"/>
                <a:ea typeface="Fraunces Variable" pitchFamily="34" charset="-122"/>
                <a:cs typeface="Fraunces Variable" pitchFamily="34" charset="-120"/>
              </a:rPr>
              <a:t>World Cup 2022 turned data into a decision-ready story.</a:t>
            </a:r>
            <a:endParaRPr lang="en-US" sz="4800" dirty="0"/>
          </a:p>
        </p:txBody>
      </p:sp>
      <p:sp>
        <p:nvSpPr>
          <p:cNvPr id="6" name="element_f90f81edb18bb2f05ea26efa64eb1bb0"/>
          <p:cNvSpPr/>
          <p:nvPr/>
        </p:nvSpPr>
        <p:spPr>
          <a:xfrm>
            <a:off x="9387605" y="1234440"/>
            <a:ext cx="1463003" cy="685800"/>
          </a:xfrm>
          <a:prstGeom prst="roundRect">
            <a:avLst/>
          </a:prstGeom>
          <a:solidFill>
            <a:srgbClr val="F2DED3"/>
          </a:solidFill>
          <a:ln w="25400">
            <a:solidFill>
              <a:srgbClr val="B44A2D"/>
            </a:solidFill>
            <a:prstDash val="solid"/>
          </a:ln>
        </p:spPr>
      </p:sp>
      <p:sp>
        <p:nvSpPr>
          <p:cNvPr id="7" name="element_504c897c684278d1f0b5a11ced8258e3"/>
          <p:cNvSpPr/>
          <p:nvPr/>
        </p:nvSpPr>
        <p:spPr>
          <a:xfrm rot="-480000">
            <a:off x="8778021" y="2125980"/>
            <a:ext cx="2072588" cy="411480"/>
          </a:xfrm>
          <a:prstGeom prst="roundRect">
            <a:avLst/>
          </a:prstGeom>
          <a:solidFill>
            <a:srgbClr val="7566A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element_64be95849a485ef0d2d3ae111fe945fe"/>
          <p:cNvSpPr/>
          <p:nvPr/>
        </p:nvSpPr>
        <p:spPr>
          <a:xfrm rot="420000">
            <a:off x="9875273" y="2674620"/>
            <a:ext cx="975336" cy="685800"/>
          </a:xfrm>
          <a:prstGeom prst="roundRect">
            <a:avLst/>
          </a:prstGeom>
          <a:solidFill>
            <a:srgbClr val="F2DED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element_2d71a8c42b5c78fc58ac2a50351db3ff"/>
          <p:cNvSpPr txBox="1"/>
          <p:nvPr/>
        </p:nvSpPr>
        <p:spPr>
          <a:xfrm>
            <a:off x="853419" y="3429000"/>
            <a:ext cx="8046519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6B6158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A focused narrative for Decision-makers described in the brief, built from the supplied brief and kept editable from first draft onward.</a:t>
            </a:r>
            <a:endParaRPr lang="en-US" sz="1900" dirty="0"/>
          </a:p>
        </p:txBody>
      </p:sp>
      <p:sp>
        <p:nvSpPr>
          <p:cNvPr id="10" name="element_a03c1786460dee084f8b7df7ce10c019"/>
          <p:cNvSpPr txBox="1"/>
          <p:nvPr/>
        </p:nvSpPr>
        <p:spPr>
          <a:xfrm>
            <a:off x="853419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A coherent 6–8 slide narrative</a:t>
            </a:r>
            <a:endParaRPr lang="en-US" sz="1600" dirty="0"/>
          </a:p>
        </p:txBody>
      </p:sp>
      <p:sp>
        <p:nvSpPr>
          <p:cNvPr id="11" name="element_af17974ab5766ea7e0459cd235ada36e"/>
          <p:cNvSpPr txBox="1"/>
          <p:nvPr/>
        </p:nvSpPr>
        <p:spPr>
          <a:xfrm>
            <a:off x="4267093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Structured chart, formula, and image primitives where relevant</a:t>
            </a:r>
            <a:endParaRPr lang="en-US" sz="1600" dirty="0"/>
          </a:p>
        </p:txBody>
      </p:sp>
      <p:sp>
        <p:nvSpPr>
          <p:cNvPr id="12" name="element_fc1061b41cf9324d31932234b45eb5e2"/>
          <p:cNvSpPr txBox="1"/>
          <p:nvPr/>
        </p:nvSpPr>
        <p:spPr>
          <a:xfrm>
            <a:off x="7680768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Validation passes before presentation or export</a:t>
            </a:r>
            <a:endParaRPr lang="en-US" sz="1600" dirty="0"/>
          </a:p>
        </p:txBody>
      </p:sp>
      <p:sp>
        <p:nvSpPr>
          <p:cNvPr id="13" name="element_70fd26c7784522603fb0cd3a5c4399f1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6B6158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4" name="element_e97cc2bb24fd341b22733b6266aaf154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01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slide-slide-id:slide_45c3840f55554c062cec3a3c70a66aeb"/>
          <p:cNvSpPr/>
          <p:nvPr/>
        </p:nvSpPr>
        <p:spPr>
          <a:xfrm>
            <a:off x="0" y="0"/>
            <a:ext cx="914" cy="9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193730dc3629a091102283f643a80d9f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element_6fc2bbf5c379e05768e1e453ce033057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CONTEXT / 02</a:t>
            </a:r>
            <a:endParaRPr lang="en-US" sz="1500" dirty="0"/>
          </a:p>
        </p:txBody>
      </p:sp>
      <p:sp>
        <p:nvSpPr>
          <p:cNvPr id="5" name="element_8293650f449d581db36730c39bfba820"/>
          <p:cNvSpPr txBox="1"/>
          <p:nvPr/>
        </p:nvSpPr>
        <p:spPr>
          <a:xfrm>
            <a:off x="853419" y="960120"/>
            <a:ext cx="9997190" cy="1303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Fraunces Variable" pitchFamily="34" charset="0"/>
                <a:ea typeface="Fraunces Variable" pitchFamily="34" charset="-122"/>
                <a:cs typeface="Fraunces Variable" pitchFamily="34" charset="-120"/>
              </a:rPr>
              <a:t>The cost of waiting is usually hidden in repeated work.</a:t>
            </a:r>
            <a:endParaRPr lang="en-US" sz="3800" dirty="0"/>
          </a:p>
        </p:txBody>
      </p:sp>
      <p:sp>
        <p:nvSpPr>
          <p:cNvPr id="6" name="element_bb15d10c6d4c947df75427d6b4ed1a83"/>
          <p:cNvSpPr/>
          <p:nvPr/>
        </p:nvSpPr>
        <p:spPr>
          <a:xfrm>
            <a:off x="792460" y="3909060"/>
            <a:ext cx="3169841" cy="1577340"/>
          </a:xfrm>
          <a:prstGeom prst="roundRect">
            <a:avLst/>
          </a:prstGeom>
          <a:solidFill>
            <a:srgbClr val="F2DED3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7" name="element_34bd8b77ff2ad5c9caed9f2e5c6bb9a5"/>
          <p:cNvSpPr/>
          <p:nvPr/>
        </p:nvSpPr>
        <p:spPr>
          <a:xfrm>
            <a:off x="4206135" y="3909060"/>
            <a:ext cx="3169841" cy="1577340"/>
          </a:xfrm>
          <a:prstGeom prst="roundRect">
            <a:avLst/>
          </a:prstGeom>
          <a:solidFill>
            <a:srgbClr val="F2DED3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8" name="element_a0c2ba1d31c4c4d2f7696de297168b03"/>
          <p:cNvSpPr/>
          <p:nvPr/>
        </p:nvSpPr>
        <p:spPr>
          <a:xfrm>
            <a:off x="7619810" y="3909060"/>
            <a:ext cx="3169841" cy="1577340"/>
          </a:xfrm>
          <a:prstGeom prst="roundRect">
            <a:avLst/>
          </a:prstGeom>
          <a:solidFill>
            <a:srgbClr val="F2DED3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9" name="element_a3063d9a332478eeb626bfcbe525a1ac"/>
          <p:cNvSpPr txBox="1"/>
          <p:nvPr/>
        </p:nvSpPr>
        <p:spPr>
          <a:xfrm>
            <a:off x="853419" y="2468880"/>
            <a:ext cx="999719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6B6158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Frame the current reality for Decision-makers described in the brief: what is fragmented today, why it matters now, and where momentum is being lost.</a:t>
            </a:r>
            <a:endParaRPr lang="en-US" sz="1900" dirty="0"/>
          </a:p>
        </p:txBody>
      </p:sp>
      <p:sp>
        <p:nvSpPr>
          <p:cNvPr id="10" name="element_29b8df1e718a37f9741b54563a035d85"/>
          <p:cNvSpPr txBox="1"/>
          <p:nvPr/>
        </p:nvSpPr>
        <p:spPr>
          <a:xfrm>
            <a:off x="853419" y="4114800"/>
            <a:ext cx="3047924" cy="109728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Name the friction</a:t>
            </a:r>
            <a:endParaRPr lang="en-US" sz="1600" dirty="0"/>
          </a:p>
        </p:txBody>
      </p:sp>
      <p:sp>
        <p:nvSpPr>
          <p:cNvPr id="11" name="element_e895698867417d713ea5676d995e62f4"/>
          <p:cNvSpPr txBox="1"/>
          <p:nvPr/>
        </p:nvSpPr>
        <p:spPr>
          <a:xfrm>
            <a:off x="4267093" y="4114800"/>
            <a:ext cx="3047924" cy="109728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Expose the consequence</a:t>
            </a:r>
            <a:endParaRPr lang="en-US" sz="1600" dirty="0"/>
          </a:p>
        </p:txBody>
      </p:sp>
      <p:sp>
        <p:nvSpPr>
          <p:cNvPr id="12" name="element_a7d78160be2fb8bab2a97e35135c297d"/>
          <p:cNvSpPr txBox="1"/>
          <p:nvPr/>
        </p:nvSpPr>
        <p:spPr>
          <a:xfrm>
            <a:off x="7680768" y="4114800"/>
            <a:ext cx="3047924" cy="109728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Create urgency without hype</a:t>
            </a:r>
            <a:endParaRPr lang="en-US" sz="1600" dirty="0"/>
          </a:p>
        </p:txBody>
      </p:sp>
      <p:sp>
        <p:nvSpPr>
          <p:cNvPr id="13" name="element_d64c9c9e5cb6d5b2e236edd82e448062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6B6158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4" name="element_69def43801f8fc2483287e2d176400ed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02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slide-slide-id:slide_625489891715a8350d1e3d7e0bcf60d5"/>
          <p:cNvSpPr/>
          <p:nvPr/>
        </p:nvSpPr>
        <p:spPr>
          <a:xfrm>
            <a:off x="0" y="0"/>
            <a:ext cx="914" cy="9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3da4699ea2826cb6e8d634a0f001aa5f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element_4a1425e8282e3b441b71037787e5be19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INSIGHT / 03</a:t>
            </a:r>
            <a:endParaRPr lang="en-US" sz="1500" dirty="0"/>
          </a:p>
        </p:txBody>
      </p:sp>
      <p:sp>
        <p:nvSpPr>
          <p:cNvPr id="5" name="element_39d524ccc7e46becf030dbf13ba76dce"/>
          <p:cNvSpPr txBox="1"/>
          <p:nvPr/>
        </p:nvSpPr>
        <p:spPr>
          <a:xfrm>
            <a:off x="853419" y="960120"/>
            <a:ext cx="9997190" cy="1303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Fraunces Variable" pitchFamily="34" charset="0"/>
                <a:ea typeface="Fraunces Variable" pitchFamily="34" charset="-122"/>
                <a:cs typeface="Fraunces Variable" pitchFamily="34" charset="-120"/>
              </a:rPr>
              <a:t>A better outcome starts with a sharper point of view.</a:t>
            </a:r>
            <a:endParaRPr lang="en-US" sz="3800" dirty="0"/>
          </a:p>
        </p:txBody>
      </p:sp>
      <p:sp>
        <p:nvSpPr>
          <p:cNvPr id="6" name="element_cc145e31e83c5aeb3e657da205836929"/>
          <p:cNvSpPr/>
          <p:nvPr/>
        </p:nvSpPr>
        <p:spPr>
          <a:xfrm>
            <a:off x="6278723" y="2674620"/>
            <a:ext cx="4937637" cy="2743200"/>
          </a:xfrm>
          <a:prstGeom prst="roundRect">
            <a:avLst/>
          </a:prstGeom>
          <a:solidFill>
            <a:srgbClr val="E5E9D6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7" name="element_b03613ad500ed12e1bcad76397ceaa43"/>
          <p:cNvSpPr txBox="1"/>
          <p:nvPr/>
        </p:nvSpPr>
        <p:spPr>
          <a:xfrm>
            <a:off x="853419" y="2743200"/>
            <a:ext cx="49985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6B6158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Create an evidence-led presentation about the 2022 FIFA World Cup with an editable chart, a goals-per-match formula, source-linked claims, and a clear executive takeaway.</a:t>
            </a:r>
            <a:endParaRPr lang="en-US" sz="1900" dirty="0"/>
          </a:p>
        </p:txBody>
      </p:sp>
      <p:sp>
        <p:nvSpPr>
          <p:cNvPr id="8" name="element_ff25e79249030a32a04b53a876163e74"/>
          <p:cNvSpPr txBox="1"/>
          <p:nvPr/>
        </p:nvSpPr>
        <p:spPr>
          <a:xfrm>
            <a:off x="6461598" y="3086100"/>
            <a:ext cx="438901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A coherent 6–8 slide narrative</a:t>
            </a:r>
            <a:endParaRPr lang="en-US" sz="1700" dirty="0"/>
          </a:p>
        </p:txBody>
      </p:sp>
      <p:sp>
        <p:nvSpPr>
          <p:cNvPr id="9" name="element_47d962b94c49f1bf40fe4f3a25d3dae3"/>
          <p:cNvSpPr txBox="1"/>
          <p:nvPr/>
        </p:nvSpPr>
        <p:spPr>
          <a:xfrm>
            <a:off x="6461598" y="3909060"/>
            <a:ext cx="438901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Structured chart, formula, and image primitives where relevant</a:t>
            </a:r>
            <a:endParaRPr lang="en-US" sz="1700" dirty="0"/>
          </a:p>
        </p:txBody>
      </p:sp>
      <p:sp>
        <p:nvSpPr>
          <p:cNvPr id="10" name="element_41681538934e72e2bed3e2fe88eb32b9"/>
          <p:cNvSpPr txBox="1"/>
          <p:nvPr/>
        </p:nvSpPr>
        <p:spPr>
          <a:xfrm>
            <a:off x="6461598" y="4732020"/>
            <a:ext cx="438901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Validation passes before presentation or export</a:t>
            </a:r>
            <a:endParaRPr lang="en-US" sz="1700" dirty="0"/>
          </a:p>
        </p:txBody>
      </p:sp>
      <p:sp>
        <p:nvSpPr>
          <p:cNvPr id="11" name="element_6cbbcc06ab1d861f401f04fc90d4aa48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6B6158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2" name="element_ea5ef88a37395263cba8f3a423f9532b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03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slide-slide-id:slide_86ba8c67332eb69cce4cd40d532e1d2b"/>
          <p:cNvSpPr/>
          <p:nvPr/>
        </p:nvSpPr>
        <p:spPr>
          <a:xfrm>
            <a:off x="0" y="0"/>
            <a:ext cx="914" cy="9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00b337e3808656d5595e1bec6d617537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element_e92f315e9523f1b40baaed44c5112d95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APPROACH / 04</a:t>
            </a:r>
            <a:endParaRPr lang="en-US" sz="1500" dirty="0"/>
          </a:p>
        </p:txBody>
      </p:sp>
      <p:sp>
        <p:nvSpPr>
          <p:cNvPr id="5" name="element_61936c293bc882e0343f9c00e5f877fe"/>
          <p:cNvSpPr txBox="1"/>
          <p:nvPr/>
        </p:nvSpPr>
        <p:spPr>
          <a:xfrm>
            <a:off x="853419" y="960120"/>
            <a:ext cx="9997190" cy="1303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Fraunces Variable" pitchFamily="34" charset="0"/>
                <a:ea typeface="Fraunces Variable" pitchFamily="34" charset="-122"/>
                <a:cs typeface="Fraunces Variable" pitchFamily="34" charset="-120"/>
              </a:rPr>
              <a:t>The requested calculation remains a structured formula.</a:t>
            </a:r>
            <a:endParaRPr lang="en-US" sz="3800" dirty="0"/>
          </a:p>
        </p:txBody>
      </p:sp>
      <p:sp>
        <p:nvSpPr>
          <p:cNvPr id="6" name="element_d5c9b9c99154af2474c80310a0278b73"/>
          <p:cNvSpPr/>
          <p:nvPr/>
        </p:nvSpPr>
        <p:spPr>
          <a:xfrm>
            <a:off x="6095848" y="2674620"/>
            <a:ext cx="5120512" cy="2743200"/>
          </a:xfrm>
          <a:prstGeom prst="roundRect">
            <a:avLst/>
          </a:prstGeom>
          <a:solidFill>
            <a:srgbClr val="F2DED3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7" name="element_aa18fd76fc858b9597fb949b69dce4fd"/>
          <p:cNvSpPr txBox="1"/>
          <p:nvPr/>
        </p:nvSpPr>
        <p:spPr>
          <a:xfrm>
            <a:off x="853419" y="2743200"/>
            <a:ext cx="475476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6B6158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Connect intent, action, and feedback in one visible operating path so the audience can see both the destination and the mechanics.</a:t>
            </a:r>
            <a:endParaRPr lang="en-US" sz="1900" dirty="0"/>
          </a:p>
        </p:txBody>
      </p:sp>
      <p:sp>
        <p:nvSpPr>
          <p:cNvPr id="8" name="element_3d2a2a67c47f79598b4086181bf1f672"/>
          <p:cNvSpPr txBox="1"/>
          <p:nvPr/>
        </p:nvSpPr>
        <p:spPr>
          <a:xfrm>
            <a:off x="853419" y="42519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Align on intent</a:t>
            </a:r>
            <a:endParaRPr lang="en-US" sz="1700" dirty="0"/>
          </a:p>
        </p:txBody>
      </p:sp>
      <p:sp>
        <p:nvSpPr>
          <p:cNvPr id="9" name="element_69f9c32daaeae4a7ac3f52f38e90dd9b"/>
          <p:cNvSpPr txBox="1"/>
          <p:nvPr/>
        </p:nvSpPr>
        <p:spPr>
          <a:xfrm>
            <a:off x="853419" y="507492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Execute the critical moves</a:t>
            </a:r>
            <a:endParaRPr lang="en-US" sz="1700" dirty="0"/>
          </a:p>
        </p:txBody>
      </p:sp>
      <p:sp>
        <p:nvSpPr>
          <p:cNvPr id="10" name="element_1d42481efc91f5977e10f06d4fcf765f"/>
          <p:cNvSpPr txBox="1"/>
          <p:nvPr/>
        </p:nvSpPr>
        <p:spPr>
          <a:xfrm>
            <a:off x="853419" y="589788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Review measurable outcomes</a:t>
            </a:r>
            <a:endParaRPr lang="en-US" sz="1700" dirty="0"/>
          </a:p>
        </p:txBody>
      </p:sp>
      <p:sp>
        <p:nvSpPr>
          <p:cNvPr id="11" name="element_ea7cc26f37219549d9b113543f653722"/>
          <p:cNvSpPr txBox="1"/>
          <p:nvPr/>
        </p:nvSpPr>
        <p:spPr>
          <a:xfrm>
            <a:off x="6461598" y="2880360"/>
            <a:ext cx="4754761" cy="1645920"/>
          </a:xfrm>
          <a:prstGeom prst="rect">
            <a:avLst/>
          </a:prstGeom>
          <a:noFill/>
          <a:ln/>
        </p:spPr>
        <p:txBody>
          <a:bodyPr wrap="square" lIns="254000" tIns="254000" rIns="254000" bIns="2540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34452C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accepted change = proposal ∩ authorized scope</a:t>
            </a:r>
            <a:endParaRPr lang="en-US" sz="3000" dirty="0"/>
          </a:p>
        </p:txBody>
      </p:sp>
      <p:sp>
        <p:nvSpPr>
          <p:cNvPr id="12" name="element_4abbbbb56859fdbb7ffcf8185950417d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6B6158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3" name="element_c99d150b2695e0dd9d5c9b87fc73281d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04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slide-slide-id:slide_007a62a48f9a059d43e76d340b6928e4"/>
          <p:cNvSpPr/>
          <p:nvPr/>
        </p:nvSpPr>
        <p:spPr>
          <a:xfrm>
            <a:off x="0" y="0"/>
            <a:ext cx="914" cy="9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ebdd34c25b81968d5e7ed14c188061c7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element_ff90bec3b13775281c394d50561922c3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EVIDENCE / 05</a:t>
            </a:r>
            <a:endParaRPr lang="en-US" sz="1500" dirty="0"/>
          </a:p>
        </p:txBody>
      </p:sp>
      <p:sp>
        <p:nvSpPr>
          <p:cNvPr id="5" name="element_14edd57d686a3b409b99a00cb7dc801f"/>
          <p:cNvSpPr txBox="1"/>
          <p:nvPr/>
        </p:nvSpPr>
        <p:spPr>
          <a:xfrm>
            <a:off x="853419" y="960120"/>
            <a:ext cx="9997190" cy="1303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Fraunces Variable" pitchFamily="34" charset="0"/>
                <a:ea typeface="Fraunces Variable" pitchFamily="34" charset="-122"/>
                <a:cs typeface="Fraunces Variable" pitchFamily="34" charset="-120"/>
              </a:rPr>
              <a:t>The requested values remain an editable chart.</a:t>
            </a:r>
            <a:endParaRPr lang="en-US" sz="3800" dirty="0"/>
          </a:p>
        </p:txBody>
      </p:sp>
      <p:sp>
        <p:nvSpPr>
          <p:cNvPr id="6" name="element_d9fc06154cd1ba558af6857ed9bf2466"/>
          <p:cNvSpPr/>
          <p:nvPr/>
        </p:nvSpPr>
        <p:spPr>
          <a:xfrm>
            <a:off x="6278723" y="2674620"/>
            <a:ext cx="4937637" cy="2743200"/>
          </a:xfrm>
          <a:prstGeom prst="roundRect">
            <a:avLst/>
          </a:prstGeom>
          <a:solidFill>
            <a:srgbClr val="E5E9D6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7" name="element_3d97787bb2732236343a8ece089aa33e"/>
          <p:cNvSpPr txBox="1"/>
          <p:nvPr/>
        </p:nvSpPr>
        <p:spPr>
          <a:xfrm>
            <a:off x="853419" y="2743200"/>
            <a:ext cx="475476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6B6158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Use the brief’s success criteria as explicit evaluation signals, with assumptions clearly separated from measured evidence.</a:t>
            </a:r>
            <a:endParaRPr lang="en-US" sz="1900" dirty="0"/>
          </a:p>
        </p:txBody>
      </p:sp>
      <p:sp>
        <p:nvSpPr>
          <p:cNvPr id="8" name="element_1774360016571a78e5f2f6160b50b282"/>
          <p:cNvSpPr txBox="1"/>
          <p:nvPr/>
        </p:nvSpPr>
        <p:spPr>
          <a:xfrm>
            <a:off x="853419" y="42519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A coherent 6–8 slide narrative</a:t>
            </a:r>
            <a:endParaRPr lang="en-US" sz="1700" dirty="0"/>
          </a:p>
        </p:txBody>
      </p:sp>
      <p:sp>
        <p:nvSpPr>
          <p:cNvPr id="9" name="element_96f4776607113a2cc086103ea8ddc273"/>
          <p:cNvSpPr txBox="1"/>
          <p:nvPr/>
        </p:nvSpPr>
        <p:spPr>
          <a:xfrm>
            <a:off x="853419" y="507492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Structured chart, formula, and image primitives where relevant</a:t>
            </a:r>
            <a:endParaRPr lang="en-US" sz="1700" dirty="0"/>
          </a:p>
        </p:txBody>
      </p:sp>
      <p:sp>
        <p:nvSpPr>
          <p:cNvPr id="10" name="element_fa0d7f89cc5a6892664db922ae949fae"/>
          <p:cNvSpPr txBox="1"/>
          <p:nvPr/>
        </p:nvSpPr>
        <p:spPr>
          <a:xfrm>
            <a:off x="853419" y="589788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Validation passes before presentation or export</a:t>
            </a:r>
            <a:endParaRPr lang="en-US" sz="1700" dirty="0"/>
          </a:p>
        </p:txBody>
      </p:sp>
      <p:sp>
        <p:nvSpPr>
          <p:cNvPr id="11" name="element_53d97a06aff6bb9817c649fdbbedda9c"/>
          <p:cNvSpPr txBox="1"/>
          <p:nvPr/>
        </p:nvSpPr>
        <p:spPr>
          <a:xfrm>
            <a:off x="6827349" y="2811780"/>
            <a:ext cx="4145176" cy="1028700"/>
          </a:xfrm>
          <a:prstGeom prst="rect">
            <a:avLst/>
          </a:prstGeom>
          <a:noFill/>
          <a:ln/>
        </p:spPr>
        <p:txBody>
          <a:bodyPr wrap="square" lIns="254000" tIns="254000" rIns="254000" bIns="2540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300" b="1" dirty="0">
                <a:solidFill>
                  <a:srgbClr val="34452C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3 signals</a:t>
            </a:r>
            <a:endParaRPr lang="en-US" sz="4300" dirty="0"/>
          </a:p>
        </p:txBody>
      </p:sp>
      <p:sp>
        <p:nvSpPr>
          <p:cNvPr id="12" name="element_e48a774ad406c8104020f16799166070"/>
          <p:cNvSpPr txBox="1"/>
          <p:nvPr/>
        </p:nvSpPr>
        <p:spPr>
          <a:xfrm>
            <a:off x="7193100" y="3977640"/>
            <a:ext cx="3535592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6B6158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agreed measures of a successful outcome</a:t>
            </a:r>
            <a:endParaRPr lang="en-US" sz="1500" dirty="0"/>
          </a:p>
        </p:txBody>
      </p:sp>
      <p:sp>
        <p:nvSpPr>
          <p:cNvPr id="13" name="element_51f77047359470d3b453fa6122769136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6B6158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4" name="element_aa003e1d51612e4ee35160de2895f7ce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05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slide-slide-id:slide_2b7b2459e7f81280085d6cf58eede4fd"/>
          <p:cNvSpPr/>
          <p:nvPr/>
        </p:nvSpPr>
        <p:spPr>
          <a:xfrm>
            <a:off x="0" y="0"/>
            <a:ext cx="914" cy="9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e0c1f55025b26ac382bd9e1be96546e7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element_5faa930a3154633f3aefe431d12498ed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DELIVERY / 06</a:t>
            </a:r>
            <a:endParaRPr lang="en-US" sz="1500" dirty="0"/>
          </a:p>
        </p:txBody>
      </p:sp>
      <p:sp>
        <p:nvSpPr>
          <p:cNvPr id="5" name="element_747b17b7aa00a00325655b09c756bfcc"/>
          <p:cNvSpPr txBox="1"/>
          <p:nvPr/>
        </p:nvSpPr>
        <p:spPr>
          <a:xfrm>
            <a:off x="853419" y="960120"/>
            <a:ext cx="9997190" cy="1303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Fraunces Variable" pitchFamily="34" charset="0"/>
                <a:ea typeface="Fraunces Variable" pitchFamily="34" charset="-122"/>
                <a:cs typeface="Fraunces Variable" pitchFamily="34" charset="-120"/>
              </a:rPr>
              <a:t>Start narrow, learn quickly, and preserve room to adapt.</a:t>
            </a:r>
            <a:endParaRPr lang="en-US" sz="3800" dirty="0"/>
          </a:p>
        </p:txBody>
      </p:sp>
      <p:sp>
        <p:nvSpPr>
          <p:cNvPr id="6" name="element_7df35a8661a0f7784b15054bad0d133d"/>
          <p:cNvSpPr/>
          <p:nvPr/>
        </p:nvSpPr>
        <p:spPr>
          <a:xfrm>
            <a:off x="6095848" y="2674620"/>
            <a:ext cx="5120512" cy="2743200"/>
          </a:xfrm>
          <a:prstGeom prst="roundRect">
            <a:avLst/>
          </a:prstGeom>
          <a:solidFill>
            <a:srgbClr val="F2DED3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7" name="element_e9ab868f71290c9d44da3aef5afe9110"/>
          <p:cNvSpPr txBox="1"/>
          <p:nvPr/>
        </p:nvSpPr>
        <p:spPr>
          <a:xfrm>
            <a:off x="853419" y="2743200"/>
            <a:ext cx="49985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6B6158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Sequence the work into a focused launch, an evidence review, and a deliberate scale decision with named ownership at every step.</a:t>
            </a:r>
            <a:endParaRPr lang="en-US" sz="1900" dirty="0"/>
          </a:p>
        </p:txBody>
      </p:sp>
      <p:sp>
        <p:nvSpPr>
          <p:cNvPr id="8" name="element_372c351a38a37a5a5a528647c409c7f2"/>
          <p:cNvSpPr txBox="1"/>
          <p:nvPr/>
        </p:nvSpPr>
        <p:spPr>
          <a:xfrm>
            <a:off x="6461598" y="3086100"/>
            <a:ext cx="438901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Launch the smallest credible move</a:t>
            </a:r>
            <a:endParaRPr lang="en-US" sz="1700" dirty="0"/>
          </a:p>
        </p:txBody>
      </p:sp>
      <p:sp>
        <p:nvSpPr>
          <p:cNvPr id="9" name="element_d9628a51c09b003c52ee0e7ca101ee0c"/>
          <p:cNvSpPr txBox="1"/>
          <p:nvPr/>
        </p:nvSpPr>
        <p:spPr>
          <a:xfrm>
            <a:off x="6461598" y="3909060"/>
            <a:ext cx="438901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Review evidence with stakeholders</a:t>
            </a:r>
            <a:endParaRPr lang="en-US" sz="1700" dirty="0"/>
          </a:p>
        </p:txBody>
      </p:sp>
      <p:sp>
        <p:nvSpPr>
          <p:cNvPr id="10" name="element_e822502dae52954f1764721764cff54b"/>
          <p:cNvSpPr txBox="1"/>
          <p:nvPr/>
        </p:nvSpPr>
        <p:spPr>
          <a:xfrm>
            <a:off x="6461598" y="4732020"/>
            <a:ext cx="438901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Scale what earns confidence</a:t>
            </a:r>
            <a:endParaRPr lang="en-US" sz="1700" dirty="0"/>
          </a:p>
        </p:txBody>
      </p:sp>
      <p:sp>
        <p:nvSpPr>
          <p:cNvPr id="11" name="element_ff461a92424624c7e2b0a5913c59d4f9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6B6158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2" name="element_8b0fadb43e21001b1cd60ce7be34f380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06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slide-slide-id:slide_5f264d294b8e6dd8d6f05554e9d0aaad"/>
          <p:cNvSpPr/>
          <p:nvPr/>
        </p:nvSpPr>
        <p:spPr>
          <a:xfrm>
            <a:off x="0" y="0"/>
            <a:ext cx="914" cy="9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ab654994cbca815fe1f9feda49ae9546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element_db1e0ceaa21bd0ddf085a5f0a2460b11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CLOSE / 07</a:t>
            </a:r>
            <a:endParaRPr lang="en-US" sz="1500" dirty="0"/>
          </a:p>
        </p:txBody>
      </p:sp>
      <p:sp>
        <p:nvSpPr>
          <p:cNvPr id="5" name="element_6d9effeac7bd868f51b8e3119b4ba45d"/>
          <p:cNvSpPr txBox="1"/>
          <p:nvPr/>
        </p:nvSpPr>
        <p:spPr>
          <a:xfrm>
            <a:off x="853419" y="960120"/>
            <a:ext cx="9997190" cy="1303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Fraunces Variable" pitchFamily="34" charset="0"/>
                <a:ea typeface="Fraunces Variable" pitchFamily="34" charset="-122"/>
                <a:cs typeface="Fraunces Variable" pitchFamily="34" charset="-120"/>
              </a:rPr>
              <a:t>Create an editable, reviewable presentation from this idea</a:t>
            </a:r>
            <a:endParaRPr lang="en-US" sz="3800" dirty="0"/>
          </a:p>
        </p:txBody>
      </p:sp>
      <p:sp>
        <p:nvSpPr>
          <p:cNvPr id="6" name="element_f263c7e75f917ae691a9a86a4f1e3234"/>
          <p:cNvSpPr/>
          <p:nvPr/>
        </p:nvSpPr>
        <p:spPr>
          <a:xfrm>
            <a:off x="792460" y="3703320"/>
            <a:ext cx="6095848" cy="822960"/>
          </a:xfrm>
          <a:prstGeom prst="roundRect">
            <a:avLst/>
          </a:prstGeom>
          <a:solidFill>
            <a:srgbClr val="E5E9D6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7" name="element_086c8444797dafc36b685dd6e8d0c934"/>
          <p:cNvSpPr/>
          <p:nvPr/>
        </p:nvSpPr>
        <p:spPr>
          <a:xfrm>
            <a:off x="7132142" y="3703320"/>
            <a:ext cx="3718467" cy="822960"/>
          </a:xfrm>
          <a:prstGeom prst="roundRect">
            <a:avLst/>
          </a:prstGeom>
          <a:solidFill>
            <a:srgbClr val="E5E9D6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8" name="element_0519893ef53da51731c924815778cd4c"/>
          <p:cNvSpPr/>
          <p:nvPr/>
        </p:nvSpPr>
        <p:spPr>
          <a:xfrm>
            <a:off x="792460" y="4663440"/>
            <a:ext cx="10058149" cy="822960"/>
          </a:xfrm>
          <a:prstGeom prst="roundRect">
            <a:avLst/>
          </a:prstGeom>
          <a:solidFill>
            <a:srgbClr val="E5E9D6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9" name="element_7f0987a588887531eee4e0290e31212f"/>
          <p:cNvSpPr txBox="1"/>
          <p:nvPr/>
        </p:nvSpPr>
        <p:spPr>
          <a:xfrm>
            <a:off x="853419" y="2468880"/>
            <a:ext cx="8778021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6B6158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Invite Decision-makers described in the brief to align on the outcome, the first action, and the evidence that will guide the next decision.</a:t>
            </a:r>
            <a:endParaRPr lang="en-US" sz="1900" dirty="0"/>
          </a:p>
        </p:txBody>
      </p:sp>
      <p:sp>
        <p:nvSpPr>
          <p:cNvPr id="10" name="element_c6895e0481cec73f7e1d6d4be3819d4d"/>
          <p:cNvSpPr txBox="1"/>
          <p:nvPr/>
        </p:nvSpPr>
        <p:spPr>
          <a:xfrm>
            <a:off x="975336" y="3840480"/>
            <a:ext cx="5730097" cy="54864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Agree the outcome</a:t>
            </a:r>
            <a:endParaRPr lang="en-US" sz="1600" dirty="0"/>
          </a:p>
        </p:txBody>
      </p:sp>
      <p:sp>
        <p:nvSpPr>
          <p:cNvPr id="11" name="element_a921128a88bf3b5bd24f1d9ec8139a84"/>
          <p:cNvSpPr txBox="1"/>
          <p:nvPr/>
        </p:nvSpPr>
        <p:spPr>
          <a:xfrm>
            <a:off x="7315017" y="3840480"/>
            <a:ext cx="3352716" cy="54864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Name the owner</a:t>
            </a:r>
            <a:endParaRPr lang="en-US" sz="1600" dirty="0"/>
          </a:p>
        </p:txBody>
      </p:sp>
      <p:sp>
        <p:nvSpPr>
          <p:cNvPr id="12" name="element_cac8829b4c3917f1f966662902e0b445"/>
          <p:cNvSpPr txBox="1"/>
          <p:nvPr/>
        </p:nvSpPr>
        <p:spPr>
          <a:xfrm>
            <a:off x="975336" y="4800600"/>
            <a:ext cx="9692398" cy="54864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Set the next checkpoint</a:t>
            </a:r>
            <a:endParaRPr lang="en-US" sz="1600" dirty="0"/>
          </a:p>
        </p:txBody>
      </p:sp>
      <p:sp>
        <p:nvSpPr>
          <p:cNvPr id="13" name="element_b838f4e6411bda45cedaf70730759ea1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6B6158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4" name="element_324df1e6d86e873164f321a9a218df8f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07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slide-slide-id:slide_da6ffde180e3a45ac7e9682b30685a9e"/>
          <p:cNvSpPr/>
          <p:nvPr/>
        </p:nvSpPr>
        <p:spPr>
          <a:xfrm>
            <a:off x="0" y="0"/>
            <a:ext cx="914" cy="9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d5282941635f2532c58e9efddb590c01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element_4f709d60dbb05dc890fb627a82c14cae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APPENDIX / 08</a:t>
            </a:r>
            <a:endParaRPr lang="en-US" sz="1500" dirty="0"/>
          </a:p>
        </p:txBody>
      </p:sp>
      <p:sp>
        <p:nvSpPr>
          <p:cNvPr id="5" name="element_08f002be9b6007041c3c4a9f90462fc8"/>
          <p:cNvSpPr txBox="1"/>
          <p:nvPr/>
        </p:nvSpPr>
        <p:spPr>
          <a:xfrm>
            <a:off x="853419" y="960120"/>
            <a:ext cx="999719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Fraunces Variable" pitchFamily="34" charset="0"/>
                <a:ea typeface="Fraunces Variable" pitchFamily="34" charset="-122"/>
                <a:cs typeface="Fraunces Variable" pitchFamily="34" charset="-120"/>
              </a:rPr>
              <a:t>Keep the evidence available without crowding the main argument.</a:t>
            </a:r>
            <a:endParaRPr lang="en-US" sz="3800" dirty="0"/>
          </a:p>
        </p:txBody>
      </p:sp>
      <p:sp>
        <p:nvSpPr>
          <p:cNvPr id="6" name="element_d9481b4d1aef27055520ac92a48ecff1"/>
          <p:cNvSpPr/>
          <p:nvPr/>
        </p:nvSpPr>
        <p:spPr>
          <a:xfrm>
            <a:off x="853419" y="5692140"/>
            <a:ext cx="9997190" cy="82296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element_c68c3e3593fef05ba30f88440b3cd917"/>
          <p:cNvSpPr txBox="1"/>
          <p:nvPr/>
        </p:nvSpPr>
        <p:spPr>
          <a:xfrm>
            <a:off x="853419" y="2743200"/>
            <a:ext cx="8046519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6B6158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Carry the supporting assumptions, definitions, and source notes into an editable appendix for follow-up review.</a:t>
            </a:r>
            <a:endParaRPr lang="en-US" sz="1900" dirty="0"/>
          </a:p>
        </p:txBody>
      </p:sp>
      <p:sp>
        <p:nvSpPr>
          <p:cNvPr id="8" name="element_ad52c246d2adb69bed6550eec100d65b"/>
          <p:cNvSpPr txBox="1"/>
          <p:nvPr/>
        </p:nvSpPr>
        <p:spPr>
          <a:xfrm>
            <a:off x="853419" y="473202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State assumptions</a:t>
            </a:r>
            <a:endParaRPr lang="en-US" sz="1600" dirty="0"/>
          </a:p>
        </p:txBody>
      </p:sp>
      <p:sp>
        <p:nvSpPr>
          <p:cNvPr id="9" name="element_d0500a859ddf17691a8907157671c8bd"/>
          <p:cNvSpPr txBox="1"/>
          <p:nvPr/>
        </p:nvSpPr>
        <p:spPr>
          <a:xfrm>
            <a:off x="4267093" y="473202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Define the measures</a:t>
            </a:r>
            <a:endParaRPr lang="en-US" sz="1600" dirty="0"/>
          </a:p>
        </p:txBody>
      </p:sp>
      <p:sp>
        <p:nvSpPr>
          <p:cNvPr id="10" name="element_192aab375a1c70f5c91c2a4f0a566538"/>
          <p:cNvSpPr txBox="1"/>
          <p:nvPr/>
        </p:nvSpPr>
        <p:spPr>
          <a:xfrm>
            <a:off x="7680768" y="473202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Keep source notes attached</a:t>
            </a:r>
            <a:endParaRPr lang="en-US" sz="1600" dirty="0"/>
          </a:p>
        </p:txBody>
      </p:sp>
      <p:sp>
        <p:nvSpPr>
          <p:cNvPr id="11" name="element_a5455bede0e5262517cea651996bcbaf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6B6158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2" name="element_e0e0d4bba58a58a9c9a36adc87eb3731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08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Fraunces Variabl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Geist Variabl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Parity Studio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World Cup 2022 — The Data Story</dc:title>
  <dc:subject>Create an editable, reviewable presentation from this idea</dc:subject>
  <dc:creator>NodeSlide</dc:creator>
  <cp:lastModifiedBy>NodeSlide</cp:lastModifiedBy>
  <cp:revision>1</cp:revision>
  <dcterms:created xsi:type="dcterms:W3CDTF">2026-07-17T02:29:32Z</dcterms:created>
  <dcterms:modified xsi:type="dcterms:W3CDTF">2026-07-17T02:29:32Z</dcterms:modified>
</cp:coreProperties>
</file>