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Input</c:v>
                  </c:pt>
                  <c:pt idx="1">
                    <c:v>Output</c:v>
                  </c:pt>
                </c:lvl>
              </c:multiLvlStrCache>
            </c:multiLvlStrRef>
          </c:cat>
          <c:val>
            <c:numRef>
              <c:f>Sheet1!$B$2:$B$3</c:f>
              <c:numCache>
                <c:formatCode>General</c:formatCode>
                <c:ptCount val="2"/>
                <c:pt idx="0">
                  <c:v>459</c:v>
                </c:pt>
                <c:pt idx="1">
                  <c:v>977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Layout intent: hero. Keep the spoken transition focused on “NodeSlide must beat one-shot generation on governed creativity,”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Layout intent: comparison. Keep the spoken transition focused on “NodeSlide can own the governed path from intent to editable execution.”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Layout intent: contract. Keep the spoken transition focused on “A strong deck begins with a decision contract, not a layout lottery.”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Layout intent: flow. Keep the spoken transition focused on “Strategy moves through agents, review, and editable delivery as one visible system.”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Layout intent: split. Keep the spoken transition focused on “Separate in-deck repair from the slower work of improving authoring policy.”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
[source_4e4fe0486d01301fb7ca74136f0ca5ee] Brief success criteria
Citation: Exactly 7 slides in the requested narrative; Structured chart, formula, and image primitives where relevant; Validation passes before presentation or export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Layout intent: evidence_board. Keep the spoken transition focused on “The evidence board makes every model action auditable after the browser closes.”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Layout intent: decision. Keep the spoken transition focused on “Approve the quality gate and require recorded proof for every release.”
Evidence note: Content is based on the supplied creation brief. Illustrative examples are not independently verified; replace them with measured evidence before external publication.
NodeSlide sources
[source_fc3b926d5bc90dbb82d4605649e7f170]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this original NodeSlide editorial image: https://raw.githubusercontent.com/HomenShum/parity-studio/codex/nodeslide-openui-quality-v2/public/nodeslide-assets/governed-creativity.webp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Include this recorded browser video as a real linked video element: https://raw.githubusercontent.com/HomenShum/parity-studio/codex/nodeslide-openui-quality-v2/artifacts/nodeslide-openui-quality-full-live-v3-2026-07-16/browser-journey.webm Slide 6 is an evidence board with labeled proof slots for provider, named model, input and output tokens, nonzero cost, candidate digest, durable validation receipt, version delta, and export artifact. Add one native editable token chart using the recorded creation values Input 459 and Output 977, measured in tokens. Do not invent other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[source_e37aa963bbcf0590d53d014b8d921fa2] raw.githubusercontent.com · supplied source 1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[source_358d7cea12b72e3a887a10120221f64e] raw.githubusercontent.com · supplied source 2
Citation: https://raw.githubusercontent.com/HomenShum/parity-studio/codex/nodeslide-openui-quality-v2/artifacts/nodeslide-openui-quality-full-live-v3-2026-07-16/browser-journey.webm
URL: https://raw.githubusercontent.com/HomenShum/parity-studio/codex/nodeslide-openui-quality-v2/artifacts/nodeslide-openui-quality-full-live-v3-2026-07-16/browser-journey.webm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969205be3eec35e59e7bb846098800e3"/>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b7c5a6a66165a1b6d419eeefdf5351d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64fea3e273836577709fee44ca6bfb3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5" name="element_2b96aad874c11f2930ba41b1622f4747"/>
          <p:cNvSpPr txBox="1"/>
          <p:nvPr/>
        </p:nvSpPr>
        <p:spPr>
          <a:xfrm>
            <a:off x="853419" y="1097280"/>
            <a:ext cx="7436934" cy="192024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Fraunces Variable" pitchFamily="34" charset="0"/>
                <a:ea typeface="Fraunces Variable" pitchFamily="34" charset="-122"/>
                <a:cs typeface="Fraunces Variable" pitchFamily="34" charset="-120"/>
              </a:rPr>
              <a:t>NodeSlide must beat one-shot generation on governed creativity,</a:t>
            </a:r>
            <a:endParaRPr lang="en-US" sz="4800" dirty="0"/>
          </a:p>
        </p:txBody>
      </p:sp>
      <p:sp>
        <p:nvSpPr>
          <p:cNvPr id="6" name="element_49e7d8116c917cbf05ddeab5c9c18ec7"/>
          <p:cNvSpPr/>
          <p:nvPr/>
        </p:nvSpPr>
        <p:spPr>
          <a:xfrm>
            <a:off x="9387605" y="1234440"/>
            <a:ext cx="1463003" cy="685800"/>
          </a:xfrm>
          <a:prstGeom prst="roundRect">
            <a:avLst/>
          </a:prstGeom>
          <a:solidFill>
            <a:srgbClr val="F2DED3"/>
          </a:solidFill>
          <a:ln w="25400">
            <a:solidFill>
              <a:srgbClr val="B44A2D"/>
            </a:solidFill>
            <a:prstDash val="solid"/>
          </a:ln>
        </p:spPr>
      </p:sp>
      <p:sp>
        <p:nvSpPr>
          <p:cNvPr id="7" name="element_635a49b1d98794398d0695602cf10ae5"/>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8" name="element_628859a80542c056e3f2bc30850edc4f"/>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9" name="element_b1aeab97d98f5ae47f26ce12bf0fceb3"/>
          <p:cNvSpPr txBox="1"/>
          <p:nvPr/>
        </p:nvSpPr>
        <p:spPr>
          <a:xfrm>
            <a:off x="853419" y="3429000"/>
            <a:ext cx="4754761" cy="10287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turn live-agent ambition into an editable, reviewable, reversible authoring system.</a:t>
            </a:r>
            <a:endParaRPr lang="en-US" sz="1900" dirty="0"/>
          </a:p>
        </p:txBody>
      </p:sp>
      <p:sp>
        <p:nvSpPr>
          <p:cNvPr id="10" name="element_013d6619efe969e6a4cc5890c42913f9"/>
          <p:cNvSpPr txBox="1"/>
          <p:nvPr/>
        </p:nvSpPr>
        <p:spPr>
          <a:xfrm>
            <a:off x="853419" y="45948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Creative range</a:t>
            </a:r>
            <a:endParaRPr lang="en-US" sz="1700" dirty="0"/>
          </a:p>
        </p:txBody>
      </p:sp>
      <p:sp>
        <p:nvSpPr>
          <p:cNvPr id="11" name="element_ccf9a8df7e0e372939ae92881e9d64fd"/>
          <p:cNvSpPr txBox="1"/>
          <p:nvPr/>
        </p:nvSpPr>
        <p:spPr>
          <a:xfrm>
            <a:off x="853419" y="52806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Governed execution</a:t>
            </a:r>
            <a:endParaRPr lang="en-US" sz="1700" dirty="0"/>
          </a:p>
        </p:txBody>
      </p:sp>
      <p:sp>
        <p:nvSpPr>
          <p:cNvPr id="12" name="element_c6d99106cd34f644a9f00628b80eca6f"/>
          <p:cNvSpPr txBox="1"/>
          <p:nvPr/>
        </p:nvSpPr>
        <p:spPr>
          <a:xfrm>
            <a:off x="853419" y="59664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Native editability</a:t>
            </a:r>
            <a:endParaRPr lang="en-US" sz="1700" dirty="0"/>
          </a:p>
        </p:txBody>
      </p:sp>
      <p:pic>
        <p:nvPicPr>
          <p:cNvPr id="13" name="element_89de640d1988a467501ef287f8ba4d70 [static image fallback]" descr="NodeSlide live authoring proof shown as an editable visual asset">    </p:cNvPr>
          <p:cNvPicPr>
            <a:picLocks noChangeAspect="1"/>
          </p:cNvPicPr>
          <p:nvPr/>
        </p:nvPicPr>
        <p:blipFill>
          <a:blip r:embed="rId1"/>
          <a:stretch>
            <a:fillRect/>
          </a:stretch>
        </p:blipFill>
        <p:spPr>
          <a:xfrm>
            <a:off x="6461598" y="2674620"/>
            <a:ext cx="4754761" cy="2606040"/>
          </a:xfrm>
          <a:prstGeom prst="rect">
            <a:avLst/>
          </a:prstGeom>
        </p:spPr>
      </p:pic>
      <p:sp>
        <p:nvSpPr>
          <p:cNvPr id="14" name="element_134856389e483779b816e4e0ef7e5206"/>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6B6158"/>
                </a:solidFill>
                <a:latin typeface="Geist Variable" pitchFamily="34" charset="0"/>
                <a:ea typeface="Geist Variable" pitchFamily="34" charset="-122"/>
                <a:cs typeface="Geist Variable" pitchFamily="34" charset="-120"/>
              </a:rPr>
              <a:t>Image credit · NodeSlide recorded proof artifact</a:t>
            </a:r>
            <a:endParaRPr lang="en-US" sz="1400" dirty="0"/>
          </a:p>
        </p:txBody>
      </p:sp>
      <p:sp>
        <p:nvSpPr>
          <p:cNvPr id="15" name="element_eeb8bdf774ada1558b6db4c8e41b35f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4aa0440e0115439da3211f06dce87e7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0e557d350ca6ef44a0274b226bdc199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570d068ca957104dde0737d33beaac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adc910676eaf8430f4ed774d0e24c34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5" name="element_9e52eacbada8c45e3ead225ef5f62448"/>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NodeSlide can own the governed path from intent to editable execution.</a:t>
            </a:r>
            <a:endParaRPr lang="en-US" sz="3800" dirty="0"/>
          </a:p>
        </p:txBody>
      </p:sp>
      <p:sp>
        <p:nvSpPr>
          <p:cNvPr id="6" name="element_a1e7edd1fb90caffc3451424a278049e"/>
          <p:cNvSpPr/>
          <p:nvPr/>
        </p:nvSpPr>
        <p:spPr>
          <a:xfrm>
            <a:off x="792460" y="3909060"/>
            <a:ext cx="3169841" cy="1577340"/>
          </a:xfrm>
          <a:prstGeom prst="roundRect">
            <a:avLst/>
          </a:prstGeom>
          <a:solidFill>
            <a:srgbClr val="F2DED3"/>
          </a:solidFill>
          <a:ln w="12700">
            <a:solidFill>
              <a:srgbClr val="DED7CC"/>
            </a:solidFill>
            <a:prstDash val="solid"/>
          </a:ln>
        </p:spPr>
      </p:sp>
      <p:sp>
        <p:nvSpPr>
          <p:cNvPr id="7" name="element_8c0b812a69fee7c97f20183a9ce9c427"/>
          <p:cNvSpPr/>
          <p:nvPr/>
        </p:nvSpPr>
        <p:spPr>
          <a:xfrm>
            <a:off x="4206135" y="3909060"/>
            <a:ext cx="3169841" cy="1577340"/>
          </a:xfrm>
          <a:prstGeom prst="roundRect">
            <a:avLst/>
          </a:prstGeom>
          <a:solidFill>
            <a:srgbClr val="F2DED3"/>
          </a:solidFill>
          <a:ln w="12700">
            <a:solidFill>
              <a:srgbClr val="DED7CC"/>
            </a:solidFill>
            <a:prstDash val="solid"/>
          </a:ln>
        </p:spPr>
      </p:sp>
      <p:sp>
        <p:nvSpPr>
          <p:cNvPr id="8" name="element_540b3858a01e198fbc0687a00feaec32"/>
          <p:cNvSpPr/>
          <p:nvPr/>
        </p:nvSpPr>
        <p:spPr>
          <a:xfrm>
            <a:off x="7619810" y="3909060"/>
            <a:ext cx="3169841" cy="1577340"/>
          </a:xfrm>
          <a:prstGeom prst="roundRect">
            <a:avLst/>
          </a:prstGeom>
          <a:solidFill>
            <a:srgbClr val="F2DED3"/>
          </a:solidFill>
          <a:ln w="12700">
            <a:solidFill>
              <a:srgbClr val="DED7CC"/>
            </a:solidFill>
            <a:prstDash val="solid"/>
          </a:ln>
        </p:spPr>
      </p:sp>
      <p:sp>
        <p:nvSpPr>
          <p:cNvPr id="9" name="element_7756be9594c401e7b7935143bd76868c"/>
          <p:cNvSpPr txBox="1"/>
          <p:nvPr/>
        </p:nvSpPr>
        <p:spPr>
          <a:xfrm>
            <a:off x="853419" y="246888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The opportunity is not another one-shot generator. It is a durable authoring system with visible control.</a:t>
            </a:r>
            <a:endParaRPr lang="en-US" sz="1900" dirty="0"/>
          </a:p>
        </p:txBody>
      </p:sp>
      <p:sp>
        <p:nvSpPr>
          <p:cNvPr id="10" name="element_0a7a40a9993ed9828ed4338eb681703e"/>
          <p:cNvSpPr txBox="1"/>
          <p:nvPr/>
        </p:nvSpPr>
        <p:spPr>
          <a:xfrm>
            <a:off x="853419"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Canva AI — brand and asset velocity</a:t>
            </a:r>
            <a:endParaRPr lang="en-US" sz="1600" dirty="0"/>
          </a:p>
        </p:txBody>
      </p:sp>
      <p:sp>
        <p:nvSpPr>
          <p:cNvPr id="11" name="element_59834a733155f73e51f77e703bad2596"/>
          <p:cNvSpPr txBox="1"/>
          <p:nvPr/>
        </p:nvSpPr>
        <p:spPr>
          <a:xfrm>
            <a:off x="4267093"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Gamma AI — research-to-story speed</a:t>
            </a:r>
            <a:endParaRPr lang="en-US" sz="1600" dirty="0"/>
          </a:p>
        </p:txBody>
      </p:sp>
      <p:sp>
        <p:nvSpPr>
          <p:cNvPr id="12" name="element_bbeeeac9398b9adb1b33f391d517554f"/>
          <p:cNvSpPr txBox="1"/>
          <p:nvPr/>
        </p:nvSpPr>
        <p:spPr>
          <a:xfrm>
            <a:off x="7680768"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NodeSlide — editable, governed execution</a:t>
            </a:r>
            <a:endParaRPr lang="en-US" sz="1600" dirty="0"/>
          </a:p>
        </p:txBody>
      </p:sp>
      <p:sp>
        <p:nvSpPr>
          <p:cNvPr id="13" name="element_ef96bae6281ecf12835cd332d6e35c9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2e5906a3bb336f42125a09d093e412f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6cfc3cbea1c9e5a602cef3f5703ed331"/>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4738094b220727671adaa8176c15688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518981ae46507f77959bea71af654d0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5" name="element_db1ec464659ab17a3311239bcd585ede"/>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strong deck begins with a decision contract, not a layout lottery.</a:t>
            </a:r>
            <a:endParaRPr lang="en-US" sz="3800" dirty="0"/>
          </a:p>
        </p:txBody>
      </p:sp>
      <p:sp>
        <p:nvSpPr>
          <p:cNvPr id="6" name="element_9d3984a97a4928e9e3b9e6b8cd005672"/>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aa6c704f27808955a2ce718852ac7c5c"/>
          <p:cNvSpPr txBox="1"/>
          <p:nvPr/>
        </p:nvSpPr>
        <p:spPr>
          <a:xfrm>
            <a:off x="853419"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Fix the audience, decision, evidence ledger, and claim-led storyboard before visual composition begins.</a:t>
            </a:r>
            <a:endParaRPr lang="en-US" sz="1900" dirty="0"/>
          </a:p>
        </p:txBody>
      </p:sp>
      <p:sp>
        <p:nvSpPr>
          <p:cNvPr id="8" name="element_f6d90b70f2ee85b85b8424a418909a07"/>
          <p:cNvSpPr txBox="1"/>
          <p:nvPr/>
        </p:nvSpPr>
        <p:spPr>
          <a:xfrm>
            <a:off x="6461598" y="308610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Audience + decision</a:t>
            </a:r>
            <a:endParaRPr lang="en-US" sz="1700" dirty="0"/>
          </a:p>
        </p:txBody>
      </p:sp>
      <p:sp>
        <p:nvSpPr>
          <p:cNvPr id="9" name="element_d68c9a902fd505fd38714d56d957481f"/>
          <p:cNvSpPr txBox="1"/>
          <p:nvPr/>
        </p:nvSpPr>
        <p:spPr>
          <a:xfrm>
            <a:off x="6461598" y="39090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Evidence ledger</a:t>
            </a:r>
            <a:endParaRPr lang="en-US" sz="1700" dirty="0"/>
          </a:p>
        </p:txBody>
      </p:sp>
      <p:sp>
        <p:nvSpPr>
          <p:cNvPr id="10" name="element_6f0de0bb6a875b5c25a0217105480500"/>
          <p:cNvSpPr txBox="1"/>
          <p:nvPr/>
        </p:nvSpPr>
        <p:spPr>
          <a:xfrm>
            <a:off x="6461598" y="47320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Claim-led storyboard</a:t>
            </a:r>
            <a:endParaRPr lang="en-US" sz="1700" dirty="0"/>
          </a:p>
        </p:txBody>
      </p:sp>
      <p:sp>
        <p:nvSpPr>
          <p:cNvPr id="11" name="element_eb86984ccca8560b64d56134d563118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300ef7c6aa2d3da7f05bac0724cb40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e91d5da7b4b04189ea32a19da955366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24ad969ca434fbe104f88f9c2328e35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1c8901bfe8393307eb8760f9ebd4572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5" name="element_f183e4163b6211e551d60c8c84877c52"/>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Strategy moves through agents, review, and editable delivery as one visible system.</a:t>
            </a:r>
            <a:endParaRPr lang="en-US" sz="3500" dirty="0"/>
          </a:p>
        </p:txBody>
      </p:sp>
      <p:sp>
        <p:nvSpPr>
          <p:cNvPr id="6" name="element_4176ae999f05d5d5fb0ca9a8fd1a4aaf"/>
          <p:cNvSpPr txBox="1"/>
          <p:nvPr/>
        </p:nvSpPr>
        <p:spPr>
          <a:xfrm>
            <a:off x="853419" y="253746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Every handoff stays inspectable, bounded, and reversible.</a:t>
            </a:r>
            <a:endParaRPr lang="en-US" sz="1900" dirty="0"/>
          </a:p>
        </p:txBody>
      </p:sp>
      <p:sp>
        <p:nvSpPr>
          <p:cNvPr id="7" name="element_aa6db7bf815407f1d2a45816d5cda885"/>
          <p:cNvSpPr/>
          <p:nvPr/>
        </p:nvSpPr>
        <p:spPr>
          <a:xfrm>
            <a:off x="3090595" y="4217670"/>
            <a:ext cx="292601" cy="0"/>
          </a:xfrm>
          <a:prstGeom prst="line">
            <a:avLst/>
          </a:prstGeom>
          <a:noFill/>
          <a:ln w="25400">
            <a:solidFill>
              <a:srgbClr val="7566A8"/>
            </a:solidFill>
            <a:prstDash val="solid"/>
            <a:tailEnd type="triangle"/>
          </a:ln>
        </p:spPr>
      </p:sp>
      <p:sp>
        <p:nvSpPr>
          <p:cNvPr id="8" name="element_5e85e54b344541e2a4f406795278510e"/>
          <p:cNvSpPr/>
          <p:nvPr/>
        </p:nvSpPr>
        <p:spPr>
          <a:xfrm>
            <a:off x="5705713" y="4217670"/>
            <a:ext cx="292601" cy="0"/>
          </a:xfrm>
          <a:prstGeom prst="line">
            <a:avLst/>
          </a:prstGeom>
          <a:noFill/>
          <a:ln w="25400">
            <a:solidFill>
              <a:srgbClr val="7566A8"/>
            </a:solidFill>
            <a:prstDash val="solid"/>
            <a:tailEnd type="triangle"/>
          </a:ln>
        </p:spPr>
      </p:sp>
      <p:sp>
        <p:nvSpPr>
          <p:cNvPr id="9" name="element_8556400c5ce310ec6167c1f3a71690ca"/>
          <p:cNvSpPr/>
          <p:nvPr/>
        </p:nvSpPr>
        <p:spPr>
          <a:xfrm>
            <a:off x="8320832" y="4217670"/>
            <a:ext cx="292601" cy="0"/>
          </a:xfrm>
          <a:prstGeom prst="line">
            <a:avLst/>
          </a:prstGeom>
          <a:noFill/>
          <a:ln w="25400">
            <a:solidFill>
              <a:srgbClr val="7566A8"/>
            </a:solidFill>
            <a:prstDash val="solid"/>
            <a:tailEnd type="triangle"/>
          </a:ln>
        </p:spPr>
      </p:sp>
      <p:sp>
        <p:nvSpPr>
          <p:cNvPr id="10" name="element_18a9b70705bcc4eeb593ab5ba7c3836b"/>
          <p:cNvSpPr/>
          <p:nvPr/>
        </p:nvSpPr>
        <p:spPr>
          <a:xfrm>
            <a:off x="853419" y="3771900"/>
            <a:ext cx="2151834" cy="1371600"/>
          </a:xfrm>
          <a:prstGeom prst="roundRect">
            <a:avLst/>
          </a:prstGeom>
          <a:solidFill>
            <a:srgbClr val="E5E9D6"/>
          </a:solidFill>
          <a:ln w="19050">
            <a:solidFill>
              <a:srgbClr val="DED7CC"/>
            </a:solidFill>
            <a:prstDash val="solid"/>
          </a:ln>
        </p:spPr>
      </p:sp>
      <p:sp>
        <p:nvSpPr>
          <p:cNvPr id="11" name="element_18a9b70705bcc4eeb593ab5ba7c3836b:text"/>
          <p:cNvSpPr txBox="1"/>
          <p:nvPr/>
        </p:nvSpPr>
        <p:spPr>
          <a:xfrm>
            <a:off x="853419"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Strategy</a:t>
            </a:r>
            <a:endParaRPr lang="en-US" sz="1400" dirty="0"/>
          </a:p>
        </p:txBody>
      </p:sp>
      <p:sp>
        <p:nvSpPr>
          <p:cNvPr id="12" name="element_20c0d8ce202b8ccc15469c1510d81937"/>
          <p:cNvSpPr/>
          <p:nvPr/>
        </p:nvSpPr>
        <p:spPr>
          <a:xfrm>
            <a:off x="3468537" y="3771900"/>
            <a:ext cx="2151834" cy="1371600"/>
          </a:xfrm>
          <a:prstGeom prst="roundRect">
            <a:avLst/>
          </a:prstGeom>
          <a:solidFill>
            <a:srgbClr val="E5E9D6"/>
          </a:solidFill>
          <a:ln w="19050">
            <a:solidFill>
              <a:srgbClr val="DED7CC"/>
            </a:solidFill>
            <a:prstDash val="solid"/>
          </a:ln>
        </p:spPr>
      </p:sp>
      <p:sp>
        <p:nvSpPr>
          <p:cNvPr id="13" name="element_20c0d8ce202b8ccc15469c1510d81937:text"/>
          <p:cNvSpPr txBox="1"/>
          <p:nvPr/>
        </p:nvSpPr>
        <p:spPr>
          <a:xfrm>
            <a:off x="3468537"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Agent team</a:t>
            </a:r>
            <a:endParaRPr lang="en-US" sz="1400" dirty="0"/>
          </a:p>
        </p:txBody>
      </p:sp>
      <p:sp>
        <p:nvSpPr>
          <p:cNvPr id="14" name="element_296168a70aa6c53989438f0c912fa5d4"/>
          <p:cNvSpPr/>
          <p:nvPr/>
        </p:nvSpPr>
        <p:spPr>
          <a:xfrm>
            <a:off x="6083656" y="3771900"/>
            <a:ext cx="2151834" cy="1371600"/>
          </a:xfrm>
          <a:prstGeom prst="roundRect">
            <a:avLst/>
          </a:prstGeom>
          <a:solidFill>
            <a:srgbClr val="E5E9D6"/>
          </a:solidFill>
          <a:ln w="19050">
            <a:solidFill>
              <a:srgbClr val="DED7CC"/>
            </a:solidFill>
            <a:prstDash val="solid"/>
          </a:ln>
        </p:spPr>
      </p:sp>
      <p:sp>
        <p:nvSpPr>
          <p:cNvPr id="15" name="element_296168a70aa6c53989438f0c912fa5d4:text"/>
          <p:cNvSpPr txBox="1"/>
          <p:nvPr/>
        </p:nvSpPr>
        <p:spPr>
          <a:xfrm>
            <a:off x="6083656"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Validate + review</a:t>
            </a:r>
            <a:endParaRPr lang="en-US" sz="1400" dirty="0"/>
          </a:p>
        </p:txBody>
      </p:sp>
      <p:sp>
        <p:nvSpPr>
          <p:cNvPr id="16" name="element_3c216130c8c28fa1dade045d8b6ff223"/>
          <p:cNvSpPr/>
          <p:nvPr/>
        </p:nvSpPr>
        <p:spPr>
          <a:xfrm>
            <a:off x="8698775" y="3771900"/>
            <a:ext cx="2151834" cy="1371600"/>
          </a:xfrm>
          <a:prstGeom prst="roundRect">
            <a:avLst/>
          </a:prstGeom>
          <a:solidFill>
            <a:srgbClr val="F2DED3"/>
          </a:solidFill>
          <a:ln w="19050">
            <a:solidFill>
              <a:srgbClr val="DED7CC"/>
            </a:solidFill>
            <a:prstDash val="solid"/>
          </a:ln>
        </p:spPr>
      </p:sp>
      <p:sp>
        <p:nvSpPr>
          <p:cNvPr id="17" name="element_3c216130c8c28fa1dade045d8b6ff223:text"/>
          <p:cNvSpPr txBox="1"/>
          <p:nvPr/>
        </p:nvSpPr>
        <p:spPr>
          <a:xfrm>
            <a:off x="8698775"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Editable export</a:t>
            </a:r>
            <a:endParaRPr lang="en-US" sz="1400" dirty="0"/>
          </a:p>
        </p:txBody>
      </p:sp>
      <p:sp>
        <p:nvSpPr>
          <p:cNvPr id="18" name="element_cb5f9a680ba2517faf9e60883b24d13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dd9682083dc611106176579ad477b1a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655ca1c2dc8c795b41eb8f4c5394faa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00d2d566b6a450d969799a35c6a9e7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b04cb5593139bec1793a9ff882eff62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5" name="element_e06cf0db547e7831f312180444f9e324"/>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Separate in-deck repair from the slower work of improving authoring policy.</a:t>
            </a:r>
            <a:endParaRPr lang="en-US" sz="3500" dirty="0"/>
          </a:p>
        </p:txBody>
      </p:sp>
      <p:sp>
        <p:nvSpPr>
          <p:cNvPr id="6" name="element_bb3fa4dd008c66d317aaadd9da55ede0"/>
          <p:cNvSpPr/>
          <p:nvPr/>
        </p:nvSpPr>
        <p:spPr>
          <a:xfrm>
            <a:off x="6095848" y="2674620"/>
            <a:ext cx="5120512" cy="2743200"/>
          </a:xfrm>
          <a:prstGeom prst="roundRect">
            <a:avLst/>
          </a:prstGeom>
          <a:solidFill>
            <a:srgbClr val="F2DED3"/>
          </a:solidFill>
          <a:ln w="12700">
            <a:solidFill>
              <a:srgbClr val="DED7CC"/>
            </a:solidFill>
            <a:prstDash val="solid"/>
          </a:ln>
        </p:spPr>
      </p:sp>
      <p:sp>
        <p:nvSpPr>
          <p:cNvPr id="7" name="element_86953f73c930d9179880a2935cff91f0"/>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Repair the current artifact inside declared scope; promote policy changes only after held-out evaluation.</a:t>
            </a:r>
            <a:endParaRPr lang="en-US" sz="1900" dirty="0"/>
          </a:p>
        </p:txBody>
      </p:sp>
      <p:sp>
        <p:nvSpPr>
          <p:cNvPr id="8" name="element_e17d257601d77c7f9b9db9ce42a1352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Versioned policy</a:t>
            </a:r>
            <a:endParaRPr lang="en-US" sz="1700" dirty="0"/>
          </a:p>
        </p:txBody>
      </p:sp>
      <p:sp>
        <p:nvSpPr>
          <p:cNvPr id="9" name="element_386ba8e5bf6dc982ebd7189d34993888"/>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Held-out evaluation</a:t>
            </a:r>
            <a:endParaRPr lang="en-US" sz="1700" dirty="0"/>
          </a:p>
        </p:txBody>
      </p:sp>
      <p:sp>
        <p:nvSpPr>
          <p:cNvPr id="10" name="element_5475a4fc2faa1e4c8e5286b1aa3c4d70"/>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Safe promotion</a:t>
            </a:r>
            <a:endParaRPr lang="en-US" sz="1700" dirty="0"/>
          </a:p>
        </p:txBody>
      </p:sp>
      <p:sp>
        <p:nvSpPr>
          <p:cNvPr id="11" name="element_d6498ac0b4e365540c4dcfb8a4cebbce:fallback-shape"/>
          <p:cNvSpPr/>
          <p:nvPr/>
        </p:nvSpPr>
        <p:spPr>
          <a:xfrm>
            <a:off x="6461598" y="2743200"/>
            <a:ext cx="4754761" cy="1920240"/>
          </a:xfrm>
          <a:prstGeom prst="roundRect">
            <a:avLst/>
          </a:prstGeom>
          <a:solidFill>
            <a:srgbClr val="111318"/>
          </a:solidFill>
          <a:ln w="19050">
            <a:solidFill>
              <a:srgbClr val="DED7CC"/>
            </a:solidFill>
            <a:prstDash val="dash"/>
          </a:ln>
        </p:spPr>
      </p:sp>
      <p:sp>
        <p:nvSpPr>
          <p:cNvPr id="12" name="element_d6498ac0b4e365540c4dcfb8a4cebbce:fallback-label"/>
          <p:cNvSpPr/>
          <p:nvPr/>
        </p:nvSpPr>
        <p:spPr>
          <a:xfrm>
            <a:off x="6461598" y="2743200"/>
            <a:ext cx="4754761" cy="19202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Recorded NodeSlide browser journey</a:t>
            </a:r>
            <a:endParaRPr lang="en-US" sz="1400" dirty="0"/>
          </a:p>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Linked web video · https://raw.githubusercontent.com/HomenShum/parity-studio/codex/nodeslide-openui-quality-v2/artifacts/nodeslide-openui-quality-full-live-v3-2026-07-16/browser-journey.webm</a:t>
            </a:r>
            <a:endParaRPr lang="en-US" sz="1400" dirty="0"/>
          </a:p>
        </p:txBody>
      </p:sp>
      <p:sp>
        <p:nvSpPr>
          <p:cNvPr id="13" name="element_cd69be6834207f5df0c718ae7e8c23c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f1ea1a62628390b08c05d5048911e6c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b9f10b5868c01aa9e174d47485ba965a"/>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d19581048e3acaa393df65aa48eb4b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6a2e7e32c1761b77c084ccc235bd5ac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5" name="element_796d8a22e6df87a7c8c982f2fcba113d"/>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A live run is only real when its receipt survives export.</a:t>
            </a:r>
            <a:endParaRPr lang="en-US" sz="3500" dirty="0"/>
          </a:p>
        </p:txBody>
      </p:sp>
      <p:sp>
        <p:nvSpPr>
          <p:cNvPr id="6" name="element_22598947d6ddc88be09a79fcb7d18f7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Provider, model, tokens, cost, digests, validation, version delta, and export remain attached to the run.</a:t>
            </a:r>
            <a:endParaRPr lang="en-US" sz="1900" dirty="0"/>
          </a:p>
        </p:txBody>
      </p:sp>
      <p:sp>
        <p:nvSpPr>
          <p:cNvPr id="7" name="element_ead5a000be596b302544eafa8413215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Provider + model + tokens</a:t>
            </a:r>
            <a:endParaRPr lang="en-US" sz="1700" dirty="0"/>
          </a:p>
        </p:txBody>
      </p:sp>
      <p:sp>
        <p:nvSpPr>
          <p:cNvPr id="8" name="element_0c4570b669a598ecc8b5a83a770d70fa"/>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Cost + candidate digest</a:t>
            </a:r>
            <a:endParaRPr lang="en-US" sz="1700" dirty="0"/>
          </a:p>
        </p:txBody>
      </p:sp>
      <p:sp>
        <p:nvSpPr>
          <p:cNvPr id="9" name="element_fc8b8972620bb196dc464fc10d05724e"/>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Receipt + version + export</a:t>
            </a:r>
            <a:endParaRPr lang="en-US" sz="1700" dirty="0"/>
          </a:p>
        </p:txBody>
      </p:sp>
      <p:graphicFrame>
        <p:nvGraphicFramePr>
          <p:cNvPr id="10" name="element_56f24b8b7ff3cd46cf18bc74ff5d7434" descr=""/>
          <p:cNvGraphicFramePr/>
          <p:nvPr/>
        </p:nvGraphicFramePr>
        <p:xfrm>
          <a:off x="6461598" y="2880360"/>
          <a:ext cx="4754761" cy="2743200"/>
        </p:xfrm>
        <a:graphic xmlns:a="http://schemas.openxmlformats.org/drawingml/2006/main">
          <a:graphicData uri="http://schemas.openxmlformats.org/drawingml/2006/chart">
            <c:chart xmlns:c="http://schemas.openxmlformats.org/drawingml/2006/chart" r:id="rId1"/>
          </a:graphicData>
        </a:graphic>
      </p:graphicFrame>
      <p:sp>
        <p:nvSpPr>
          <p:cNvPr id="11" name="element_0f45f0640ec371be42b13b1002c7b39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8e295d4bbe0059953915ce7cc2e84d8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9bf651f6ade04e2a6320461e94b030be"/>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c3489d0cff1dba430806506eda5484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684785120ebd3cd736151ea270e0952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5" name="element_2f5a99139bbccad501d4c76bdb6b3b3a"/>
          <p:cNvSpPr txBox="1"/>
          <p:nvPr/>
        </p:nvSpPr>
        <p:spPr>
          <a:xfrm>
            <a:off x="853419" y="960120"/>
            <a:ext cx="9997190" cy="150876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Approve the quality gate and require recorded proof for every release.</a:t>
            </a:r>
            <a:endParaRPr lang="en-US" sz="3800" dirty="0"/>
          </a:p>
        </p:txBody>
      </p:sp>
      <p:sp>
        <p:nvSpPr>
          <p:cNvPr id="6" name="element_4d6b97f3485a4bca95065aedf664fd00"/>
          <p:cNvSpPr/>
          <p:nvPr/>
        </p:nvSpPr>
        <p:spPr>
          <a:xfrm>
            <a:off x="853419" y="5692140"/>
            <a:ext cx="9997190" cy="82296"/>
          </a:xfrm>
          <a:prstGeom prst="roundRect">
            <a:avLst/>
          </a:prstGeom>
          <a:solidFill>
            <a:srgbClr val="B44A2D"/>
          </a:solidFill>
          <a:ln w="12700">
            <a:solidFill>
              <a:srgbClr val="FFFFFF">
                <a:alpha val="0"/>
              </a:srgbClr>
            </a:solidFill>
            <a:prstDash val="solid"/>
          </a:ln>
        </p:spPr>
      </p:sp>
      <p:sp>
        <p:nvSpPr>
          <p:cNvPr id="7" name="element_efb3eba407082b4dd7a8f45ea60ac843"/>
          <p:cNvSpPr txBox="1"/>
          <p:nvPr/>
        </p:nvSpPr>
        <p:spPr>
          <a:xfrm>
            <a:off x="853419" y="2743200"/>
            <a:ext cx="8046519" cy="109728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Ship only when the artifact, receipt, version transition, export, and recorded browser journey agree.</a:t>
            </a:r>
            <a:endParaRPr lang="en-US" sz="1900" dirty="0"/>
          </a:p>
        </p:txBody>
      </p:sp>
      <p:sp>
        <p:nvSpPr>
          <p:cNvPr id="8" name="element_e4c9935d7d91cebf6ec987f6433c8359"/>
          <p:cNvSpPr txBox="1"/>
          <p:nvPr/>
        </p:nvSpPr>
        <p:spPr>
          <a:xfrm>
            <a:off x="853419"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Artifact quality passes</a:t>
            </a:r>
            <a:endParaRPr lang="en-US" sz="1600" dirty="0"/>
          </a:p>
        </p:txBody>
      </p:sp>
      <p:sp>
        <p:nvSpPr>
          <p:cNvPr id="9" name="element_1af5c56525885eca1a1defd4614ca4f2"/>
          <p:cNvSpPr txBox="1"/>
          <p:nvPr/>
        </p:nvSpPr>
        <p:spPr>
          <a:xfrm>
            <a:off x="4267093"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Receipt survives export</a:t>
            </a:r>
            <a:endParaRPr lang="en-US" sz="1600" dirty="0"/>
          </a:p>
        </p:txBody>
      </p:sp>
      <p:sp>
        <p:nvSpPr>
          <p:cNvPr id="10" name="element_be363a09ea4b1edd37ebafda6517ac53"/>
          <p:cNvSpPr txBox="1"/>
          <p:nvPr/>
        </p:nvSpPr>
        <p:spPr>
          <a:xfrm>
            <a:off x="7680768"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Undo remains immediate</a:t>
            </a:r>
            <a:endParaRPr lang="en-US" sz="1600" dirty="0"/>
          </a:p>
        </p:txBody>
      </p:sp>
      <p:sp>
        <p:nvSpPr>
          <p:cNvPr id="11" name="element_9ab42f0b2243c9aeed240bf98ca9d7c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c68b841946ac954bd3b64ffcd57e83a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seven visually ambitious, claim-led slides explaining…</dc:title>
  <dc:subject>Create an editable, reviewable presentation from this idea</dc:subject>
  <dc:creator>NodeSlide</dc:creator>
  <cp:lastModifiedBy>NodeSlide</cp:lastModifiedBy>
  <cp:revision>1</cp:revision>
  <dcterms:created xsi:type="dcterms:W3CDTF">2026-07-17T03:59:14Z</dcterms:created>
  <dcterms:modified xsi:type="dcterms:W3CDTF">2026-07-17T03:59:14Z</dcterms:modified>
</cp:coreProperties>
</file>