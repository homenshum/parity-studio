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replaces a walkthrough call. It is meant to be read alone, at speed, on a phone.
The structure is nine beats. Each beat states one claim, then names the exact place on the live application or in the repository where that claim is shown, then prints the literal strings that appear there. Monospaced lines are product text copied as it appears; italic lines are steps written for this deck.
The application is live at https://nodeslide.vercel.app. The landing page opens a real editable workspace through "Explore the editable sample workspace". Every screen named in the beats is reachable from that workspace without an account.
Screen budget: 3 min 33 s across nine beats.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01 of 9 · 28 seconds.
Claim: A slide element is addressable typed data carrying an id, normalised geometry, export capabilities and bound sources. It is not pixels.
Shown by: On https://nodeslide.vercel.app click "Explore the editable sample workspace", click the headline on the canvas (Selection · 1 appears in the inspector header), then Inspector → JSON → Selection. The editable record fills the panel: id element_3cdee97100485e1f71d80bfc1764c778, bbox {x 0.07, y 0.15, w 0.79, h 0.27}, exportCapabilities web_native / pptx_editable / google_importable, sourceIds source_fe19b386…, version 1, with Apply changes and Reset beneath it.
Why this beat is here: This is the whole premise in one panel. Every later beat depends on the element having a name, because a patch, a citation and a version entry all address it by that name.
Proof path: https://nodeslide.vercel.app
Monospaced lines on this slide are product text, copied as it appears. Italic lines are steps or observations written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02 of 9 · 18 seconds.
Claim: One canonical DeckSpec is the source of truth, the rendered slide is derived from it, and it leaves with the user.
Shown by: Inspector → JSON → Deck. Header reads "DECK AS CODE" and "The canonical nodeslide.slidelang/v1 DeckSpec — 7 slides · 71 elements". Scroll the deck record (schemaVersion nodeslide.slidelang/v1, slideOrder, theme, version 1), then click Download deck.json.
Why this beat is here: The schema is declared in the repository, so the record on screen and the type in shared/nodeslide.ts can be read against each other.
Proof path: github.com/HomenShum/NodeSlide/blob/main/shared/nodeslide.ts
Monospaced lines on this slide are product text, copied as it appears. Italic lines are steps or observations written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03 of 9 · 30 seconds.
Claim: The agent returns scoped operations on named elements, and the slide does not change while those operations are being read.
Shown by: Inspector → AI → "Generate 3 directions". Three cards return "Ready to review · based on v1" with "Validation clean". Expand "Review 2 bounded changes" on the first: "Update letterSpacing, lineHeight on element_3cdee97100485e1f71d80bfc1764c778" and "Update opacity on element_1230c5ac52a33407c39e665ca5b5f110". The first id is the element opened in beat 1. The panel states "Each direction is materialized and validated. Your slide stays unchanged until Accept."
Why this beat is here: The model does not write to the deck. It proposes operations against named elements, and those operations are validated before a reviewer is shown them.
Proof path: github.com/HomenShum/NodeSlide/blob/main/convex/lib/nodeslidePatches.ts
Monospaced lines on this slide are product text, copied as it appears. Italic lines are steps or observations written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04 of 9 · 20 seconds.
Claim: When the external model cannot supply a direction, the product labels the substitute and gives a per-branch reason rather than passing it off as the model’s work.
Shown by: Stay on the AI tab from beat 3, no reload. Banner above the cards: "The selected external model could not safely supply every direction. Clearly labeled deterministic fallbacks are shown instead." Each card carries a "Deterministic fallback" chip; the reasons read "Fallback reason: provider timeout" on two branches and "Fallback reason: invalid provider operation" on the third.
Why this beat is here: This is the same screen as the previous beat, unreloaded. The degradation was not staged for the recording, and the product reports it per branch rather than as one banner covering everything.
Proof path: https://nodeslide.vercel.app
Monospaced lines on this slide are product text, copied as it appears. Italic lines are steps or observations written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05 of 9 · 22 seconds.
Claim: A proposal is inspected against the baseline before anything is written to the deck.
Shown by: Click Preview on the first direction. The canvas switches to Compare, labelled "proposal · pending review", with modes Side by side / Slider / Overlay / Blink, "Baseline · v1" set against "Balanced · Split", and the two operations listed as "update style · element_3cdee971…" and "update style · element_1230c5ac…".
Why this beat is here: The two operations listed under the comparison are the same two the AI panel enumerated one beat earlier. The review surface and the proposal surface name the same elements.
Proof path: https://nodeslide.vercel.app
Monospaced lines on this slide are product text, copied as it appears. Italic lines are steps or observations written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06 of 9 · 20 seconds.
Claim: Acceptance is a recorded version with the agent named as its author, and the prior state stays reachable.
Shown by: Click Accept. The deck clock moves v1 → v2. Inspector → Versions lists "Variation balanced/detail/split: Restyle element_…" as "v2 · Agent" above "Initial deck · v1 · System", each row offering Compare and Restore.
Why this beat is here: Authorship is recorded, not implied. The agent is named on the row it wrote, and the state before it is still one click away.
Proof path: github.com/HomenShum/NodeSlide/blob/main/convex/nodeslide.ts
Monospaced lines on this slide are product text, copied as it appears. Italic lines are steps or observations written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07 of 9 · 25 seconds.
Claim: Citations attach to named elements rather than to a slide as a whole, and the product states in its own UI what it does not check.
Shown by: Inspector → Evidence. Header reads "EVIDENCE LAYER / Data &amp; sources", followed by "NodeSlide checks attachment and disclosure; it does not independently verify facts". Expand the first source record: "Cited by 8 elements", enumerating Primary metric · The handoff tax compounds, Editable formula · One intent three guarded passes, Evidence chart · Quality is measurable, and the rest.
Why this beat is here: A source resolves to the eight elements that cite it, each named. The second line is the product stating its own limit in its own interface rather than in a disclaimer nobody reads.
Proof path: https://nodeslide.vercel.app
Monospaced lines on this slide are product text, copied as it appears. Italic lines are steps or observations written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08 of 9 · 20 seconds.
Claim: Run receipts report only what was observed, and they report absence as absence.
Shown by: Inspector → Trace. On screen: "COST — not recorded", "No external provider billing was recorded for this fallback", "Structured timeline unavailable — Legacy runs keep their custody receipt but do not invent span timing", context marked "— unsealed · attribution route degraded", and the approval row "Provisional seal — machine only, not signable".
Why this beat is here: Four separate places on one screen decline to fill a gap with a plausible number. A receipt that invents span timing is worse than one that says it has none.
Proof path: github.com/HomenShum/NodeSlide/blob/main/convex/nodeslideAgent.ts
Monospaced lines on this slide are product text, copied as it appears. Italic lines are steps or observations written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09 of 9 · 30 seconds.
Claim: The application just filmed is the repository at one specific commit, and that commit’s history contains the fix that made this agent route run at all.
Shown by: View source on nodeslide.vercel.app and read meta nodeslide-build-sha = a836c6a29e026bb219b959bdf3e2dc9e9f407c77, then show the same SHA as main HEAD on GitHub. Cut to `git show 15d2686 -- convex/lib/nodeslideValidators.ts`: every agent request failed because moonshotai/kimi-k3 was missing from nodeslideAgentModelValidator, and the diff is one added line, `+ v.literal('moonshotai/kimi-k3')`.
Why this beat is here: The build SHA in the page head is the join between what was on screen and what is in the repository. The diff it leads to is one line, which is the honest size of the fix.
Proof path: github.com/HomenShum/NodeSlide/commit/15d2686
Monospaced lines on this slide are product text, copied as it appears. Italic lines are steps or observations written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links are the whole surface: the live application and the repository.
The live application at https://nodeslide.vercel.app opens a real editable workspace from the landing page. The inspector carries seven tabs: AI, Design, Comments, Versions, Evidence, JSON, Trace. Ctrl+K opens a command palette that contains "Open Artifact Lab".
The page head carries meta nodeslide-build-sha = a836c6a29e026bb219b959bdf3e2dc9e9f407c77, which is main HEAD in the repository. That is the join: the deployed application can be checked against the code, at one named commit, without asking anyone to take a claim on trust.
If any beat does not reproduce, the path printed on that slide is where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822960"/>
            <a:ext cx="10820095" cy="310896"/>
          </a:xfrm>
          <a:prstGeom prst="rect">
            <a:avLst/>
          </a:prstGeom>
          <a:noFill/>
          <a:ln/>
        </p:spPr>
        <p:txBody>
          <a:bodyPr wrap="square" rtlCol="0" anchor="ctr"/>
          <a:lstStyle/>
          <a:p>
            <a:pPr indent="0" marL="0">
              <a:buNone/>
            </a:pPr>
            <a:r>
              <a:rPr lang="en-US" sz="1100" b="1" spc="300" kern="0" dirty="0">
                <a:solidFill>
                  <a:srgbClr val="2A4A8F"/>
                </a:solidFill>
                <a:latin typeface="Arial" pitchFamily="34" charset="0"/>
                <a:ea typeface="Arial" pitchFamily="34" charset="-122"/>
                <a:cs typeface="Arial" pitchFamily="34" charset="-120"/>
              </a:rPr>
              <a:t>NODESLIDE</a:t>
            </a:r>
            <a:endParaRPr lang="en-US" sz="1100" dirty="0"/>
          </a:p>
        </p:txBody>
      </p:sp>
      <p:sp>
        <p:nvSpPr>
          <p:cNvPr id="3" name="Text 1"/>
          <p:cNvSpPr/>
          <p:nvPr/>
        </p:nvSpPr>
        <p:spPr>
          <a:xfrm>
            <a:off x="685800" y="1188720"/>
            <a:ext cx="10820095" cy="914400"/>
          </a:xfrm>
          <a:prstGeom prst="rect">
            <a:avLst/>
          </a:prstGeom>
          <a:noFill/>
          <a:ln/>
        </p:spPr>
        <p:txBody>
          <a:bodyPr wrap="square" rtlCol="0" anchor="ctr"/>
          <a:lstStyle/>
          <a:p>
            <a:pPr indent="0" marL="0">
              <a:buNone/>
            </a:pPr>
            <a:r>
              <a:rPr lang="en-US" sz="4400" b="1" dirty="0">
                <a:solidFill>
                  <a:srgbClr val="161A21"/>
                </a:solidFill>
                <a:latin typeface="Trebuchet MS" pitchFamily="34" charset="0"/>
                <a:ea typeface="Trebuchet MS" pitchFamily="34" charset="-122"/>
                <a:cs typeface="Trebuchet MS" pitchFamily="34" charset="-120"/>
              </a:rPr>
              <a:t>A walkthrough you can check</a:t>
            </a:r>
            <a:endParaRPr lang="en-US" sz="4400" dirty="0"/>
          </a:p>
        </p:txBody>
      </p:sp>
      <p:sp>
        <p:nvSpPr>
          <p:cNvPr id="4" name="Shape 2"/>
          <p:cNvSpPr/>
          <p:nvPr/>
        </p:nvSpPr>
        <p:spPr>
          <a:xfrm>
            <a:off x="685800" y="2212848"/>
            <a:ext cx="10820095" cy="0"/>
          </a:xfrm>
          <a:prstGeom prst="line">
            <a:avLst/>
          </a:prstGeom>
          <a:noFill/>
          <a:ln w="19050">
            <a:solidFill>
              <a:srgbClr val="2A4A8F"/>
            </a:solidFill>
            <a:prstDash val="solid"/>
          </a:ln>
        </p:spPr>
      </p:sp>
      <p:sp>
        <p:nvSpPr>
          <p:cNvPr id="5" name="Text 3"/>
          <p:cNvSpPr/>
          <p:nvPr/>
        </p:nvSpPr>
        <p:spPr>
          <a:xfrm>
            <a:off x="685800" y="2395728"/>
            <a:ext cx="8808415" cy="822960"/>
          </a:xfrm>
          <a:prstGeom prst="rect">
            <a:avLst/>
          </a:prstGeom>
          <a:noFill/>
          <a:ln/>
        </p:spPr>
        <p:txBody>
          <a:bodyPr wrap="square" rtlCol="0" anchor="t"/>
          <a:lstStyle/>
          <a:p>
            <a:pPr indent="0" marL="0">
              <a:lnSpc>
                <a:spcPct val="120000"/>
              </a:lnSpc>
              <a:buNone/>
            </a:pPr>
            <a:r>
              <a:rPr lang="en-US" sz="1700" dirty="0">
                <a:solidFill>
                  <a:srgbClr val="2A3140"/>
                </a:solidFill>
                <a:latin typeface="Arial" pitchFamily="34" charset="0"/>
                <a:ea typeface="Arial" pitchFamily="34" charset="-122"/>
                <a:cs typeface="Arial" pitchFamily="34" charset="-120"/>
              </a:rPr>
              <a:t>NodeSlide treats a deck as typed code rather than a bitmap. An agent edit arrives as a validated patch carrying its source, and you accept it as a diff.</a:t>
            </a:r>
            <a:endParaRPr lang="en-US" sz="1700" dirty="0"/>
          </a:p>
        </p:txBody>
      </p:sp>
      <p:sp>
        <p:nvSpPr>
          <p:cNvPr id="6" name="Shape 4"/>
          <p:cNvSpPr/>
          <p:nvPr/>
        </p:nvSpPr>
        <p:spPr>
          <a:xfrm>
            <a:off x="685800" y="3401568"/>
            <a:ext cx="10820095" cy="2377440"/>
          </a:xfrm>
          <a:prstGeom prst="rect">
            <a:avLst/>
          </a:prstGeom>
          <a:solidFill>
            <a:srgbClr val="FFFFFF"/>
          </a:solidFill>
          <a:ln w="9525">
            <a:solidFill>
              <a:srgbClr val="D3D8E0"/>
            </a:solidFill>
            <a:prstDash val="solid"/>
          </a:ln>
        </p:spPr>
      </p:sp>
      <p:sp>
        <p:nvSpPr>
          <p:cNvPr id="7" name="Text 5"/>
          <p:cNvSpPr/>
          <p:nvPr/>
        </p:nvSpPr>
        <p:spPr>
          <a:xfrm>
            <a:off x="960120" y="3639312"/>
            <a:ext cx="1920240" cy="310896"/>
          </a:xfrm>
          <a:prstGeom prst="rect">
            <a:avLst/>
          </a:prstGeom>
          <a:noFill/>
          <a:ln/>
        </p:spPr>
        <p:txBody>
          <a:bodyPr wrap="square" rtlCol="0" anchor="ctr"/>
          <a:lstStyle/>
          <a:p>
            <a:pPr indent="0" marL="0">
              <a:buNone/>
            </a:pPr>
            <a:r>
              <a:rPr lang="en-US" sz="1150" b="1" dirty="0">
                <a:solidFill>
                  <a:srgbClr val="2A4A8F"/>
                </a:solidFill>
                <a:latin typeface="Arial" pitchFamily="34" charset="0"/>
                <a:ea typeface="Arial" pitchFamily="34" charset="-122"/>
                <a:cs typeface="Arial" pitchFamily="34" charset="-120"/>
              </a:rPr>
              <a:t>Nine beats</a:t>
            </a:r>
            <a:endParaRPr lang="en-US" sz="1150" dirty="0"/>
          </a:p>
        </p:txBody>
      </p:sp>
      <p:sp>
        <p:nvSpPr>
          <p:cNvPr id="8" name="Text 6"/>
          <p:cNvSpPr/>
          <p:nvPr/>
        </p:nvSpPr>
        <p:spPr>
          <a:xfrm>
            <a:off x="2971800" y="3639312"/>
            <a:ext cx="8259775" cy="310896"/>
          </a:xfrm>
          <a:prstGeom prst="rect">
            <a:avLst/>
          </a:prstGeom>
          <a:noFill/>
          <a:ln/>
        </p:spPr>
        <p:txBody>
          <a:bodyPr wrap="square" rtlCol="0" anchor="ctr"/>
          <a:lstStyle/>
          <a:p>
            <a:pPr indent="0" marL="0">
              <a:buNone/>
            </a:pPr>
            <a:r>
              <a:rPr lang="en-US" sz="1250" dirty="0">
                <a:solidFill>
                  <a:srgbClr val="2A3140"/>
                </a:solidFill>
                <a:latin typeface="Arial" pitchFamily="34" charset="0"/>
                <a:ea typeface="Arial" pitchFamily="34" charset="-122"/>
                <a:cs typeface="Arial" pitchFamily="34" charset="-120"/>
              </a:rPr>
              <a:t>Each states one claim and names where it is shown.</a:t>
            </a:r>
            <a:endParaRPr lang="en-US" sz="1250" dirty="0"/>
          </a:p>
        </p:txBody>
      </p:sp>
      <p:sp>
        <p:nvSpPr>
          <p:cNvPr id="9" name="Text 7"/>
          <p:cNvSpPr/>
          <p:nvPr/>
        </p:nvSpPr>
        <p:spPr>
          <a:xfrm>
            <a:off x="960120" y="4142232"/>
            <a:ext cx="1920240" cy="310896"/>
          </a:xfrm>
          <a:prstGeom prst="rect">
            <a:avLst/>
          </a:prstGeom>
          <a:noFill/>
          <a:ln/>
        </p:spPr>
        <p:txBody>
          <a:bodyPr wrap="square" rtlCol="0" anchor="ctr"/>
          <a:lstStyle/>
          <a:p>
            <a:pPr indent="0" marL="0">
              <a:buNone/>
            </a:pPr>
            <a:r>
              <a:rPr lang="en-US" sz="1150" b="1" dirty="0">
                <a:solidFill>
                  <a:srgbClr val="2A4A8F"/>
                </a:solidFill>
                <a:latin typeface="Arial" pitchFamily="34" charset="0"/>
                <a:ea typeface="Arial" pitchFamily="34" charset="-122"/>
                <a:cs typeface="Arial" pitchFamily="34" charset="-120"/>
              </a:rPr>
              <a:t>Every slide</a:t>
            </a:r>
            <a:endParaRPr lang="en-US" sz="1150" dirty="0"/>
          </a:p>
        </p:txBody>
      </p:sp>
      <p:sp>
        <p:nvSpPr>
          <p:cNvPr id="10" name="Text 8"/>
          <p:cNvSpPr/>
          <p:nvPr/>
        </p:nvSpPr>
        <p:spPr>
          <a:xfrm>
            <a:off x="2971800" y="4142232"/>
            <a:ext cx="8259775" cy="310896"/>
          </a:xfrm>
          <a:prstGeom prst="rect">
            <a:avLst/>
          </a:prstGeom>
          <a:noFill/>
          <a:ln/>
        </p:spPr>
        <p:txBody>
          <a:bodyPr wrap="square" rtlCol="0" anchor="ctr"/>
          <a:lstStyle/>
          <a:p>
            <a:pPr indent="0" marL="0">
              <a:buNone/>
            </a:pPr>
            <a:r>
              <a:rPr lang="en-US" sz="1250" dirty="0">
                <a:solidFill>
                  <a:srgbClr val="2A3140"/>
                </a:solidFill>
                <a:latin typeface="Arial" pitchFamily="34" charset="0"/>
                <a:ea typeface="Arial" pitchFamily="34" charset="-122"/>
                <a:cs typeface="Arial" pitchFamily="34" charset="-120"/>
              </a:rPr>
              <a:t>Prints the URL or repository path that proves its claim.</a:t>
            </a:r>
            <a:endParaRPr lang="en-US" sz="1250" dirty="0"/>
          </a:p>
        </p:txBody>
      </p:sp>
      <p:sp>
        <p:nvSpPr>
          <p:cNvPr id="11" name="Text 9"/>
          <p:cNvSpPr/>
          <p:nvPr/>
        </p:nvSpPr>
        <p:spPr>
          <a:xfrm>
            <a:off x="960120" y="4645152"/>
            <a:ext cx="1920240" cy="310896"/>
          </a:xfrm>
          <a:prstGeom prst="rect">
            <a:avLst/>
          </a:prstGeom>
          <a:noFill/>
          <a:ln/>
        </p:spPr>
        <p:txBody>
          <a:bodyPr wrap="square" rtlCol="0" anchor="ctr"/>
          <a:lstStyle/>
          <a:p>
            <a:pPr indent="0" marL="0">
              <a:buNone/>
            </a:pPr>
            <a:r>
              <a:rPr lang="en-US" sz="1150" b="1" dirty="0">
                <a:solidFill>
                  <a:srgbClr val="2A4A8F"/>
                </a:solidFill>
                <a:latin typeface="Arial" pitchFamily="34" charset="0"/>
                <a:ea typeface="Arial" pitchFamily="34" charset="-122"/>
                <a:cs typeface="Arial" pitchFamily="34" charset="-120"/>
              </a:rPr>
              <a:t>Speaker notes</a:t>
            </a:r>
            <a:endParaRPr lang="en-US" sz="1150" dirty="0"/>
          </a:p>
        </p:txBody>
      </p:sp>
      <p:sp>
        <p:nvSpPr>
          <p:cNvPr id="12" name="Text 10"/>
          <p:cNvSpPr/>
          <p:nvPr/>
        </p:nvSpPr>
        <p:spPr>
          <a:xfrm>
            <a:off x="2971800" y="4645152"/>
            <a:ext cx="8259775" cy="310896"/>
          </a:xfrm>
          <a:prstGeom prst="rect">
            <a:avLst/>
          </a:prstGeom>
          <a:noFill/>
          <a:ln/>
        </p:spPr>
        <p:txBody>
          <a:bodyPr wrap="square" rtlCol="0" anchor="ctr"/>
          <a:lstStyle/>
          <a:p>
            <a:pPr indent="0" marL="0">
              <a:buNone/>
            </a:pPr>
            <a:r>
              <a:rPr lang="en-US" sz="1250" dirty="0">
                <a:solidFill>
                  <a:srgbClr val="2A3140"/>
                </a:solidFill>
                <a:latin typeface="Arial" pitchFamily="34" charset="0"/>
                <a:ea typeface="Arial" pitchFamily="34" charset="-122"/>
                <a:cs typeface="Arial" pitchFamily="34" charset="-120"/>
              </a:rPr>
              <a:t>Carry the longer version, because nobody is narrating.</a:t>
            </a:r>
            <a:endParaRPr lang="en-US" sz="1250" dirty="0"/>
          </a:p>
        </p:txBody>
      </p:sp>
      <p:sp>
        <p:nvSpPr>
          <p:cNvPr id="13" name="Text 11"/>
          <p:cNvSpPr/>
          <p:nvPr/>
        </p:nvSpPr>
        <p:spPr>
          <a:xfrm>
            <a:off x="960120" y="5148072"/>
            <a:ext cx="1920240" cy="310896"/>
          </a:xfrm>
          <a:prstGeom prst="rect">
            <a:avLst/>
          </a:prstGeom>
          <a:noFill/>
          <a:ln/>
        </p:spPr>
        <p:txBody>
          <a:bodyPr wrap="square" rtlCol="0" anchor="ctr"/>
          <a:lstStyle/>
          <a:p>
            <a:pPr indent="0" marL="0">
              <a:buNone/>
            </a:pPr>
            <a:r>
              <a:rPr lang="en-US" sz="1150" b="1" dirty="0">
                <a:solidFill>
                  <a:srgbClr val="2A4A8F"/>
                </a:solidFill>
                <a:latin typeface="Arial" pitchFamily="34" charset="0"/>
                <a:ea typeface="Arial" pitchFamily="34" charset="-122"/>
                <a:cs typeface="Arial" pitchFamily="34" charset="-120"/>
              </a:rPr>
              <a:t>Screen budget</a:t>
            </a:r>
            <a:endParaRPr lang="en-US" sz="1150" dirty="0"/>
          </a:p>
        </p:txBody>
      </p:sp>
      <p:sp>
        <p:nvSpPr>
          <p:cNvPr id="14" name="Text 12"/>
          <p:cNvSpPr/>
          <p:nvPr/>
        </p:nvSpPr>
        <p:spPr>
          <a:xfrm>
            <a:off x="2971800" y="5148072"/>
            <a:ext cx="8259775" cy="310896"/>
          </a:xfrm>
          <a:prstGeom prst="rect">
            <a:avLst/>
          </a:prstGeom>
          <a:noFill/>
          <a:ln/>
        </p:spPr>
        <p:txBody>
          <a:bodyPr wrap="square" rtlCol="0" anchor="ctr"/>
          <a:lstStyle/>
          <a:p>
            <a:pPr indent="0" marL="0">
              <a:buNone/>
            </a:pPr>
            <a:r>
              <a:rPr lang="en-US" sz="1250" dirty="0">
                <a:solidFill>
                  <a:srgbClr val="2A3140"/>
                </a:solidFill>
                <a:latin typeface="Arial" pitchFamily="34" charset="0"/>
                <a:ea typeface="Arial" pitchFamily="34" charset="-122"/>
                <a:cs typeface="Arial" pitchFamily="34" charset="-120"/>
              </a:rPr>
              <a:t>3 min 33 s across the nine beats.</a:t>
            </a:r>
            <a:endParaRPr lang="en-US" sz="1250" dirty="0"/>
          </a:p>
        </p:txBody>
      </p:sp>
      <p:sp>
        <p:nvSpPr>
          <p:cNvPr id="15" name="Shape 13"/>
          <p:cNvSpPr/>
          <p:nvPr/>
        </p:nvSpPr>
        <p:spPr>
          <a:xfrm>
            <a:off x="685800" y="6144768"/>
            <a:ext cx="10820095" cy="0"/>
          </a:xfrm>
          <a:prstGeom prst="line">
            <a:avLst/>
          </a:prstGeom>
          <a:noFill/>
          <a:ln w="9525">
            <a:solidFill>
              <a:srgbClr val="D3D8E0"/>
            </a:solidFill>
            <a:prstDash val="solid"/>
          </a:ln>
        </p:spPr>
      </p:sp>
      <p:sp>
        <p:nvSpPr>
          <p:cNvPr id="16" name="Text 14"/>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17" name="Text 15"/>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https://nodeslide.vercel.app</a:t>
            </a:r>
            <a:endParaRPr lang="en-US" sz="950" dirty="0"/>
          </a:p>
        </p:txBody>
      </p:sp>
      <p:sp>
        <p:nvSpPr>
          <p:cNvPr id="18" name="Text 16"/>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LIVE APPLICATION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BEAT 01 OF 09</a:t>
            </a:r>
            <a:endParaRPr lang="en-US" sz="1000" dirty="0"/>
          </a:p>
        </p:txBody>
      </p:sp>
      <p:sp>
        <p:nvSpPr>
          <p:cNvPr id="3" name="Text 1"/>
          <p:cNvSpPr/>
          <p:nvPr/>
        </p:nvSpPr>
        <p:spPr>
          <a:xfrm>
            <a:off x="7848295" y="347472"/>
            <a:ext cx="3657600" cy="274320"/>
          </a:xfrm>
          <a:prstGeom prst="rect">
            <a:avLst/>
          </a:prstGeom>
          <a:noFill/>
          <a:ln/>
        </p:spPr>
        <p:txBody>
          <a:bodyPr wrap="square" rtlCol="0" anchor="ctr"/>
          <a:lstStyle/>
          <a:p>
            <a:pPr algn="r" indent="0" marL="0">
              <a:buNone/>
            </a:pPr>
            <a:r>
              <a:rPr lang="en-US" sz="1000" spc="180" kern="0" dirty="0">
                <a:solidFill>
                  <a:srgbClr val="545C69"/>
                </a:solidFill>
                <a:latin typeface="Arial" pitchFamily="34" charset="0"/>
                <a:ea typeface="Arial" pitchFamily="34" charset="-122"/>
                <a:cs typeface="Arial" pitchFamily="34" charset="-120"/>
              </a:rPr>
              <a:t>28 SECONDS ON SCREEN</a:t>
            </a:r>
            <a:endParaRPr lang="en-US" sz="1000" dirty="0"/>
          </a:p>
        </p:txBody>
      </p:sp>
      <p:sp>
        <p:nvSpPr>
          <p:cNvPr id="4" name="Shape 2"/>
          <p:cNvSpPr/>
          <p:nvPr/>
        </p:nvSpPr>
        <p:spPr>
          <a:xfrm>
            <a:off x="685800" y="676656"/>
            <a:ext cx="10820095" cy="0"/>
          </a:xfrm>
          <a:prstGeom prst="line">
            <a:avLst/>
          </a:prstGeom>
          <a:noFill/>
          <a:ln w="9525">
            <a:solidFill>
              <a:srgbClr val="D3D8E0"/>
            </a:solidFill>
            <a:prstDash val="solid"/>
          </a:ln>
        </p:spPr>
      </p:sp>
      <p:sp>
        <p:nvSpPr>
          <p:cNvPr id="5" name="Text 3"/>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The headline is a record</a:t>
            </a:r>
            <a:endParaRPr lang="en-US" sz="3000" dirty="0"/>
          </a:p>
        </p:txBody>
      </p:sp>
      <p:sp>
        <p:nvSpPr>
          <p:cNvPr id="6" name="Text 4"/>
          <p:cNvSpPr/>
          <p:nvPr/>
        </p:nvSpPr>
        <p:spPr>
          <a:xfrm>
            <a:off x="685800" y="1444752"/>
            <a:ext cx="10820095" cy="274320"/>
          </a:xfrm>
          <a:prstGeom prst="rect">
            <a:avLst/>
          </a:prstGeom>
          <a:noFill/>
          <a:ln/>
        </p:spPr>
        <p:txBody>
          <a:bodyPr wrap="square" rtlCol="0" anchor="ctr"/>
          <a:lstStyle/>
          <a:p>
            <a:pPr indent="0" marL="0">
              <a:buNone/>
            </a:pPr>
            <a:r>
              <a:rPr lang="en-US" sz="1200" dirty="0">
                <a:solidFill>
                  <a:srgbClr val="2A4A8F"/>
                </a:solidFill>
                <a:latin typeface="Consolas" pitchFamily="34" charset="0"/>
                <a:ea typeface="Consolas" pitchFamily="34" charset="-122"/>
                <a:cs typeface="Consolas" pitchFamily="34" charset="-120"/>
              </a:rPr>
              <a:t>Inspector → JSON → Selection</a:t>
            </a:r>
            <a:endParaRPr lang="en-US" sz="1200" dirty="0"/>
          </a:p>
        </p:txBody>
      </p:sp>
      <p:sp>
        <p:nvSpPr>
          <p:cNvPr id="7" name="Text 5"/>
          <p:cNvSpPr/>
          <p:nvPr/>
        </p:nvSpPr>
        <p:spPr>
          <a:xfrm>
            <a:off x="685800" y="1828800"/>
            <a:ext cx="10454335" cy="91440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A slide element is addressable typed data carrying an id, normalised geometry, export capabilities and bound sources. It is not pixels.</a:t>
            </a:r>
            <a:endParaRPr lang="en-US" sz="1650" dirty="0"/>
          </a:p>
        </p:txBody>
      </p:sp>
      <p:sp>
        <p:nvSpPr>
          <p:cNvPr id="8" name="Text 6"/>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9" name="Shape 7"/>
          <p:cNvSpPr/>
          <p:nvPr/>
        </p:nvSpPr>
        <p:spPr>
          <a:xfrm>
            <a:off x="685800" y="3035808"/>
            <a:ext cx="10820095" cy="2889504"/>
          </a:xfrm>
          <a:prstGeom prst="rect">
            <a:avLst/>
          </a:prstGeom>
          <a:solidFill>
            <a:srgbClr val="FFFFFF"/>
          </a:solidFill>
          <a:ln w="9525">
            <a:solidFill>
              <a:srgbClr val="D3D8E0"/>
            </a:solidFill>
            <a:prstDash val="solid"/>
          </a:ln>
        </p:spPr>
      </p:sp>
      <p:sp>
        <p:nvSpPr>
          <p:cNvPr id="10" name="Text 8"/>
          <p:cNvSpPr/>
          <p:nvPr/>
        </p:nvSpPr>
        <p:spPr>
          <a:xfrm>
            <a:off x="923544" y="3416046"/>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On nodeslide.vercel.app click "Explore the editable sample workspace", then click the headline on the canvas.</a:t>
            </a:r>
            <a:endParaRPr lang="en-US" sz="1300" dirty="0"/>
          </a:p>
        </p:txBody>
      </p:sp>
      <p:sp>
        <p:nvSpPr>
          <p:cNvPr id="11" name="Shape 9"/>
          <p:cNvSpPr/>
          <p:nvPr/>
        </p:nvSpPr>
        <p:spPr>
          <a:xfrm>
            <a:off x="923544" y="3752850"/>
            <a:ext cx="41148" cy="181356"/>
          </a:xfrm>
          <a:prstGeom prst="rect">
            <a:avLst/>
          </a:prstGeom>
          <a:solidFill>
            <a:srgbClr val="2A4A8F"/>
          </a:solidFill>
          <a:ln w="12700">
            <a:solidFill>
              <a:srgbClr val="2A4A8F"/>
            </a:solidFill>
            <a:prstDash val="solid"/>
          </a:ln>
        </p:spPr>
      </p:sp>
      <p:sp>
        <p:nvSpPr>
          <p:cNvPr id="12" name="Text 10"/>
          <p:cNvSpPr/>
          <p:nvPr/>
        </p:nvSpPr>
        <p:spPr>
          <a:xfrm>
            <a:off x="1110996" y="3734562"/>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Selection · 1</a:t>
            </a:r>
            <a:endParaRPr lang="en-US" sz="1300" dirty="0"/>
          </a:p>
        </p:txBody>
      </p:sp>
      <p:sp>
        <p:nvSpPr>
          <p:cNvPr id="13" name="Shape 11"/>
          <p:cNvSpPr/>
          <p:nvPr/>
        </p:nvSpPr>
        <p:spPr>
          <a:xfrm>
            <a:off x="923544" y="4071366"/>
            <a:ext cx="41148" cy="181356"/>
          </a:xfrm>
          <a:prstGeom prst="rect">
            <a:avLst/>
          </a:prstGeom>
          <a:solidFill>
            <a:srgbClr val="2A4A8F"/>
          </a:solidFill>
          <a:ln w="12700">
            <a:solidFill>
              <a:srgbClr val="2A4A8F"/>
            </a:solidFill>
            <a:prstDash val="solid"/>
          </a:ln>
        </p:spPr>
      </p:sp>
      <p:sp>
        <p:nvSpPr>
          <p:cNvPr id="14" name="Text 12"/>
          <p:cNvSpPr/>
          <p:nvPr/>
        </p:nvSpPr>
        <p:spPr>
          <a:xfrm>
            <a:off x="1110996" y="4053078"/>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id  element_3cdee97100485e1f71d80bfc1764c778</a:t>
            </a:r>
            <a:endParaRPr lang="en-US" sz="1300" dirty="0"/>
          </a:p>
        </p:txBody>
      </p:sp>
      <p:sp>
        <p:nvSpPr>
          <p:cNvPr id="15" name="Shape 13"/>
          <p:cNvSpPr/>
          <p:nvPr/>
        </p:nvSpPr>
        <p:spPr>
          <a:xfrm>
            <a:off x="923544" y="4389882"/>
            <a:ext cx="41148" cy="181356"/>
          </a:xfrm>
          <a:prstGeom prst="rect">
            <a:avLst/>
          </a:prstGeom>
          <a:solidFill>
            <a:srgbClr val="2A4A8F"/>
          </a:solidFill>
          <a:ln w="12700">
            <a:solidFill>
              <a:srgbClr val="2A4A8F"/>
            </a:solidFill>
            <a:prstDash val="solid"/>
          </a:ln>
        </p:spPr>
      </p:sp>
      <p:sp>
        <p:nvSpPr>
          <p:cNvPr id="16" name="Text 14"/>
          <p:cNvSpPr/>
          <p:nvPr/>
        </p:nvSpPr>
        <p:spPr>
          <a:xfrm>
            <a:off x="1110996" y="4371594"/>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bbox  { x 0.07, y 0.15, w 0.79, h 0.27 }</a:t>
            </a:r>
            <a:endParaRPr lang="en-US" sz="1300" dirty="0"/>
          </a:p>
        </p:txBody>
      </p:sp>
      <p:sp>
        <p:nvSpPr>
          <p:cNvPr id="17" name="Shape 15"/>
          <p:cNvSpPr/>
          <p:nvPr/>
        </p:nvSpPr>
        <p:spPr>
          <a:xfrm>
            <a:off x="923544" y="4708398"/>
            <a:ext cx="41148" cy="181356"/>
          </a:xfrm>
          <a:prstGeom prst="rect">
            <a:avLst/>
          </a:prstGeom>
          <a:solidFill>
            <a:srgbClr val="2A4A8F"/>
          </a:solidFill>
          <a:ln w="12700">
            <a:solidFill>
              <a:srgbClr val="2A4A8F"/>
            </a:solidFill>
            <a:prstDash val="solid"/>
          </a:ln>
        </p:spPr>
      </p:sp>
      <p:sp>
        <p:nvSpPr>
          <p:cNvPr id="18" name="Text 16"/>
          <p:cNvSpPr/>
          <p:nvPr/>
        </p:nvSpPr>
        <p:spPr>
          <a:xfrm>
            <a:off x="1110996" y="4690110"/>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exportCapabilities  web_native / pptx_editable / google_importable</a:t>
            </a:r>
            <a:endParaRPr lang="en-US" sz="1300" dirty="0"/>
          </a:p>
        </p:txBody>
      </p:sp>
      <p:sp>
        <p:nvSpPr>
          <p:cNvPr id="19" name="Shape 17"/>
          <p:cNvSpPr/>
          <p:nvPr/>
        </p:nvSpPr>
        <p:spPr>
          <a:xfrm>
            <a:off x="923544" y="5026914"/>
            <a:ext cx="41148" cy="181356"/>
          </a:xfrm>
          <a:prstGeom prst="rect">
            <a:avLst/>
          </a:prstGeom>
          <a:solidFill>
            <a:srgbClr val="2A4A8F"/>
          </a:solidFill>
          <a:ln w="12700">
            <a:solidFill>
              <a:srgbClr val="2A4A8F"/>
            </a:solidFill>
            <a:prstDash val="solid"/>
          </a:ln>
        </p:spPr>
      </p:sp>
      <p:sp>
        <p:nvSpPr>
          <p:cNvPr id="20" name="Text 18"/>
          <p:cNvSpPr/>
          <p:nvPr/>
        </p:nvSpPr>
        <p:spPr>
          <a:xfrm>
            <a:off x="1110996" y="500862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sourceIds  source_fe19b386…    version  1</a:t>
            </a:r>
            <a:endParaRPr lang="en-US" sz="1300" dirty="0"/>
          </a:p>
        </p:txBody>
      </p:sp>
      <p:sp>
        <p:nvSpPr>
          <p:cNvPr id="21" name="Text 19"/>
          <p:cNvSpPr/>
          <p:nvPr/>
        </p:nvSpPr>
        <p:spPr>
          <a:xfrm>
            <a:off x="923544" y="5327142"/>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Apply changes and Reset sit beneath the record. The panel is editable.</a:t>
            </a:r>
            <a:endParaRPr lang="en-US" sz="1300" dirty="0"/>
          </a:p>
        </p:txBody>
      </p:sp>
      <p:sp>
        <p:nvSpPr>
          <p:cNvPr id="22" name="Shape 20"/>
          <p:cNvSpPr/>
          <p:nvPr/>
        </p:nvSpPr>
        <p:spPr>
          <a:xfrm>
            <a:off x="685800" y="6144768"/>
            <a:ext cx="10820095" cy="0"/>
          </a:xfrm>
          <a:prstGeom prst="line">
            <a:avLst/>
          </a:prstGeom>
          <a:noFill/>
          <a:ln w="9525">
            <a:solidFill>
              <a:srgbClr val="D3D8E0"/>
            </a:solidFill>
            <a:prstDash val="solid"/>
          </a:ln>
        </p:spPr>
      </p:sp>
      <p:sp>
        <p:nvSpPr>
          <p:cNvPr id="23" name="Text 21"/>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24" name="Text 22"/>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https://nodeslide.vercel.app</a:t>
            </a:r>
            <a:endParaRPr lang="en-US" sz="950" dirty="0"/>
          </a:p>
        </p:txBody>
      </p:sp>
      <p:sp>
        <p:nvSpPr>
          <p:cNvPr id="25" name="Text 23"/>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Inspector → JSON → Selection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BEAT 02 OF 09</a:t>
            </a:r>
            <a:endParaRPr lang="en-US" sz="1000" dirty="0"/>
          </a:p>
        </p:txBody>
      </p:sp>
      <p:sp>
        <p:nvSpPr>
          <p:cNvPr id="3" name="Text 1"/>
          <p:cNvSpPr/>
          <p:nvPr/>
        </p:nvSpPr>
        <p:spPr>
          <a:xfrm>
            <a:off x="7848295" y="347472"/>
            <a:ext cx="3657600" cy="274320"/>
          </a:xfrm>
          <a:prstGeom prst="rect">
            <a:avLst/>
          </a:prstGeom>
          <a:noFill/>
          <a:ln/>
        </p:spPr>
        <p:txBody>
          <a:bodyPr wrap="square" rtlCol="0" anchor="ctr"/>
          <a:lstStyle/>
          <a:p>
            <a:pPr algn="r" indent="0" marL="0">
              <a:buNone/>
            </a:pPr>
            <a:r>
              <a:rPr lang="en-US" sz="1000" spc="180" kern="0" dirty="0">
                <a:solidFill>
                  <a:srgbClr val="545C69"/>
                </a:solidFill>
                <a:latin typeface="Arial" pitchFamily="34" charset="0"/>
                <a:ea typeface="Arial" pitchFamily="34" charset="-122"/>
                <a:cs typeface="Arial" pitchFamily="34" charset="-120"/>
              </a:rPr>
              <a:t>18 SECONDS ON SCREEN</a:t>
            </a:r>
            <a:endParaRPr lang="en-US" sz="1000" dirty="0"/>
          </a:p>
        </p:txBody>
      </p:sp>
      <p:sp>
        <p:nvSpPr>
          <p:cNvPr id="4" name="Shape 2"/>
          <p:cNvSpPr/>
          <p:nvPr/>
        </p:nvSpPr>
        <p:spPr>
          <a:xfrm>
            <a:off x="685800" y="676656"/>
            <a:ext cx="10820095" cy="0"/>
          </a:xfrm>
          <a:prstGeom prst="line">
            <a:avLst/>
          </a:prstGeom>
          <a:noFill/>
          <a:ln w="9525">
            <a:solidFill>
              <a:srgbClr val="D3D8E0"/>
            </a:solidFill>
            <a:prstDash val="solid"/>
          </a:ln>
        </p:spPr>
      </p:sp>
      <p:sp>
        <p:nvSpPr>
          <p:cNvPr id="5" name="Text 3"/>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The whole deck downloads as its schema</a:t>
            </a:r>
            <a:endParaRPr lang="en-US" sz="3000" dirty="0"/>
          </a:p>
        </p:txBody>
      </p:sp>
      <p:sp>
        <p:nvSpPr>
          <p:cNvPr id="6" name="Text 4"/>
          <p:cNvSpPr/>
          <p:nvPr/>
        </p:nvSpPr>
        <p:spPr>
          <a:xfrm>
            <a:off x="685800" y="1444752"/>
            <a:ext cx="10820095" cy="274320"/>
          </a:xfrm>
          <a:prstGeom prst="rect">
            <a:avLst/>
          </a:prstGeom>
          <a:noFill/>
          <a:ln/>
        </p:spPr>
        <p:txBody>
          <a:bodyPr wrap="square" rtlCol="0" anchor="ctr"/>
          <a:lstStyle/>
          <a:p>
            <a:pPr indent="0" marL="0">
              <a:buNone/>
            </a:pPr>
            <a:r>
              <a:rPr lang="en-US" sz="1200" dirty="0">
                <a:solidFill>
                  <a:srgbClr val="2A4A8F"/>
                </a:solidFill>
                <a:latin typeface="Consolas" pitchFamily="34" charset="0"/>
                <a:ea typeface="Consolas" pitchFamily="34" charset="-122"/>
                <a:cs typeface="Consolas" pitchFamily="34" charset="-120"/>
              </a:rPr>
              <a:t>Inspector → JSON → Deck</a:t>
            </a:r>
            <a:endParaRPr lang="en-US" sz="1200" dirty="0"/>
          </a:p>
        </p:txBody>
      </p:sp>
      <p:sp>
        <p:nvSpPr>
          <p:cNvPr id="7" name="Text 5"/>
          <p:cNvSpPr/>
          <p:nvPr/>
        </p:nvSpPr>
        <p:spPr>
          <a:xfrm>
            <a:off x="685800" y="1828800"/>
            <a:ext cx="10454335" cy="91440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One canonical DeckSpec is the source of truth, the rendered slide is derived from it, and it leaves with the user.</a:t>
            </a:r>
            <a:endParaRPr lang="en-US" sz="1650" dirty="0"/>
          </a:p>
        </p:txBody>
      </p:sp>
      <p:sp>
        <p:nvSpPr>
          <p:cNvPr id="8" name="Text 6"/>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9" name="Shape 7"/>
          <p:cNvSpPr/>
          <p:nvPr/>
        </p:nvSpPr>
        <p:spPr>
          <a:xfrm>
            <a:off x="685800" y="3035808"/>
            <a:ext cx="10820095" cy="2889504"/>
          </a:xfrm>
          <a:prstGeom prst="rect">
            <a:avLst/>
          </a:prstGeom>
          <a:solidFill>
            <a:srgbClr val="FFFFFF"/>
          </a:solidFill>
          <a:ln w="9525">
            <a:solidFill>
              <a:srgbClr val="D3D8E0"/>
            </a:solidFill>
            <a:prstDash val="solid"/>
          </a:ln>
        </p:spPr>
      </p:sp>
      <p:sp>
        <p:nvSpPr>
          <p:cNvPr id="10" name="Shape 8"/>
          <p:cNvSpPr/>
          <p:nvPr/>
        </p:nvSpPr>
        <p:spPr>
          <a:xfrm>
            <a:off x="923544" y="3912108"/>
            <a:ext cx="41148" cy="181356"/>
          </a:xfrm>
          <a:prstGeom prst="rect">
            <a:avLst/>
          </a:prstGeom>
          <a:solidFill>
            <a:srgbClr val="2A4A8F"/>
          </a:solidFill>
          <a:ln w="12700">
            <a:solidFill>
              <a:srgbClr val="2A4A8F"/>
            </a:solidFill>
            <a:prstDash val="solid"/>
          </a:ln>
        </p:spPr>
      </p:sp>
      <p:sp>
        <p:nvSpPr>
          <p:cNvPr id="11" name="Text 9"/>
          <p:cNvSpPr/>
          <p:nvPr/>
        </p:nvSpPr>
        <p:spPr>
          <a:xfrm>
            <a:off x="1110996" y="3893820"/>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DECK AS CODE</a:t>
            </a:r>
            <a:endParaRPr lang="en-US" sz="1300" dirty="0"/>
          </a:p>
        </p:txBody>
      </p:sp>
      <p:sp>
        <p:nvSpPr>
          <p:cNvPr id="12" name="Shape 10"/>
          <p:cNvSpPr/>
          <p:nvPr/>
        </p:nvSpPr>
        <p:spPr>
          <a:xfrm>
            <a:off x="923544" y="4230624"/>
            <a:ext cx="41148" cy="181356"/>
          </a:xfrm>
          <a:prstGeom prst="rect">
            <a:avLst/>
          </a:prstGeom>
          <a:solidFill>
            <a:srgbClr val="2A4A8F"/>
          </a:solidFill>
          <a:ln w="12700">
            <a:solidFill>
              <a:srgbClr val="2A4A8F"/>
            </a:solidFill>
            <a:prstDash val="solid"/>
          </a:ln>
        </p:spPr>
      </p:sp>
      <p:sp>
        <p:nvSpPr>
          <p:cNvPr id="13" name="Text 11"/>
          <p:cNvSpPr/>
          <p:nvPr/>
        </p:nvSpPr>
        <p:spPr>
          <a:xfrm>
            <a:off x="1110996" y="421233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The canonical nodeslide.slidelang/v1 DeckSpec — 7 slides · 71 elements</a:t>
            </a:r>
            <a:endParaRPr lang="en-US" sz="1300" dirty="0"/>
          </a:p>
        </p:txBody>
      </p:sp>
      <p:sp>
        <p:nvSpPr>
          <p:cNvPr id="14" name="Text 12"/>
          <p:cNvSpPr/>
          <p:nvPr/>
        </p:nvSpPr>
        <p:spPr>
          <a:xfrm>
            <a:off x="923544" y="4530852"/>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Scroll the deck record: schemaVersion nodeslide.slidelang/v1, slideOrder, theme, version 1.</a:t>
            </a:r>
            <a:endParaRPr lang="en-US" sz="1300" dirty="0"/>
          </a:p>
        </p:txBody>
      </p:sp>
      <p:sp>
        <p:nvSpPr>
          <p:cNvPr id="15" name="Text 13"/>
          <p:cNvSpPr/>
          <p:nvPr/>
        </p:nvSpPr>
        <p:spPr>
          <a:xfrm>
            <a:off x="923544" y="4849368"/>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Click Download deck.json. The schema leaves with the user, not a bitmap.</a:t>
            </a:r>
            <a:endParaRPr lang="en-US" sz="1300" dirty="0"/>
          </a:p>
        </p:txBody>
      </p:sp>
      <p:sp>
        <p:nvSpPr>
          <p:cNvPr id="16" name="Shape 14"/>
          <p:cNvSpPr/>
          <p:nvPr/>
        </p:nvSpPr>
        <p:spPr>
          <a:xfrm>
            <a:off x="685800" y="6144768"/>
            <a:ext cx="10820095" cy="0"/>
          </a:xfrm>
          <a:prstGeom prst="line">
            <a:avLst/>
          </a:prstGeom>
          <a:noFill/>
          <a:ln w="9525">
            <a:solidFill>
              <a:srgbClr val="D3D8E0"/>
            </a:solidFill>
            <a:prstDash val="solid"/>
          </a:ln>
        </p:spPr>
      </p:sp>
      <p:sp>
        <p:nvSpPr>
          <p:cNvPr id="17" name="Text 15"/>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18" name="Text 16"/>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github.com/HomenShum/NodeSlide/blob/main/shared/nodeslide.ts</a:t>
            </a:r>
            <a:endParaRPr lang="en-US" sz="950" dirty="0"/>
          </a:p>
        </p:txBody>
      </p:sp>
      <p:sp>
        <p:nvSpPr>
          <p:cNvPr id="19" name="Text 17"/>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Inspector → JSON → Deck</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BEAT 03 OF 09</a:t>
            </a:r>
            <a:endParaRPr lang="en-US" sz="1000" dirty="0"/>
          </a:p>
        </p:txBody>
      </p:sp>
      <p:sp>
        <p:nvSpPr>
          <p:cNvPr id="3" name="Text 1"/>
          <p:cNvSpPr/>
          <p:nvPr/>
        </p:nvSpPr>
        <p:spPr>
          <a:xfrm>
            <a:off x="7848295" y="347472"/>
            <a:ext cx="3657600" cy="274320"/>
          </a:xfrm>
          <a:prstGeom prst="rect">
            <a:avLst/>
          </a:prstGeom>
          <a:noFill/>
          <a:ln/>
        </p:spPr>
        <p:txBody>
          <a:bodyPr wrap="square" rtlCol="0" anchor="ctr"/>
          <a:lstStyle/>
          <a:p>
            <a:pPr algn="r" indent="0" marL="0">
              <a:buNone/>
            </a:pPr>
            <a:r>
              <a:rPr lang="en-US" sz="1000" spc="180" kern="0" dirty="0">
                <a:solidFill>
                  <a:srgbClr val="545C69"/>
                </a:solidFill>
                <a:latin typeface="Arial" pitchFamily="34" charset="0"/>
                <a:ea typeface="Arial" pitchFamily="34" charset="-122"/>
                <a:cs typeface="Arial" pitchFamily="34" charset="-120"/>
              </a:rPr>
              <a:t>30 SECONDS ON SCREEN</a:t>
            </a:r>
            <a:endParaRPr lang="en-US" sz="1000" dirty="0"/>
          </a:p>
        </p:txBody>
      </p:sp>
      <p:sp>
        <p:nvSpPr>
          <p:cNvPr id="4" name="Shape 2"/>
          <p:cNvSpPr/>
          <p:nvPr/>
        </p:nvSpPr>
        <p:spPr>
          <a:xfrm>
            <a:off x="685800" y="676656"/>
            <a:ext cx="10820095" cy="0"/>
          </a:xfrm>
          <a:prstGeom prst="line">
            <a:avLst/>
          </a:prstGeom>
          <a:noFill/>
          <a:ln w="9525">
            <a:solidFill>
              <a:srgbClr val="D3D8E0"/>
            </a:solidFill>
            <a:prstDash val="solid"/>
          </a:ln>
        </p:spPr>
      </p:sp>
      <p:sp>
        <p:nvSpPr>
          <p:cNvPr id="5" name="Text 3"/>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An agent edit is a bounded patch</a:t>
            </a:r>
            <a:endParaRPr lang="en-US" sz="3000" dirty="0"/>
          </a:p>
        </p:txBody>
      </p:sp>
      <p:sp>
        <p:nvSpPr>
          <p:cNvPr id="6" name="Text 4"/>
          <p:cNvSpPr/>
          <p:nvPr/>
        </p:nvSpPr>
        <p:spPr>
          <a:xfrm>
            <a:off x="685800" y="1444752"/>
            <a:ext cx="10820095" cy="274320"/>
          </a:xfrm>
          <a:prstGeom prst="rect">
            <a:avLst/>
          </a:prstGeom>
          <a:noFill/>
          <a:ln/>
        </p:spPr>
        <p:txBody>
          <a:bodyPr wrap="square" rtlCol="0" anchor="ctr"/>
          <a:lstStyle/>
          <a:p>
            <a:pPr indent="0" marL="0">
              <a:buNone/>
            </a:pPr>
            <a:r>
              <a:rPr lang="en-US" sz="1200" dirty="0">
                <a:solidFill>
                  <a:srgbClr val="2A4A8F"/>
                </a:solidFill>
                <a:latin typeface="Consolas" pitchFamily="34" charset="0"/>
                <a:ea typeface="Consolas" pitchFamily="34" charset="-122"/>
                <a:cs typeface="Consolas" pitchFamily="34" charset="-120"/>
              </a:rPr>
              <a:t>Inspector → AI → Generate 3 directions</a:t>
            </a:r>
            <a:endParaRPr lang="en-US" sz="1200" dirty="0"/>
          </a:p>
        </p:txBody>
      </p:sp>
      <p:sp>
        <p:nvSpPr>
          <p:cNvPr id="7" name="Text 5"/>
          <p:cNvSpPr/>
          <p:nvPr/>
        </p:nvSpPr>
        <p:spPr>
          <a:xfrm>
            <a:off x="685800" y="1828800"/>
            <a:ext cx="10454335" cy="91440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The agent returns scoped operations on named elements, and the slide does not change while those operations are being read.</a:t>
            </a:r>
            <a:endParaRPr lang="en-US" sz="1650" dirty="0"/>
          </a:p>
        </p:txBody>
      </p:sp>
      <p:sp>
        <p:nvSpPr>
          <p:cNvPr id="8" name="Text 6"/>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9" name="Shape 7"/>
          <p:cNvSpPr/>
          <p:nvPr/>
        </p:nvSpPr>
        <p:spPr>
          <a:xfrm>
            <a:off x="685800" y="3035808"/>
            <a:ext cx="10820095" cy="2889504"/>
          </a:xfrm>
          <a:prstGeom prst="rect">
            <a:avLst/>
          </a:prstGeom>
          <a:solidFill>
            <a:srgbClr val="FFFFFF"/>
          </a:solidFill>
          <a:ln w="9525">
            <a:solidFill>
              <a:srgbClr val="D3D8E0"/>
            </a:solidFill>
            <a:prstDash val="solid"/>
          </a:ln>
        </p:spPr>
      </p:sp>
      <p:sp>
        <p:nvSpPr>
          <p:cNvPr id="10" name="Shape 8"/>
          <p:cNvSpPr/>
          <p:nvPr/>
        </p:nvSpPr>
        <p:spPr>
          <a:xfrm>
            <a:off x="923544" y="3593592"/>
            <a:ext cx="41148" cy="181356"/>
          </a:xfrm>
          <a:prstGeom prst="rect">
            <a:avLst/>
          </a:prstGeom>
          <a:solidFill>
            <a:srgbClr val="2A4A8F"/>
          </a:solidFill>
          <a:ln w="12700">
            <a:solidFill>
              <a:srgbClr val="2A4A8F"/>
            </a:solidFill>
            <a:prstDash val="solid"/>
          </a:ln>
        </p:spPr>
      </p:sp>
      <p:sp>
        <p:nvSpPr>
          <p:cNvPr id="11" name="Text 9"/>
          <p:cNvSpPr/>
          <p:nvPr/>
        </p:nvSpPr>
        <p:spPr>
          <a:xfrm>
            <a:off x="1110996" y="3575304"/>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Ready to review · based on v1        Validation clean</a:t>
            </a:r>
            <a:endParaRPr lang="en-US" sz="1300" dirty="0"/>
          </a:p>
        </p:txBody>
      </p:sp>
      <p:sp>
        <p:nvSpPr>
          <p:cNvPr id="12" name="Text 10"/>
          <p:cNvSpPr/>
          <p:nvPr/>
        </p:nvSpPr>
        <p:spPr>
          <a:xfrm>
            <a:off x="923544" y="3893820"/>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Expand "Review 2 bounded changes" on the first card.</a:t>
            </a:r>
            <a:endParaRPr lang="en-US" sz="1300" dirty="0"/>
          </a:p>
        </p:txBody>
      </p:sp>
      <p:sp>
        <p:nvSpPr>
          <p:cNvPr id="13" name="Shape 11"/>
          <p:cNvSpPr/>
          <p:nvPr/>
        </p:nvSpPr>
        <p:spPr>
          <a:xfrm>
            <a:off x="923544" y="4230624"/>
            <a:ext cx="41148" cy="181356"/>
          </a:xfrm>
          <a:prstGeom prst="rect">
            <a:avLst/>
          </a:prstGeom>
          <a:solidFill>
            <a:srgbClr val="2A4A8F"/>
          </a:solidFill>
          <a:ln w="12700">
            <a:solidFill>
              <a:srgbClr val="2A4A8F"/>
            </a:solidFill>
            <a:prstDash val="solid"/>
          </a:ln>
        </p:spPr>
      </p:sp>
      <p:sp>
        <p:nvSpPr>
          <p:cNvPr id="14" name="Text 12"/>
          <p:cNvSpPr/>
          <p:nvPr/>
        </p:nvSpPr>
        <p:spPr>
          <a:xfrm>
            <a:off x="1110996" y="421233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Update letterSpacing, lineHeight on element_3cdee97100485e1f71d80bfc1764c778</a:t>
            </a:r>
            <a:endParaRPr lang="en-US" sz="1300" dirty="0"/>
          </a:p>
        </p:txBody>
      </p:sp>
      <p:sp>
        <p:nvSpPr>
          <p:cNvPr id="15" name="Shape 13"/>
          <p:cNvSpPr/>
          <p:nvPr/>
        </p:nvSpPr>
        <p:spPr>
          <a:xfrm>
            <a:off x="923544" y="4549140"/>
            <a:ext cx="41148" cy="181356"/>
          </a:xfrm>
          <a:prstGeom prst="rect">
            <a:avLst/>
          </a:prstGeom>
          <a:solidFill>
            <a:srgbClr val="2A4A8F"/>
          </a:solidFill>
          <a:ln w="12700">
            <a:solidFill>
              <a:srgbClr val="2A4A8F"/>
            </a:solidFill>
            <a:prstDash val="solid"/>
          </a:ln>
        </p:spPr>
      </p:sp>
      <p:sp>
        <p:nvSpPr>
          <p:cNvPr id="16" name="Text 14"/>
          <p:cNvSpPr/>
          <p:nvPr/>
        </p:nvSpPr>
        <p:spPr>
          <a:xfrm>
            <a:off x="1110996" y="4530852"/>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Update opacity on element_1230c5ac52a33407c39e665ca5b5f110</a:t>
            </a:r>
            <a:endParaRPr lang="en-US" sz="1300" dirty="0"/>
          </a:p>
        </p:txBody>
      </p:sp>
      <p:sp>
        <p:nvSpPr>
          <p:cNvPr id="17" name="Text 15"/>
          <p:cNvSpPr/>
          <p:nvPr/>
        </p:nvSpPr>
        <p:spPr>
          <a:xfrm>
            <a:off x="923544" y="4849368"/>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The first id is the element opened in beat 1.</a:t>
            </a:r>
            <a:endParaRPr lang="en-US" sz="1300" dirty="0"/>
          </a:p>
        </p:txBody>
      </p:sp>
      <p:sp>
        <p:nvSpPr>
          <p:cNvPr id="18" name="Shape 16"/>
          <p:cNvSpPr/>
          <p:nvPr/>
        </p:nvSpPr>
        <p:spPr>
          <a:xfrm>
            <a:off x="923544" y="5186172"/>
            <a:ext cx="41148" cy="181356"/>
          </a:xfrm>
          <a:prstGeom prst="rect">
            <a:avLst/>
          </a:prstGeom>
          <a:solidFill>
            <a:srgbClr val="2A4A8F"/>
          </a:solidFill>
          <a:ln w="12700">
            <a:solidFill>
              <a:srgbClr val="2A4A8F"/>
            </a:solidFill>
            <a:prstDash val="solid"/>
          </a:ln>
        </p:spPr>
      </p:sp>
      <p:sp>
        <p:nvSpPr>
          <p:cNvPr id="19" name="Text 17"/>
          <p:cNvSpPr/>
          <p:nvPr/>
        </p:nvSpPr>
        <p:spPr>
          <a:xfrm>
            <a:off x="1110996" y="5167884"/>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Each direction is materialized and validated. Your slide stays unchanged until Accept.</a:t>
            </a:r>
            <a:endParaRPr lang="en-US" sz="1300" dirty="0"/>
          </a:p>
        </p:txBody>
      </p:sp>
      <p:sp>
        <p:nvSpPr>
          <p:cNvPr id="20" name="Shape 18"/>
          <p:cNvSpPr/>
          <p:nvPr/>
        </p:nvSpPr>
        <p:spPr>
          <a:xfrm>
            <a:off x="685800" y="6144768"/>
            <a:ext cx="10820095" cy="0"/>
          </a:xfrm>
          <a:prstGeom prst="line">
            <a:avLst/>
          </a:prstGeom>
          <a:noFill/>
          <a:ln w="9525">
            <a:solidFill>
              <a:srgbClr val="D3D8E0"/>
            </a:solidFill>
            <a:prstDash val="solid"/>
          </a:ln>
        </p:spPr>
      </p:sp>
      <p:sp>
        <p:nvSpPr>
          <p:cNvPr id="21" name="Text 19"/>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22" name="Text 20"/>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github.com/HomenShum/NodeSlide/blob/main/convex/lib/nodeslidePatches.ts</a:t>
            </a:r>
            <a:endParaRPr lang="en-US" sz="950" dirty="0"/>
          </a:p>
        </p:txBody>
      </p:sp>
      <p:sp>
        <p:nvSpPr>
          <p:cNvPr id="23" name="Text 21"/>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Inspector → AI → Generate 3 directions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BEAT 04 OF 09</a:t>
            </a:r>
            <a:endParaRPr lang="en-US" sz="1000" dirty="0"/>
          </a:p>
        </p:txBody>
      </p:sp>
      <p:sp>
        <p:nvSpPr>
          <p:cNvPr id="3" name="Text 1"/>
          <p:cNvSpPr/>
          <p:nvPr/>
        </p:nvSpPr>
        <p:spPr>
          <a:xfrm>
            <a:off x="7848295" y="347472"/>
            <a:ext cx="3657600" cy="274320"/>
          </a:xfrm>
          <a:prstGeom prst="rect">
            <a:avLst/>
          </a:prstGeom>
          <a:noFill/>
          <a:ln/>
        </p:spPr>
        <p:txBody>
          <a:bodyPr wrap="square" rtlCol="0" anchor="ctr"/>
          <a:lstStyle/>
          <a:p>
            <a:pPr algn="r" indent="0" marL="0">
              <a:buNone/>
            </a:pPr>
            <a:r>
              <a:rPr lang="en-US" sz="1000" spc="180" kern="0" dirty="0">
                <a:solidFill>
                  <a:srgbClr val="545C69"/>
                </a:solidFill>
                <a:latin typeface="Arial" pitchFamily="34" charset="0"/>
                <a:ea typeface="Arial" pitchFamily="34" charset="-122"/>
                <a:cs typeface="Arial" pitchFamily="34" charset="-120"/>
              </a:rPr>
              <a:t>20 SECONDS ON SCREEN</a:t>
            </a:r>
            <a:endParaRPr lang="en-US" sz="1000" dirty="0"/>
          </a:p>
        </p:txBody>
      </p:sp>
      <p:sp>
        <p:nvSpPr>
          <p:cNvPr id="4" name="Shape 2"/>
          <p:cNvSpPr/>
          <p:nvPr/>
        </p:nvSpPr>
        <p:spPr>
          <a:xfrm>
            <a:off x="685800" y="676656"/>
            <a:ext cx="10820095" cy="0"/>
          </a:xfrm>
          <a:prstGeom prst="line">
            <a:avLst/>
          </a:prstGeom>
          <a:noFill/>
          <a:ln w="9525">
            <a:solidFill>
              <a:srgbClr val="D3D8E0"/>
            </a:solidFill>
            <a:prstDash val="solid"/>
          </a:ln>
        </p:spPr>
      </p:sp>
      <p:sp>
        <p:nvSpPr>
          <p:cNvPr id="5" name="Text 3"/>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The same run says the model degraded</a:t>
            </a:r>
            <a:endParaRPr lang="en-US" sz="3000" dirty="0"/>
          </a:p>
        </p:txBody>
      </p:sp>
      <p:sp>
        <p:nvSpPr>
          <p:cNvPr id="6" name="Text 4"/>
          <p:cNvSpPr/>
          <p:nvPr/>
        </p:nvSpPr>
        <p:spPr>
          <a:xfrm>
            <a:off x="685800" y="1444752"/>
            <a:ext cx="10820095" cy="274320"/>
          </a:xfrm>
          <a:prstGeom prst="rect">
            <a:avLst/>
          </a:prstGeom>
          <a:noFill/>
          <a:ln/>
        </p:spPr>
        <p:txBody>
          <a:bodyPr wrap="square" rtlCol="0" anchor="ctr"/>
          <a:lstStyle/>
          <a:p>
            <a:pPr indent="0" marL="0">
              <a:buNone/>
            </a:pPr>
            <a:r>
              <a:rPr lang="en-US" sz="1200" dirty="0">
                <a:solidFill>
                  <a:srgbClr val="2A4A8F"/>
                </a:solidFill>
                <a:latin typeface="Consolas" pitchFamily="34" charset="0"/>
                <a:ea typeface="Consolas" pitchFamily="34" charset="-122"/>
                <a:cs typeface="Consolas" pitchFamily="34" charset="-120"/>
              </a:rPr>
              <a:t>Inspector → AI, same run, no reload</a:t>
            </a:r>
            <a:endParaRPr lang="en-US" sz="1200" dirty="0"/>
          </a:p>
        </p:txBody>
      </p:sp>
      <p:sp>
        <p:nvSpPr>
          <p:cNvPr id="7" name="Text 5"/>
          <p:cNvSpPr/>
          <p:nvPr/>
        </p:nvSpPr>
        <p:spPr>
          <a:xfrm>
            <a:off x="685800" y="1828800"/>
            <a:ext cx="10454335" cy="91440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When the external model cannot supply a direction, the product labels the substitute and gives a per-branch reason rather than passing it off as the model’s work.</a:t>
            </a:r>
            <a:endParaRPr lang="en-US" sz="1650" dirty="0"/>
          </a:p>
        </p:txBody>
      </p:sp>
      <p:sp>
        <p:nvSpPr>
          <p:cNvPr id="8" name="Text 6"/>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9" name="Shape 7"/>
          <p:cNvSpPr/>
          <p:nvPr/>
        </p:nvSpPr>
        <p:spPr>
          <a:xfrm>
            <a:off x="685800" y="3035808"/>
            <a:ext cx="10820095" cy="2889504"/>
          </a:xfrm>
          <a:prstGeom prst="rect">
            <a:avLst/>
          </a:prstGeom>
          <a:solidFill>
            <a:srgbClr val="FFFFFF"/>
          </a:solidFill>
          <a:ln w="9525">
            <a:solidFill>
              <a:srgbClr val="D3D8E0"/>
            </a:solidFill>
            <a:prstDash val="solid"/>
          </a:ln>
        </p:spPr>
      </p:sp>
      <p:sp>
        <p:nvSpPr>
          <p:cNvPr id="10" name="Shape 8"/>
          <p:cNvSpPr/>
          <p:nvPr/>
        </p:nvSpPr>
        <p:spPr>
          <a:xfrm>
            <a:off x="923544" y="3803142"/>
            <a:ext cx="41148" cy="399288"/>
          </a:xfrm>
          <a:prstGeom prst="rect">
            <a:avLst/>
          </a:prstGeom>
          <a:solidFill>
            <a:srgbClr val="2A4A8F"/>
          </a:solidFill>
          <a:ln w="12700">
            <a:solidFill>
              <a:srgbClr val="2A4A8F"/>
            </a:solidFill>
            <a:prstDash val="solid"/>
          </a:ln>
        </p:spPr>
      </p:sp>
      <p:sp>
        <p:nvSpPr>
          <p:cNvPr id="11" name="Text 9"/>
          <p:cNvSpPr/>
          <p:nvPr/>
        </p:nvSpPr>
        <p:spPr>
          <a:xfrm>
            <a:off x="1110996" y="3784854"/>
            <a:ext cx="10157155" cy="435864"/>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The selected external model could not safely supply every direction. Clearly labeled deterministic fallbacks are shown instead.</a:t>
            </a:r>
            <a:endParaRPr lang="en-US" sz="1300" dirty="0"/>
          </a:p>
        </p:txBody>
      </p:sp>
      <p:sp>
        <p:nvSpPr>
          <p:cNvPr id="12" name="Text 10"/>
          <p:cNvSpPr/>
          <p:nvPr/>
        </p:nvSpPr>
        <p:spPr>
          <a:xfrm>
            <a:off x="923544" y="4321302"/>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Each card carries a "Deterministic fallback" chip.</a:t>
            </a:r>
            <a:endParaRPr lang="en-US" sz="1300" dirty="0"/>
          </a:p>
        </p:txBody>
      </p:sp>
      <p:sp>
        <p:nvSpPr>
          <p:cNvPr id="13" name="Shape 11"/>
          <p:cNvSpPr/>
          <p:nvPr/>
        </p:nvSpPr>
        <p:spPr>
          <a:xfrm>
            <a:off x="923544" y="4658106"/>
            <a:ext cx="41148" cy="181356"/>
          </a:xfrm>
          <a:prstGeom prst="rect">
            <a:avLst/>
          </a:prstGeom>
          <a:solidFill>
            <a:srgbClr val="2A4A8F"/>
          </a:solidFill>
          <a:ln w="12700">
            <a:solidFill>
              <a:srgbClr val="2A4A8F"/>
            </a:solidFill>
            <a:prstDash val="solid"/>
          </a:ln>
        </p:spPr>
      </p:sp>
      <p:sp>
        <p:nvSpPr>
          <p:cNvPr id="14" name="Text 12"/>
          <p:cNvSpPr/>
          <p:nvPr/>
        </p:nvSpPr>
        <p:spPr>
          <a:xfrm>
            <a:off x="1110996" y="4639818"/>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Fallback reason: provider timeout            (two branches)</a:t>
            </a:r>
            <a:endParaRPr lang="en-US" sz="1300" dirty="0"/>
          </a:p>
        </p:txBody>
      </p:sp>
      <p:sp>
        <p:nvSpPr>
          <p:cNvPr id="15" name="Shape 13"/>
          <p:cNvSpPr/>
          <p:nvPr/>
        </p:nvSpPr>
        <p:spPr>
          <a:xfrm>
            <a:off x="923544" y="4976622"/>
            <a:ext cx="41148" cy="181356"/>
          </a:xfrm>
          <a:prstGeom prst="rect">
            <a:avLst/>
          </a:prstGeom>
          <a:solidFill>
            <a:srgbClr val="2A4A8F"/>
          </a:solidFill>
          <a:ln w="12700">
            <a:solidFill>
              <a:srgbClr val="2A4A8F"/>
            </a:solidFill>
            <a:prstDash val="solid"/>
          </a:ln>
        </p:spPr>
      </p:sp>
      <p:sp>
        <p:nvSpPr>
          <p:cNvPr id="16" name="Text 14"/>
          <p:cNvSpPr/>
          <p:nvPr/>
        </p:nvSpPr>
        <p:spPr>
          <a:xfrm>
            <a:off x="1110996" y="4958334"/>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Fallback reason: invalid provider operation  (third branch)</a:t>
            </a:r>
            <a:endParaRPr lang="en-US" sz="1300" dirty="0"/>
          </a:p>
        </p:txBody>
      </p:sp>
      <p:sp>
        <p:nvSpPr>
          <p:cNvPr id="17" name="Shape 15"/>
          <p:cNvSpPr/>
          <p:nvPr/>
        </p:nvSpPr>
        <p:spPr>
          <a:xfrm>
            <a:off x="685800" y="6144768"/>
            <a:ext cx="10820095" cy="0"/>
          </a:xfrm>
          <a:prstGeom prst="line">
            <a:avLst/>
          </a:prstGeom>
          <a:noFill/>
          <a:ln w="9525">
            <a:solidFill>
              <a:srgbClr val="D3D8E0"/>
            </a:solidFill>
            <a:prstDash val="solid"/>
          </a:ln>
        </p:spPr>
      </p:sp>
      <p:sp>
        <p:nvSpPr>
          <p:cNvPr id="18" name="Text 16"/>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19" name="Text 17"/>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https://nodeslide.vercel.app</a:t>
            </a:r>
            <a:endParaRPr lang="en-US" sz="950" dirty="0"/>
          </a:p>
        </p:txBody>
      </p:sp>
      <p:sp>
        <p:nvSpPr>
          <p:cNvPr id="20" name="Text 18"/>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Inspector → AI, same run, no reload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BEAT 05 OF 09</a:t>
            </a:r>
            <a:endParaRPr lang="en-US" sz="1000" dirty="0"/>
          </a:p>
        </p:txBody>
      </p:sp>
      <p:sp>
        <p:nvSpPr>
          <p:cNvPr id="3" name="Text 1"/>
          <p:cNvSpPr/>
          <p:nvPr/>
        </p:nvSpPr>
        <p:spPr>
          <a:xfrm>
            <a:off x="7848295" y="347472"/>
            <a:ext cx="3657600" cy="274320"/>
          </a:xfrm>
          <a:prstGeom prst="rect">
            <a:avLst/>
          </a:prstGeom>
          <a:noFill/>
          <a:ln/>
        </p:spPr>
        <p:txBody>
          <a:bodyPr wrap="square" rtlCol="0" anchor="ctr"/>
          <a:lstStyle/>
          <a:p>
            <a:pPr algn="r" indent="0" marL="0">
              <a:buNone/>
            </a:pPr>
            <a:r>
              <a:rPr lang="en-US" sz="1000" spc="180" kern="0" dirty="0">
                <a:solidFill>
                  <a:srgbClr val="545C69"/>
                </a:solidFill>
                <a:latin typeface="Arial" pitchFamily="34" charset="0"/>
                <a:ea typeface="Arial" pitchFamily="34" charset="-122"/>
                <a:cs typeface="Arial" pitchFamily="34" charset="-120"/>
              </a:rPr>
              <a:t>22 SECONDS ON SCREEN</a:t>
            </a:r>
            <a:endParaRPr lang="en-US" sz="1000" dirty="0"/>
          </a:p>
        </p:txBody>
      </p:sp>
      <p:sp>
        <p:nvSpPr>
          <p:cNvPr id="4" name="Shape 2"/>
          <p:cNvSpPr/>
          <p:nvPr/>
        </p:nvSpPr>
        <p:spPr>
          <a:xfrm>
            <a:off x="685800" y="676656"/>
            <a:ext cx="10820095" cy="0"/>
          </a:xfrm>
          <a:prstGeom prst="line">
            <a:avLst/>
          </a:prstGeom>
          <a:noFill/>
          <a:ln w="9525">
            <a:solidFill>
              <a:srgbClr val="D3D8E0"/>
            </a:solidFill>
            <a:prstDash val="solid"/>
          </a:ln>
        </p:spPr>
      </p:sp>
      <p:sp>
        <p:nvSpPr>
          <p:cNvPr id="5" name="Text 3"/>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Review is a diff</a:t>
            </a:r>
            <a:endParaRPr lang="en-US" sz="3000" dirty="0"/>
          </a:p>
        </p:txBody>
      </p:sp>
      <p:sp>
        <p:nvSpPr>
          <p:cNvPr id="6" name="Text 4"/>
          <p:cNvSpPr/>
          <p:nvPr/>
        </p:nvSpPr>
        <p:spPr>
          <a:xfrm>
            <a:off x="685800" y="1444752"/>
            <a:ext cx="10820095" cy="274320"/>
          </a:xfrm>
          <a:prstGeom prst="rect">
            <a:avLst/>
          </a:prstGeom>
          <a:noFill/>
          <a:ln/>
        </p:spPr>
        <p:txBody>
          <a:bodyPr wrap="square" rtlCol="0" anchor="ctr"/>
          <a:lstStyle/>
          <a:p>
            <a:pPr indent="0" marL="0">
              <a:buNone/>
            </a:pPr>
            <a:r>
              <a:rPr lang="en-US" sz="1200" dirty="0">
                <a:solidFill>
                  <a:srgbClr val="2A4A8F"/>
                </a:solidFill>
                <a:latin typeface="Consolas" pitchFamily="34" charset="0"/>
                <a:ea typeface="Consolas" pitchFamily="34" charset="-122"/>
                <a:cs typeface="Consolas" pitchFamily="34" charset="-120"/>
              </a:rPr>
              <a:t>Canvas → Compare</a:t>
            </a:r>
            <a:endParaRPr lang="en-US" sz="1200" dirty="0"/>
          </a:p>
        </p:txBody>
      </p:sp>
      <p:sp>
        <p:nvSpPr>
          <p:cNvPr id="7" name="Text 5"/>
          <p:cNvSpPr/>
          <p:nvPr/>
        </p:nvSpPr>
        <p:spPr>
          <a:xfrm>
            <a:off x="685800" y="1828800"/>
            <a:ext cx="10454335" cy="91440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A proposal is inspected against the baseline before anything is written to the deck.</a:t>
            </a:r>
            <a:endParaRPr lang="en-US" sz="1650" dirty="0"/>
          </a:p>
        </p:txBody>
      </p:sp>
      <p:sp>
        <p:nvSpPr>
          <p:cNvPr id="8" name="Text 6"/>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9" name="Shape 7"/>
          <p:cNvSpPr/>
          <p:nvPr/>
        </p:nvSpPr>
        <p:spPr>
          <a:xfrm>
            <a:off x="685800" y="3035808"/>
            <a:ext cx="10820095" cy="2889504"/>
          </a:xfrm>
          <a:prstGeom prst="rect">
            <a:avLst/>
          </a:prstGeom>
          <a:solidFill>
            <a:srgbClr val="FFFFFF"/>
          </a:solidFill>
          <a:ln w="9525">
            <a:solidFill>
              <a:srgbClr val="D3D8E0"/>
            </a:solidFill>
            <a:prstDash val="solid"/>
          </a:ln>
        </p:spPr>
      </p:sp>
      <p:sp>
        <p:nvSpPr>
          <p:cNvPr id="10" name="Text 8"/>
          <p:cNvSpPr/>
          <p:nvPr/>
        </p:nvSpPr>
        <p:spPr>
          <a:xfrm>
            <a:off x="923544" y="3734562"/>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Click Preview on the first direction. The canvas switches to Compare.</a:t>
            </a:r>
            <a:endParaRPr lang="en-US" sz="1300" dirty="0"/>
          </a:p>
        </p:txBody>
      </p:sp>
      <p:sp>
        <p:nvSpPr>
          <p:cNvPr id="11" name="Shape 9"/>
          <p:cNvSpPr/>
          <p:nvPr/>
        </p:nvSpPr>
        <p:spPr>
          <a:xfrm>
            <a:off x="923544" y="4071366"/>
            <a:ext cx="41148" cy="181356"/>
          </a:xfrm>
          <a:prstGeom prst="rect">
            <a:avLst/>
          </a:prstGeom>
          <a:solidFill>
            <a:srgbClr val="2A4A8F"/>
          </a:solidFill>
          <a:ln w="12700">
            <a:solidFill>
              <a:srgbClr val="2A4A8F"/>
            </a:solidFill>
            <a:prstDash val="solid"/>
          </a:ln>
        </p:spPr>
      </p:sp>
      <p:sp>
        <p:nvSpPr>
          <p:cNvPr id="12" name="Text 10"/>
          <p:cNvSpPr/>
          <p:nvPr/>
        </p:nvSpPr>
        <p:spPr>
          <a:xfrm>
            <a:off x="1110996" y="4053078"/>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proposal · pending review</a:t>
            </a:r>
            <a:endParaRPr lang="en-US" sz="1300" dirty="0"/>
          </a:p>
        </p:txBody>
      </p:sp>
      <p:sp>
        <p:nvSpPr>
          <p:cNvPr id="13" name="Shape 11"/>
          <p:cNvSpPr/>
          <p:nvPr/>
        </p:nvSpPr>
        <p:spPr>
          <a:xfrm>
            <a:off x="923544" y="4389882"/>
            <a:ext cx="41148" cy="181356"/>
          </a:xfrm>
          <a:prstGeom prst="rect">
            <a:avLst/>
          </a:prstGeom>
          <a:solidFill>
            <a:srgbClr val="2A4A8F"/>
          </a:solidFill>
          <a:ln w="12700">
            <a:solidFill>
              <a:srgbClr val="2A4A8F"/>
            </a:solidFill>
            <a:prstDash val="solid"/>
          </a:ln>
        </p:spPr>
      </p:sp>
      <p:sp>
        <p:nvSpPr>
          <p:cNvPr id="14" name="Text 12"/>
          <p:cNvSpPr/>
          <p:nvPr/>
        </p:nvSpPr>
        <p:spPr>
          <a:xfrm>
            <a:off x="1110996" y="4371594"/>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Side by side  /  Slider  /  Overlay  /  Blink</a:t>
            </a:r>
            <a:endParaRPr lang="en-US" sz="1300" dirty="0"/>
          </a:p>
        </p:txBody>
      </p:sp>
      <p:sp>
        <p:nvSpPr>
          <p:cNvPr id="15" name="Shape 13"/>
          <p:cNvSpPr/>
          <p:nvPr/>
        </p:nvSpPr>
        <p:spPr>
          <a:xfrm>
            <a:off x="923544" y="4708398"/>
            <a:ext cx="41148" cy="181356"/>
          </a:xfrm>
          <a:prstGeom prst="rect">
            <a:avLst/>
          </a:prstGeom>
          <a:solidFill>
            <a:srgbClr val="2A4A8F"/>
          </a:solidFill>
          <a:ln w="12700">
            <a:solidFill>
              <a:srgbClr val="2A4A8F"/>
            </a:solidFill>
            <a:prstDash val="solid"/>
          </a:ln>
        </p:spPr>
      </p:sp>
      <p:sp>
        <p:nvSpPr>
          <p:cNvPr id="16" name="Text 14"/>
          <p:cNvSpPr/>
          <p:nvPr/>
        </p:nvSpPr>
        <p:spPr>
          <a:xfrm>
            <a:off x="1110996" y="4690110"/>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Baseline · v1        set against        Balanced · Split</a:t>
            </a:r>
            <a:endParaRPr lang="en-US" sz="1300" dirty="0"/>
          </a:p>
        </p:txBody>
      </p:sp>
      <p:sp>
        <p:nvSpPr>
          <p:cNvPr id="17" name="Shape 15"/>
          <p:cNvSpPr/>
          <p:nvPr/>
        </p:nvSpPr>
        <p:spPr>
          <a:xfrm>
            <a:off x="923544" y="5026914"/>
            <a:ext cx="41148" cy="181356"/>
          </a:xfrm>
          <a:prstGeom prst="rect">
            <a:avLst/>
          </a:prstGeom>
          <a:solidFill>
            <a:srgbClr val="2A4A8F"/>
          </a:solidFill>
          <a:ln w="12700">
            <a:solidFill>
              <a:srgbClr val="2A4A8F"/>
            </a:solidFill>
            <a:prstDash val="solid"/>
          </a:ln>
        </p:spPr>
      </p:sp>
      <p:sp>
        <p:nvSpPr>
          <p:cNvPr id="18" name="Text 16"/>
          <p:cNvSpPr/>
          <p:nvPr/>
        </p:nvSpPr>
        <p:spPr>
          <a:xfrm>
            <a:off x="1110996" y="500862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update style · element_3cdee971…     update style · element_1230c5ac…</a:t>
            </a:r>
            <a:endParaRPr lang="en-US" sz="1300" dirty="0"/>
          </a:p>
        </p:txBody>
      </p:sp>
      <p:sp>
        <p:nvSpPr>
          <p:cNvPr id="19" name="Shape 17"/>
          <p:cNvSpPr/>
          <p:nvPr/>
        </p:nvSpPr>
        <p:spPr>
          <a:xfrm>
            <a:off x="685800" y="6144768"/>
            <a:ext cx="10820095" cy="0"/>
          </a:xfrm>
          <a:prstGeom prst="line">
            <a:avLst/>
          </a:prstGeom>
          <a:noFill/>
          <a:ln w="9525">
            <a:solidFill>
              <a:srgbClr val="D3D8E0"/>
            </a:solidFill>
            <a:prstDash val="solid"/>
          </a:ln>
        </p:spPr>
      </p:sp>
      <p:sp>
        <p:nvSpPr>
          <p:cNvPr id="20" name="Text 18"/>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21" name="Text 19"/>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https://nodeslide.vercel.app</a:t>
            </a:r>
            <a:endParaRPr lang="en-US" sz="950" dirty="0"/>
          </a:p>
        </p:txBody>
      </p:sp>
      <p:sp>
        <p:nvSpPr>
          <p:cNvPr id="22" name="Text 20"/>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Canvas → Compare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BEAT 06 OF 09</a:t>
            </a:r>
            <a:endParaRPr lang="en-US" sz="1000" dirty="0"/>
          </a:p>
        </p:txBody>
      </p:sp>
      <p:sp>
        <p:nvSpPr>
          <p:cNvPr id="3" name="Text 1"/>
          <p:cNvSpPr/>
          <p:nvPr/>
        </p:nvSpPr>
        <p:spPr>
          <a:xfrm>
            <a:off x="7848295" y="347472"/>
            <a:ext cx="3657600" cy="274320"/>
          </a:xfrm>
          <a:prstGeom prst="rect">
            <a:avLst/>
          </a:prstGeom>
          <a:noFill/>
          <a:ln/>
        </p:spPr>
        <p:txBody>
          <a:bodyPr wrap="square" rtlCol="0" anchor="ctr"/>
          <a:lstStyle/>
          <a:p>
            <a:pPr algn="r" indent="0" marL="0">
              <a:buNone/>
            </a:pPr>
            <a:r>
              <a:rPr lang="en-US" sz="1000" spc="180" kern="0" dirty="0">
                <a:solidFill>
                  <a:srgbClr val="545C69"/>
                </a:solidFill>
                <a:latin typeface="Arial" pitchFamily="34" charset="0"/>
                <a:ea typeface="Arial" pitchFamily="34" charset="-122"/>
                <a:cs typeface="Arial" pitchFamily="34" charset="-120"/>
              </a:rPr>
              <a:t>20 SECONDS ON SCREEN</a:t>
            </a:r>
            <a:endParaRPr lang="en-US" sz="1000" dirty="0"/>
          </a:p>
        </p:txBody>
      </p:sp>
      <p:sp>
        <p:nvSpPr>
          <p:cNvPr id="4" name="Shape 2"/>
          <p:cNvSpPr/>
          <p:nvPr/>
        </p:nvSpPr>
        <p:spPr>
          <a:xfrm>
            <a:off x="685800" y="676656"/>
            <a:ext cx="10820095" cy="0"/>
          </a:xfrm>
          <a:prstGeom prst="line">
            <a:avLst/>
          </a:prstGeom>
          <a:noFill/>
          <a:ln w="9525">
            <a:solidFill>
              <a:srgbClr val="D3D8E0"/>
            </a:solidFill>
            <a:prstDash val="solid"/>
          </a:ln>
        </p:spPr>
      </p:sp>
      <p:sp>
        <p:nvSpPr>
          <p:cNvPr id="5" name="Text 3"/>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Accept writes a version that restores</a:t>
            </a:r>
            <a:endParaRPr lang="en-US" sz="3000" dirty="0"/>
          </a:p>
        </p:txBody>
      </p:sp>
      <p:sp>
        <p:nvSpPr>
          <p:cNvPr id="6" name="Text 4"/>
          <p:cNvSpPr/>
          <p:nvPr/>
        </p:nvSpPr>
        <p:spPr>
          <a:xfrm>
            <a:off x="685800" y="1444752"/>
            <a:ext cx="10820095" cy="274320"/>
          </a:xfrm>
          <a:prstGeom prst="rect">
            <a:avLst/>
          </a:prstGeom>
          <a:noFill/>
          <a:ln/>
        </p:spPr>
        <p:txBody>
          <a:bodyPr wrap="square" rtlCol="0" anchor="ctr"/>
          <a:lstStyle/>
          <a:p>
            <a:pPr indent="0" marL="0">
              <a:buNone/>
            </a:pPr>
            <a:r>
              <a:rPr lang="en-US" sz="1200" dirty="0">
                <a:solidFill>
                  <a:srgbClr val="2A4A8F"/>
                </a:solidFill>
                <a:latin typeface="Consolas" pitchFamily="34" charset="0"/>
                <a:ea typeface="Consolas" pitchFamily="34" charset="-122"/>
                <a:cs typeface="Consolas" pitchFamily="34" charset="-120"/>
              </a:rPr>
              <a:t>Accept → Inspector → Versions</a:t>
            </a:r>
            <a:endParaRPr lang="en-US" sz="1200" dirty="0"/>
          </a:p>
        </p:txBody>
      </p:sp>
      <p:sp>
        <p:nvSpPr>
          <p:cNvPr id="7" name="Text 5"/>
          <p:cNvSpPr/>
          <p:nvPr/>
        </p:nvSpPr>
        <p:spPr>
          <a:xfrm>
            <a:off x="685800" y="1828800"/>
            <a:ext cx="10454335" cy="91440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Acceptance is a recorded version with the agent named as its author, and the prior state stays reachable.</a:t>
            </a:r>
            <a:endParaRPr lang="en-US" sz="1650" dirty="0"/>
          </a:p>
        </p:txBody>
      </p:sp>
      <p:sp>
        <p:nvSpPr>
          <p:cNvPr id="8" name="Text 6"/>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9" name="Shape 7"/>
          <p:cNvSpPr/>
          <p:nvPr/>
        </p:nvSpPr>
        <p:spPr>
          <a:xfrm>
            <a:off x="685800" y="3035808"/>
            <a:ext cx="10820095" cy="2889504"/>
          </a:xfrm>
          <a:prstGeom prst="rect">
            <a:avLst/>
          </a:prstGeom>
          <a:solidFill>
            <a:srgbClr val="FFFFFF"/>
          </a:solidFill>
          <a:ln w="9525">
            <a:solidFill>
              <a:srgbClr val="D3D8E0"/>
            </a:solidFill>
            <a:prstDash val="solid"/>
          </a:ln>
        </p:spPr>
      </p:sp>
      <p:sp>
        <p:nvSpPr>
          <p:cNvPr id="10" name="Text 8"/>
          <p:cNvSpPr/>
          <p:nvPr/>
        </p:nvSpPr>
        <p:spPr>
          <a:xfrm>
            <a:off x="923544" y="3893820"/>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Click Accept. The deck clock moves v1 → v2.</a:t>
            </a:r>
            <a:endParaRPr lang="en-US" sz="1300" dirty="0"/>
          </a:p>
        </p:txBody>
      </p:sp>
      <p:sp>
        <p:nvSpPr>
          <p:cNvPr id="11" name="Shape 9"/>
          <p:cNvSpPr/>
          <p:nvPr/>
        </p:nvSpPr>
        <p:spPr>
          <a:xfrm>
            <a:off x="923544" y="4230624"/>
            <a:ext cx="41148" cy="181356"/>
          </a:xfrm>
          <a:prstGeom prst="rect">
            <a:avLst/>
          </a:prstGeom>
          <a:solidFill>
            <a:srgbClr val="2A4A8F"/>
          </a:solidFill>
          <a:ln w="12700">
            <a:solidFill>
              <a:srgbClr val="2A4A8F"/>
            </a:solidFill>
            <a:prstDash val="solid"/>
          </a:ln>
        </p:spPr>
      </p:sp>
      <p:sp>
        <p:nvSpPr>
          <p:cNvPr id="12" name="Text 10"/>
          <p:cNvSpPr/>
          <p:nvPr/>
        </p:nvSpPr>
        <p:spPr>
          <a:xfrm>
            <a:off x="1110996" y="421233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Variation balanced/detail/split: Restyle element_…        v2 · Agent</a:t>
            </a:r>
            <a:endParaRPr lang="en-US" sz="1300" dirty="0"/>
          </a:p>
        </p:txBody>
      </p:sp>
      <p:sp>
        <p:nvSpPr>
          <p:cNvPr id="13" name="Shape 11"/>
          <p:cNvSpPr/>
          <p:nvPr/>
        </p:nvSpPr>
        <p:spPr>
          <a:xfrm>
            <a:off x="923544" y="4549140"/>
            <a:ext cx="41148" cy="181356"/>
          </a:xfrm>
          <a:prstGeom prst="rect">
            <a:avLst/>
          </a:prstGeom>
          <a:solidFill>
            <a:srgbClr val="2A4A8F"/>
          </a:solidFill>
          <a:ln w="12700">
            <a:solidFill>
              <a:srgbClr val="2A4A8F"/>
            </a:solidFill>
            <a:prstDash val="solid"/>
          </a:ln>
        </p:spPr>
      </p:sp>
      <p:sp>
        <p:nvSpPr>
          <p:cNvPr id="14" name="Text 12"/>
          <p:cNvSpPr/>
          <p:nvPr/>
        </p:nvSpPr>
        <p:spPr>
          <a:xfrm>
            <a:off x="1110996" y="4530852"/>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Initial deck                                             v1 · System</a:t>
            </a:r>
            <a:endParaRPr lang="en-US" sz="1300" dirty="0"/>
          </a:p>
        </p:txBody>
      </p:sp>
      <p:sp>
        <p:nvSpPr>
          <p:cNvPr id="15" name="Text 13"/>
          <p:cNvSpPr/>
          <p:nvPr/>
        </p:nvSpPr>
        <p:spPr>
          <a:xfrm>
            <a:off x="923544" y="4849368"/>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Each row offers Compare and Restore.</a:t>
            </a:r>
            <a:endParaRPr lang="en-US" sz="1300" dirty="0"/>
          </a:p>
        </p:txBody>
      </p:sp>
      <p:sp>
        <p:nvSpPr>
          <p:cNvPr id="16" name="Shape 14"/>
          <p:cNvSpPr/>
          <p:nvPr/>
        </p:nvSpPr>
        <p:spPr>
          <a:xfrm>
            <a:off x="685800" y="6144768"/>
            <a:ext cx="10820095" cy="0"/>
          </a:xfrm>
          <a:prstGeom prst="line">
            <a:avLst/>
          </a:prstGeom>
          <a:noFill/>
          <a:ln w="9525">
            <a:solidFill>
              <a:srgbClr val="D3D8E0"/>
            </a:solidFill>
            <a:prstDash val="solid"/>
          </a:ln>
        </p:spPr>
      </p:sp>
      <p:sp>
        <p:nvSpPr>
          <p:cNvPr id="17" name="Text 15"/>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18" name="Text 16"/>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github.com/HomenShum/NodeSlide/blob/main/convex/nodeslide.ts</a:t>
            </a:r>
            <a:endParaRPr lang="en-US" sz="950" dirty="0"/>
          </a:p>
        </p:txBody>
      </p:sp>
      <p:sp>
        <p:nvSpPr>
          <p:cNvPr id="19" name="Text 17"/>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Accept → Inspector → Versions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BEAT 07 OF 09</a:t>
            </a:r>
            <a:endParaRPr lang="en-US" sz="1000" dirty="0"/>
          </a:p>
        </p:txBody>
      </p:sp>
      <p:sp>
        <p:nvSpPr>
          <p:cNvPr id="3" name="Text 1"/>
          <p:cNvSpPr/>
          <p:nvPr/>
        </p:nvSpPr>
        <p:spPr>
          <a:xfrm>
            <a:off x="7848295" y="347472"/>
            <a:ext cx="3657600" cy="274320"/>
          </a:xfrm>
          <a:prstGeom prst="rect">
            <a:avLst/>
          </a:prstGeom>
          <a:noFill/>
          <a:ln/>
        </p:spPr>
        <p:txBody>
          <a:bodyPr wrap="square" rtlCol="0" anchor="ctr"/>
          <a:lstStyle/>
          <a:p>
            <a:pPr algn="r" indent="0" marL="0">
              <a:buNone/>
            </a:pPr>
            <a:r>
              <a:rPr lang="en-US" sz="1000" spc="180" kern="0" dirty="0">
                <a:solidFill>
                  <a:srgbClr val="545C69"/>
                </a:solidFill>
                <a:latin typeface="Arial" pitchFamily="34" charset="0"/>
                <a:ea typeface="Arial" pitchFamily="34" charset="-122"/>
                <a:cs typeface="Arial" pitchFamily="34" charset="-120"/>
              </a:rPr>
              <a:t>25 SECONDS ON SCREEN</a:t>
            </a:r>
            <a:endParaRPr lang="en-US" sz="1000" dirty="0"/>
          </a:p>
        </p:txBody>
      </p:sp>
      <p:sp>
        <p:nvSpPr>
          <p:cNvPr id="4" name="Shape 2"/>
          <p:cNvSpPr/>
          <p:nvPr/>
        </p:nvSpPr>
        <p:spPr>
          <a:xfrm>
            <a:off x="685800" y="676656"/>
            <a:ext cx="10820095" cy="0"/>
          </a:xfrm>
          <a:prstGeom prst="line">
            <a:avLst/>
          </a:prstGeom>
          <a:noFill/>
          <a:ln w="9525">
            <a:solidFill>
              <a:srgbClr val="D3D8E0"/>
            </a:solidFill>
            <a:prstDash val="solid"/>
          </a:ln>
        </p:spPr>
      </p:sp>
      <p:sp>
        <p:nvSpPr>
          <p:cNvPr id="5" name="Text 3"/>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Sources bind to elements, and the limit is printed</a:t>
            </a:r>
            <a:endParaRPr lang="en-US" sz="3000" dirty="0"/>
          </a:p>
        </p:txBody>
      </p:sp>
      <p:sp>
        <p:nvSpPr>
          <p:cNvPr id="6" name="Text 4"/>
          <p:cNvSpPr/>
          <p:nvPr/>
        </p:nvSpPr>
        <p:spPr>
          <a:xfrm>
            <a:off x="685800" y="1444752"/>
            <a:ext cx="10820095" cy="274320"/>
          </a:xfrm>
          <a:prstGeom prst="rect">
            <a:avLst/>
          </a:prstGeom>
          <a:noFill/>
          <a:ln/>
        </p:spPr>
        <p:txBody>
          <a:bodyPr wrap="square" rtlCol="0" anchor="ctr"/>
          <a:lstStyle/>
          <a:p>
            <a:pPr indent="0" marL="0">
              <a:buNone/>
            </a:pPr>
            <a:r>
              <a:rPr lang="en-US" sz="1200" dirty="0">
                <a:solidFill>
                  <a:srgbClr val="2A4A8F"/>
                </a:solidFill>
                <a:latin typeface="Consolas" pitchFamily="34" charset="0"/>
                <a:ea typeface="Consolas" pitchFamily="34" charset="-122"/>
                <a:cs typeface="Consolas" pitchFamily="34" charset="-120"/>
              </a:rPr>
              <a:t>Inspector → Evidence</a:t>
            </a:r>
            <a:endParaRPr lang="en-US" sz="1200" dirty="0"/>
          </a:p>
        </p:txBody>
      </p:sp>
      <p:sp>
        <p:nvSpPr>
          <p:cNvPr id="7" name="Text 5"/>
          <p:cNvSpPr/>
          <p:nvPr/>
        </p:nvSpPr>
        <p:spPr>
          <a:xfrm>
            <a:off x="685800" y="1828800"/>
            <a:ext cx="10454335" cy="91440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Citations attach to named elements rather than to a slide as a whole, and the product states in its own UI what it does not check.</a:t>
            </a:r>
            <a:endParaRPr lang="en-US" sz="1650" dirty="0"/>
          </a:p>
        </p:txBody>
      </p:sp>
      <p:sp>
        <p:nvSpPr>
          <p:cNvPr id="8" name="Text 6"/>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9" name="Shape 7"/>
          <p:cNvSpPr/>
          <p:nvPr/>
        </p:nvSpPr>
        <p:spPr>
          <a:xfrm>
            <a:off x="685800" y="3035808"/>
            <a:ext cx="10820095" cy="2889504"/>
          </a:xfrm>
          <a:prstGeom prst="rect">
            <a:avLst/>
          </a:prstGeom>
          <a:solidFill>
            <a:srgbClr val="FFFFFF"/>
          </a:solidFill>
          <a:ln w="9525">
            <a:solidFill>
              <a:srgbClr val="D3D8E0"/>
            </a:solidFill>
            <a:prstDash val="solid"/>
          </a:ln>
        </p:spPr>
      </p:sp>
      <p:sp>
        <p:nvSpPr>
          <p:cNvPr id="10" name="Shape 8"/>
          <p:cNvSpPr/>
          <p:nvPr/>
        </p:nvSpPr>
        <p:spPr>
          <a:xfrm>
            <a:off x="923544" y="3434334"/>
            <a:ext cx="41148" cy="181356"/>
          </a:xfrm>
          <a:prstGeom prst="rect">
            <a:avLst/>
          </a:prstGeom>
          <a:solidFill>
            <a:srgbClr val="2A4A8F"/>
          </a:solidFill>
          <a:ln w="12700">
            <a:solidFill>
              <a:srgbClr val="2A4A8F"/>
            </a:solidFill>
            <a:prstDash val="solid"/>
          </a:ln>
        </p:spPr>
      </p:sp>
      <p:sp>
        <p:nvSpPr>
          <p:cNvPr id="11" name="Text 9"/>
          <p:cNvSpPr/>
          <p:nvPr/>
        </p:nvSpPr>
        <p:spPr>
          <a:xfrm>
            <a:off x="1110996" y="341604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EVIDENCE LAYER / Data &amp; sources</a:t>
            </a:r>
            <a:endParaRPr lang="en-US" sz="1300" dirty="0"/>
          </a:p>
        </p:txBody>
      </p:sp>
      <p:sp>
        <p:nvSpPr>
          <p:cNvPr id="12" name="Shape 10"/>
          <p:cNvSpPr/>
          <p:nvPr/>
        </p:nvSpPr>
        <p:spPr>
          <a:xfrm>
            <a:off x="923544" y="3752850"/>
            <a:ext cx="41148" cy="181356"/>
          </a:xfrm>
          <a:prstGeom prst="rect">
            <a:avLst/>
          </a:prstGeom>
          <a:solidFill>
            <a:srgbClr val="2A4A8F"/>
          </a:solidFill>
          <a:ln w="12700">
            <a:solidFill>
              <a:srgbClr val="2A4A8F"/>
            </a:solidFill>
            <a:prstDash val="solid"/>
          </a:ln>
        </p:spPr>
      </p:sp>
      <p:sp>
        <p:nvSpPr>
          <p:cNvPr id="13" name="Text 11"/>
          <p:cNvSpPr/>
          <p:nvPr/>
        </p:nvSpPr>
        <p:spPr>
          <a:xfrm>
            <a:off x="1110996" y="3734562"/>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NodeSlide checks attachment and disclosure; it does not independently verify facts</a:t>
            </a:r>
            <a:endParaRPr lang="en-US" sz="1300" dirty="0"/>
          </a:p>
        </p:txBody>
      </p:sp>
      <p:sp>
        <p:nvSpPr>
          <p:cNvPr id="14" name="Text 12"/>
          <p:cNvSpPr/>
          <p:nvPr/>
        </p:nvSpPr>
        <p:spPr>
          <a:xfrm>
            <a:off x="923544" y="4053078"/>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Expand the first source record.</a:t>
            </a:r>
            <a:endParaRPr lang="en-US" sz="1300" dirty="0"/>
          </a:p>
        </p:txBody>
      </p:sp>
      <p:sp>
        <p:nvSpPr>
          <p:cNvPr id="15" name="Shape 13"/>
          <p:cNvSpPr/>
          <p:nvPr/>
        </p:nvSpPr>
        <p:spPr>
          <a:xfrm>
            <a:off x="923544" y="4389882"/>
            <a:ext cx="41148" cy="181356"/>
          </a:xfrm>
          <a:prstGeom prst="rect">
            <a:avLst/>
          </a:prstGeom>
          <a:solidFill>
            <a:srgbClr val="2A4A8F"/>
          </a:solidFill>
          <a:ln w="12700">
            <a:solidFill>
              <a:srgbClr val="2A4A8F"/>
            </a:solidFill>
            <a:prstDash val="solid"/>
          </a:ln>
        </p:spPr>
      </p:sp>
      <p:sp>
        <p:nvSpPr>
          <p:cNvPr id="16" name="Text 14"/>
          <p:cNvSpPr/>
          <p:nvPr/>
        </p:nvSpPr>
        <p:spPr>
          <a:xfrm>
            <a:off x="1110996" y="4371594"/>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Cited by 8 elements</a:t>
            </a:r>
            <a:endParaRPr lang="en-US" sz="1300" dirty="0"/>
          </a:p>
        </p:txBody>
      </p:sp>
      <p:sp>
        <p:nvSpPr>
          <p:cNvPr id="17" name="Shape 15"/>
          <p:cNvSpPr/>
          <p:nvPr/>
        </p:nvSpPr>
        <p:spPr>
          <a:xfrm>
            <a:off x="923544" y="4708398"/>
            <a:ext cx="41148" cy="181356"/>
          </a:xfrm>
          <a:prstGeom prst="rect">
            <a:avLst/>
          </a:prstGeom>
          <a:solidFill>
            <a:srgbClr val="2A4A8F"/>
          </a:solidFill>
          <a:ln w="12700">
            <a:solidFill>
              <a:srgbClr val="2A4A8F"/>
            </a:solidFill>
            <a:prstDash val="solid"/>
          </a:ln>
        </p:spPr>
      </p:sp>
      <p:sp>
        <p:nvSpPr>
          <p:cNvPr id="18" name="Text 16"/>
          <p:cNvSpPr/>
          <p:nvPr/>
        </p:nvSpPr>
        <p:spPr>
          <a:xfrm>
            <a:off x="1110996" y="4690110"/>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Primary metric · The handoff tax compounds</a:t>
            </a:r>
            <a:endParaRPr lang="en-US" sz="1300" dirty="0"/>
          </a:p>
        </p:txBody>
      </p:sp>
      <p:sp>
        <p:nvSpPr>
          <p:cNvPr id="19" name="Shape 17"/>
          <p:cNvSpPr/>
          <p:nvPr/>
        </p:nvSpPr>
        <p:spPr>
          <a:xfrm>
            <a:off x="923544" y="5026914"/>
            <a:ext cx="41148" cy="181356"/>
          </a:xfrm>
          <a:prstGeom prst="rect">
            <a:avLst/>
          </a:prstGeom>
          <a:solidFill>
            <a:srgbClr val="2A4A8F"/>
          </a:solidFill>
          <a:ln w="12700">
            <a:solidFill>
              <a:srgbClr val="2A4A8F"/>
            </a:solidFill>
            <a:prstDash val="solid"/>
          </a:ln>
        </p:spPr>
      </p:sp>
      <p:sp>
        <p:nvSpPr>
          <p:cNvPr id="20" name="Text 18"/>
          <p:cNvSpPr/>
          <p:nvPr/>
        </p:nvSpPr>
        <p:spPr>
          <a:xfrm>
            <a:off x="1110996" y="500862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Editable formula · One intent three guarded passes</a:t>
            </a:r>
            <a:endParaRPr lang="en-US" sz="1300" dirty="0"/>
          </a:p>
        </p:txBody>
      </p:sp>
      <p:sp>
        <p:nvSpPr>
          <p:cNvPr id="21" name="Shape 19"/>
          <p:cNvSpPr/>
          <p:nvPr/>
        </p:nvSpPr>
        <p:spPr>
          <a:xfrm>
            <a:off x="923544" y="5345430"/>
            <a:ext cx="41148" cy="181356"/>
          </a:xfrm>
          <a:prstGeom prst="rect">
            <a:avLst/>
          </a:prstGeom>
          <a:solidFill>
            <a:srgbClr val="2A4A8F"/>
          </a:solidFill>
          <a:ln w="12700">
            <a:solidFill>
              <a:srgbClr val="2A4A8F"/>
            </a:solidFill>
            <a:prstDash val="solid"/>
          </a:ln>
        </p:spPr>
      </p:sp>
      <p:sp>
        <p:nvSpPr>
          <p:cNvPr id="22" name="Text 20"/>
          <p:cNvSpPr/>
          <p:nvPr/>
        </p:nvSpPr>
        <p:spPr>
          <a:xfrm>
            <a:off x="1110996" y="5327142"/>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Evidence chart · Quality is measurable</a:t>
            </a:r>
            <a:endParaRPr lang="en-US" sz="1300" dirty="0"/>
          </a:p>
        </p:txBody>
      </p:sp>
      <p:sp>
        <p:nvSpPr>
          <p:cNvPr id="23" name="Shape 21"/>
          <p:cNvSpPr/>
          <p:nvPr/>
        </p:nvSpPr>
        <p:spPr>
          <a:xfrm>
            <a:off x="685800" y="6144768"/>
            <a:ext cx="10820095" cy="0"/>
          </a:xfrm>
          <a:prstGeom prst="line">
            <a:avLst/>
          </a:prstGeom>
          <a:noFill/>
          <a:ln w="9525">
            <a:solidFill>
              <a:srgbClr val="D3D8E0"/>
            </a:solidFill>
            <a:prstDash val="solid"/>
          </a:ln>
        </p:spPr>
      </p:sp>
      <p:sp>
        <p:nvSpPr>
          <p:cNvPr id="24" name="Text 22"/>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25" name="Text 23"/>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https://nodeslide.vercel.app</a:t>
            </a:r>
            <a:endParaRPr lang="en-US" sz="950" dirty="0"/>
          </a:p>
        </p:txBody>
      </p:sp>
      <p:sp>
        <p:nvSpPr>
          <p:cNvPr id="26" name="Text 24"/>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Inspector → Evidence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BEAT 08 OF 09</a:t>
            </a:r>
            <a:endParaRPr lang="en-US" sz="1000" dirty="0"/>
          </a:p>
        </p:txBody>
      </p:sp>
      <p:sp>
        <p:nvSpPr>
          <p:cNvPr id="3" name="Text 1"/>
          <p:cNvSpPr/>
          <p:nvPr/>
        </p:nvSpPr>
        <p:spPr>
          <a:xfrm>
            <a:off x="7848295" y="347472"/>
            <a:ext cx="3657600" cy="274320"/>
          </a:xfrm>
          <a:prstGeom prst="rect">
            <a:avLst/>
          </a:prstGeom>
          <a:noFill/>
          <a:ln/>
        </p:spPr>
        <p:txBody>
          <a:bodyPr wrap="square" rtlCol="0" anchor="ctr"/>
          <a:lstStyle/>
          <a:p>
            <a:pPr algn="r" indent="0" marL="0">
              <a:buNone/>
            </a:pPr>
            <a:r>
              <a:rPr lang="en-US" sz="1000" spc="180" kern="0" dirty="0">
                <a:solidFill>
                  <a:srgbClr val="545C69"/>
                </a:solidFill>
                <a:latin typeface="Arial" pitchFamily="34" charset="0"/>
                <a:ea typeface="Arial" pitchFamily="34" charset="-122"/>
                <a:cs typeface="Arial" pitchFamily="34" charset="-120"/>
              </a:rPr>
              <a:t>20 SECONDS ON SCREEN</a:t>
            </a:r>
            <a:endParaRPr lang="en-US" sz="1000" dirty="0"/>
          </a:p>
        </p:txBody>
      </p:sp>
      <p:sp>
        <p:nvSpPr>
          <p:cNvPr id="4" name="Shape 2"/>
          <p:cNvSpPr/>
          <p:nvPr/>
        </p:nvSpPr>
        <p:spPr>
          <a:xfrm>
            <a:off x="685800" y="676656"/>
            <a:ext cx="10820095" cy="0"/>
          </a:xfrm>
          <a:prstGeom prst="line">
            <a:avLst/>
          </a:prstGeom>
          <a:noFill/>
          <a:ln w="9525">
            <a:solidFill>
              <a:srgbClr val="D3D8E0"/>
            </a:solidFill>
            <a:prstDash val="solid"/>
          </a:ln>
        </p:spPr>
      </p:sp>
      <p:sp>
        <p:nvSpPr>
          <p:cNvPr id="5" name="Text 3"/>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The trace refuses to invent telemetry</a:t>
            </a:r>
            <a:endParaRPr lang="en-US" sz="3000" dirty="0"/>
          </a:p>
        </p:txBody>
      </p:sp>
      <p:sp>
        <p:nvSpPr>
          <p:cNvPr id="6" name="Text 4"/>
          <p:cNvSpPr/>
          <p:nvPr/>
        </p:nvSpPr>
        <p:spPr>
          <a:xfrm>
            <a:off x="685800" y="1444752"/>
            <a:ext cx="10820095" cy="274320"/>
          </a:xfrm>
          <a:prstGeom prst="rect">
            <a:avLst/>
          </a:prstGeom>
          <a:noFill/>
          <a:ln/>
        </p:spPr>
        <p:txBody>
          <a:bodyPr wrap="square" rtlCol="0" anchor="ctr"/>
          <a:lstStyle/>
          <a:p>
            <a:pPr indent="0" marL="0">
              <a:buNone/>
            </a:pPr>
            <a:r>
              <a:rPr lang="en-US" sz="1200" dirty="0">
                <a:solidFill>
                  <a:srgbClr val="2A4A8F"/>
                </a:solidFill>
                <a:latin typeface="Consolas" pitchFamily="34" charset="0"/>
                <a:ea typeface="Consolas" pitchFamily="34" charset="-122"/>
                <a:cs typeface="Consolas" pitchFamily="34" charset="-120"/>
              </a:rPr>
              <a:t>Inspector → Trace</a:t>
            </a:r>
            <a:endParaRPr lang="en-US" sz="1200" dirty="0"/>
          </a:p>
        </p:txBody>
      </p:sp>
      <p:sp>
        <p:nvSpPr>
          <p:cNvPr id="7" name="Text 5"/>
          <p:cNvSpPr/>
          <p:nvPr/>
        </p:nvSpPr>
        <p:spPr>
          <a:xfrm>
            <a:off x="685800" y="1828800"/>
            <a:ext cx="10454335" cy="91440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Run receipts report only what was observed, and they report absence as absence.</a:t>
            </a:r>
            <a:endParaRPr lang="en-US" sz="1650" dirty="0"/>
          </a:p>
        </p:txBody>
      </p:sp>
      <p:sp>
        <p:nvSpPr>
          <p:cNvPr id="8" name="Text 6"/>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9" name="Shape 7"/>
          <p:cNvSpPr/>
          <p:nvPr/>
        </p:nvSpPr>
        <p:spPr>
          <a:xfrm>
            <a:off x="685800" y="3035808"/>
            <a:ext cx="10820095" cy="2889504"/>
          </a:xfrm>
          <a:prstGeom prst="rect">
            <a:avLst/>
          </a:prstGeom>
          <a:solidFill>
            <a:srgbClr val="FFFFFF"/>
          </a:solidFill>
          <a:ln w="9525">
            <a:solidFill>
              <a:srgbClr val="D3D8E0"/>
            </a:solidFill>
            <a:prstDash val="solid"/>
          </a:ln>
        </p:spPr>
      </p:sp>
      <p:sp>
        <p:nvSpPr>
          <p:cNvPr id="10" name="Shape 8"/>
          <p:cNvSpPr/>
          <p:nvPr/>
        </p:nvSpPr>
        <p:spPr>
          <a:xfrm>
            <a:off x="923544" y="3752850"/>
            <a:ext cx="41148" cy="181356"/>
          </a:xfrm>
          <a:prstGeom prst="rect">
            <a:avLst/>
          </a:prstGeom>
          <a:solidFill>
            <a:srgbClr val="2A4A8F"/>
          </a:solidFill>
          <a:ln w="12700">
            <a:solidFill>
              <a:srgbClr val="2A4A8F"/>
            </a:solidFill>
            <a:prstDash val="solid"/>
          </a:ln>
        </p:spPr>
      </p:sp>
      <p:sp>
        <p:nvSpPr>
          <p:cNvPr id="11" name="Text 9"/>
          <p:cNvSpPr/>
          <p:nvPr/>
        </p:nvSpPr>
        <p:spPr>
          <a:xfrm>
            <a:off x="1110996" y="3734562"/>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COST — not recorded</a:t>
            </a:r>
            <a:endParaRPr lang="en-US" sz="1300" dirty="0"/>
          </a:p>
        </p:txBody>
      </p:sp>
      <p:sp>
        <p:nvSpPr>
          <p:cNvPr id="12" name="Shape 10"/>
          <p:cNvSpPr/>
          <p:nvPr/>
        </p:nvSpPr>
        <p:spPr>
          <a:xfrm>
            <a:off x="923544" y="4071366"/>
            <a:ext cx="41148" cy="181356"/>
          </a:xfrm>
          <a:prstGeom prst="rect">
            <a:avLst/>
          </a:prstGeom>
          <a:solidFill>
            <a:srgbClr val="2A4A8F"/>
          </a:solidFill>
          <a:ln w="12700">
            <a:solidFill>
              <a:srgbClr val="2A4A8F"/>
            </a:solidFill>
            <a:prstDash val="solid"/>
          </a:ln>
        </p:spPr>
      </p:sp>
      <p:sp>
        <p:nvSpPr>
          <p:cNvPr id="13" name="Text 11"/>
          <p:cNvSpPr/>
          <p:nvPr/>
        </p:nvSpPr>
        <p:spPr>
          <a:xfrm>
            <a:off x="1110996" y="4053078"/>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No external provider billing was recorded for this fallback</a:t>
            </a:r>
            <a:endParaRPr lang="en-US" sz="1300" dirty="0"/>
          </a:p>
        </p:txBody>
      </p:sp>
      <p:sp>
        <p:nvSpPr>
          <p:cNvPr id="14" name="Shape 12"/>
          <p:cNvSpPr/>
          <p:nvPr/>
        </p:nvSpPr>
        <p:spPr>
          <a:xfrm>
            <a:off x="923544" y="4389882"/>
            <a:ext cx="41148" cy="181356"/>
          </a:xfrm>
          <a:prstGeom prst="rect">
            <a:avLst/>
          </a:prstGeom>
          <a:solidFill>
            <a:srgbClr val="2A4A8F"/>
          </a:solidFill>
          <a:ln w="12700">
            <a:solidFill>
              <a:srgbClr val="2A4A8F"/>
            </a:solidFill>
            <a:prstDash val="solid"/>
          </a:ln>
        </p:spPr>
      </p:sp>
      <p:sp>
        <p:nvSpPr>
          <p:cNvPr id="15" name="Text 13"/>
          <p:cNvSpPr/>
          <p:nvPr/>
        </p:nvSpPr>
        <p:spPr>
          <a:xfrm>
            <a:off x="1110996" y="4371594"/>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Structured timeline unavailable — Legacy runs keep their custody receipt but do not invent span timing</a:t>
            </a:r>
            <a:endParaRPr lang="en-US" sz="1300" dirty="0"/>
          </a:p>
        </p:txBody>
      </p:sp>
      <p:sp>
        <p:nvSpPr>
          <p:cNvPr id="16" name="Shape 14"/>
          <p:cNvSpPr/>
          <p:nvPr/>
        </p:nvSpPr>
        <p:spPr>
          <a:xfrm>
            <a:off x="923544" y="4708398"/>
            <a:ext cx="41148" cy="181356"/>
          </a:xfrm>
          <a:prstGeom prst="rect">
            <a:avLst/>
          </a:prstGeom>
          <a:solidFill>
            <a:srgbClr val="2A4A8F"/>
          </a:solidFill>
          <a:ln w="12700">
            <a:solidFill>
              <a:srgbClr val="2A4A8F"/>
            </a:solidFill>
            <a:prstDash val="solid"/>
          </a:ln>
        </p:spPr>
      </p:sp>
      <p:sp>
        <p:nvSpPr>
          <p:cNvPr id="17" name="Text 15"/>
          <p:cNvSpPr/>
          <p:nvPr/>
        </p:nvSpPr>
        <p:spPr>
          <a:xfrm>
            <a:off x="1110996" y="4690110"/>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context: — unsealed · attribution route degraded</a:t>
            </a:r>
            <a:endParaRPr lang="en-US" sz="1300" dirty="0"/>
          </a:p>
        </p:txBody>
      </p:sp>
      <p:sp>
        <p:nvSpPr>
          <p:cNvPr id="18" name="Shape 16"/>
          <p:cNvSpPr/>
          <p:nvPr/>
        </p:nvSpPr>
        <p:spPr>
          <a:xfrm>
            <a:off x="923544" y="5026914"/>
            <a:ext cx="41148" cy="181356"/>
          </a:xfrm>
          <a:prstGeom prst="rect">
            <a:avLst/>
          </a:prstGeom>
          <a:solidFill>
            <a:srgbClr val="2A4A8F"/>
          </a:solidFill>
          <a:ln w="12700">
            <a:solidFill>
              <a:srgbClr val="2A4A8F"/>
            </a:solidFill>
            <a:prstDash val="solid"/>
          </a:ln>
        </p:spPr>
      </p:sp>
      <p:sp>
        <p:nvSpPr>
          <p:cNvPr id="19" name="Text 17"/>
          <p:cNvSpPr/>
          <p:nvPr/>
        </p:nvSpPr>
        <p:spPr>
          <a:xfrm>
            <a:off x="1110996" y="500862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Provisional seal — machine only, not signable</a:t>
            </a:r>
            <a:endParaRPr lang="en-US" sz="1300" dirty="0"/>
          </a:p>
        </p:txBody>
      </p:sp>
      <p:sp>
        <p:nvSpPr>
          <p:cNvPr id="20" name="Shape 18"/>
          <p:cNvSpPr/>
          <p:nvPr/>
        </p:nvSpPr>
        <p:spPr>
          <a:xfrm>
            <a:off x="685800" y="6144768"/>
            <a:ext cx="10820095" cy="0"/>
          </a:xfrm>
          <a:prstGeom prst="line">
            <a:avLst/>
          </a:prstGeom>
          <a:noFill/>
          <a:ln w="9525">
            <a:solidFill>
              <a:srgbClr val="D3D8E0"/>
            </a:solidFill>
            <a:prstDash val="solid"/>
          </a:ln>
        </p:spPr>
      </p:sp>
      <p:sp>
        <p:nvSpPr>
          <p:cNvPr id="21" name="Text 19"/>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22" name="Text 20"/>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github.com/HomenShum/NodeSlide/blob/main/convex/nodeslideAgent.ts</a:t>
            </a:r>
            <a:endParaRPr lang="en-US" sz="950" dirty="0"/>
          </a:p>
        </p:txBody>
      </p:sp>
      <p:sp>
        <p:nvSpPr>
          <p:cNvPr id="23" name="Text 21"/>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Inspector → Trace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BEAT 09 OF 09</a:t>
            </a:r>
            <a:endParaRPr lang="en-US" sz="1000" dirty="0"/>
          </a:p>
        </p:txBody>
      </p:sp>
      <p:sp>
        <p:nvSpPr>
          <p:cNvPr id="3" name="Text 1"/>
          <p:cNvSpPr/>
          <p:nvPr/>
        </p:nvSpPr>
        <p:spPr>
          <a:xfrm>
            <a:off x="7848295" y="347472"/>
            <a:ext cx="3657600" cy="274320"/>
          </a:xfrm>
          <a:prstGeom prst="rect">
            <a:avLst/>
          </a:prstGeom>
          <a:noFill/>
          <a:ln/>
        </p:spPr>
        <p:txBody>
          <a:bodyPr wrap="square" rtlCol="0" anchor="ctr"/>
          <a:lstStyle/>
          <a:p>
            <a:pPr algn="r" indent="0" marL="0">
              <a:buNone/>
            </a:pPr>
            <a:r>
              <a:rPr lang="en-US" sz="1000" spc="180" kern="0" dirty="0">
                <a:solidFill>
                  <a:srgbClr val="545C69"/>
                </a:solidFill>
                <a:latin typeface="Arial" pitchFamily="34" charset="0"/>
                <a:ea typeface="Arial" pitchFamily="34" charset="-122"/>
                <a:cs typeface="Arial" pitchFamily="34" charset="-120"/>
              </a:rPr>
              <a:t>30 SECONDS ON SCREEN</a:t>
            </a:r>
            <a:endParaRPr lang="en-US" sz="1000" dirty="0"/>
          </a:p>
        </p:txBody>
      </p:sp>
      <p:sp>
        <p:nvSpPr>
          <p:cNvPr id="4" name="Shape 2"/>
          <p:cNvSpPr/>
          <p:nvPr/>
        </p:nvSpPr>
        <p:spPr>
          <a:xfrm>
            <a:off x="685800" y="676656"/>
            <a:ext cx="10820095" cy="0"/>
          </a:xfrm>
          <a:prstGeom prst="line">
            <a:avLst/>
          </a:prstGeom>
          <a:noFill/>
          <a:ln w="9525">
            <a:solidFill>
              <a:srgbClr val="D3D8E0"/>
            </a:solidFill>
            <a:prstDash val="solid"/>
          </a:ln>
        </p:spPr>
      </p:sp>
      <p:sp>
        <p:nvSpPr>
          <p:cNvPr id="5" name="Text 3"/>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The deployed page names its commit</a:t>
            </a:r>
            <a:endParaRPr lang="en-US" sz="3000" dirty="0"/>
          </a:p>
        </p:txBody>
      </p:sp>
      <p:sp>
        <p:nvSpPr>
          <p:cNvPr id="6" name="Text 4"/>
          <p:cNvSpPr/>
          <p:nvPr/>
        </p:nvSpPr>
        <p:spPr>
          <a:xfrm>
            <a:off x="685800" y="1444752"/>
            <a:ext cx="10820095" cy="274320"/>
          </a:xfrm>
          <a:prstGeom prst="rect">
            <a:avLst/>
          </a:prstGeom>
          <a:noFill/>
          <a:ln/>
        </p:spPr>
        <p:txBody>
          <a:bodyPr wrap="square" rtlCol="0" anchor="ctr"/>
          <a:lstStyle/>
          <a:p>
            <a:pPr indent="0" marL="0">
              <a:buNone/>
            </a:pPr>
            <a:r>
              <a:rPr lang="en-US" sz="1200" dirty="0">
                <a:solidFill>
                  <a:srgbClr val="2A4A8F"/>
                </a:solidFill>
                <a:latin typeface="Consolas" pitchFamily="34" charset="0"/>
                <a:ea typeface="Consolas" pitchFamily="34" charset="-122"/>
                <a:cs typeface="Consolas" pitchFamily="34" charset="-120"/>
              </a:rPr>
              <a:t>View source → GitHub → git show</a:t>
            </a:r>
            <a:endParaRPr lang="en-US" sz="1200" dirty="0"/>
          </a:p>
        </p:txBody>
      </p:sp>
      <p:sp>
        <p:nvSpPr>
          <p:cNvPr id="7" name="Text 5"/>
          <p:cNvSpPr/>
          <p:nvPr/>
        </p:nvSpPr>
        <p:spPr>
          <a:xfrm>
            <a:off x="685800" y="1828800"/>
            <a:ext cx="10454335" cy="91440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The application just filmed is the repository at one specific commit, and that commit’s history contains the fix that made this agent route run at all.</a:t>
            </a:r>
            <a:endParaRPr lang="en-US" sz="1650" dirty="0"/>
          </a:p>
        </p:txBody>
      </p:sp>
      <p:sp>
        <p:nvSpPr>
          <p:cNvPr id="8" name="Text 6"/>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9" name="Shape 7"/>
          <p:cNvSpPr/>
          <p:nvPr/>
        </p:nvSpPr>
        <p:spPr>
          <a:xfrm>
            <a:off x="685800" y="3035808"/>
            <a:ext cx="10820095" cy="2889504"/>
          </a:xfrm>
          <a:prstGeom prst="rect">
            <a:avLst/>
          </a:prstGeom>
          <a:solidFill>
            <a:srgbClr val="FFFFFF"/>
          </a:solidFill>
          <a:ln w="9525">
            <a:solidFill>
              <a:srgbClr val="D3D8E0"/>
            </a:solidFill>
            <a:prstDash val="solid"/>
          </a:ln>
        </p:spPr>
      </p:sp>
      <p:sp>
        <p:nvSpPr>
          <p:cNvPr id="10" name="Shape 8"/>
          <p:cNvSpPr/>
          <p:nvPr/>
        </p:nvSpPr>
        <p:spPr>
          <a:xfrm>
            <a:off x="923544" y="3752850"/>
            <a:ext cx="41148" cy="181356"/>
          </a:xfrm>
          <a:prstGeom prst="rect">
            <a:avLst/>
          </a:prstGeom>
          <a:solidFill>
            <a:srgbClr val="2A4A8F"/>
          </a:solidFill>
          <a:ln w="12700">
            <a:solidFill>
              <a:srgbClr val="2A4A8F"/>
            </a:solidFill>
            <a:prstDash val="solid"/>
          </a:ln>
        </p:spPr>
      </p:sp>
      <p:sp>
        <p:nvSpPr>
          <p:cNvPr id="11" name="Text 9"/>
          <p:cNvSpPr/>
          <p:nvPr/>
        </p:nvSpPr>
        <p:spPr>
          <a:xfrm>
            <a:off x="1110996" y="3734562"/>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meta nodeslide-build-sha = a836c6a29e026bb219b959bdf3e2dc9e9f407c77</a:t>
            </a:r>
            <a:endParaRPr lang="en-US" sz="1300" dirty="0"/>
          </a:p>
        </p:txBody>
      </p:sp>
      <p:sp>
        <p:nvSpPr>
          <p:cNvPr id="12" name="Text 10"/>
          <p:cNvSpPr/>
          <p:nvPr/>
        </p:nvSpPr>
        <p:spPr>
          <a:xfrm>
            <a:off x="923544" y="4053078"/>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The same SHA is main HEAD on GitHub.</a:t>
            </a:r>
            <a:endParaRPr lang="en-US" sz="1300" dirty="0"/>
          </a:p>
        </p:txBody>
      </p:sp>
      <p:sp>
        <p:nvSpPr>
          <p:cNvPr id="13" name="Shape 11"/>
          <p:cNvSpPr/>
          <p:nvPr/>
        </p:nvSpPr>
        <p:spPr>
          <a:xfrm>
            <a:off x="923544" y="4389882"/>
            <a:ext cx="41148" cy="181356"/>
          </a:xfrm>
          <a:prstGeom prst="rect">
            <a:avLst/>
          </a:prstGeom>
          <a:solidFill>
            <a:srgbClr val="2A4A8F"/>
          </a:solidFill>
          <a:ln w="12700">
            <a:solidFill>
              <a:srgbClr val="2A4A8F"/>
            </a:solidFill>
            <a:prstDash val="solid"/>
          </a:ln>
        </p:spPr>
      </p:sp>
      <p:sp>
        <p:nvSpPr>
          <p:cNvPr id="14" name="Text 12"/>
          <p:cNvSpPr/>
          <p:nvPr/>
        </p:nvSpPr>
        <p:spPr>
          <a:xfrm>
            <a:off x="1110996" y="4371594"/>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git show 15d2686 -- convex/lib/nodeslideValidators.ts</a:t>
            </a:r>
            <a:endParaRPr lang="en-US" sz="1300" dirty="0"/>
          </a:p>
        </p:txBody>
      </p:sp>
      <p:sp>
        <p:nvSpPr>
          <p:cNvPr id="15" name="Text 13"/>
          <p:cNvSpPr/>
          <p:nvPr/>
        </p:nvSpPr>
        <p:spPr>
          <a:xfrm>
            <a:off x="923544" y="4690110"/>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Every agent request failed because moonshotai/kimi-k3 was missing from nodeslideAgentModelValidator.</a:t>
            </a:r>
            <a:endParaRPr lang="en-US" sz="1300" dirty="0"/>
          </a:p>
        </p:txBody>
      </p:sp>
      <p:sp>
        <p:nvSpPr>
          <p:cNvPr id="16" name="Shape 14"/>
          <p:cNvSpPr/>
          <p:nvPr/>
        </p:nvSpPr>
        <p:spPr>
          <a:xfrm>
            <a:off x="923544" y="5026914"/>
            <a:ext cx="41148" cy="181356"/>
          </a:xfrm>
          <a:prstGeom prst="rect">
            <a:avLst/>
          </a:prstGeom>
          <a:solidFill>
            <a:srgbClr val="2A4A8F"/>
          </a:solidFill>
          <a:ln w="12700">
            <a:solidFill>
              <a:srgbClr val="2A4A8F"/>
            </a:solidFill>
            <a:prstDash val="solid"/>
          </a:ln>
        </p:spPr>
      </p:sp>
      <p:sp>
        <p:nvSpPr>
          <p:cNvPr id="17" name="Text 15"/>
          <p:cNvSpPr/>
          <p:nvPr/>
        </p:nvSpPr>
        <p:spPr>
          <a:xfrm>
            <a:off x="1110996" y="500862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 v.literal('moonshotai/kimi-k3')</a:t>
            </a:r>
            <a:endParaRPr lang="en-US" sz="1300" dirty="0"/>
          </a:p>
        </p:txBody>
      </p:sp>
      <p:sp>
        <p:nvSpPr>
          <p:cNvPr id="18" name="Shape 16"/>
          <p:cNvSpPr/>
          <p:nvPr/>
        </p:nvSpPr>
        <p:spPr>
          <a:xfrm>
            <a:off x="685800" y="6144768"/>
            <a:ext cx="10820095" cy="0"/>
          </a:xfrm>
          <a:prstGeom prst="line">
            <a:avLst/>
          </a:prstGeom>
          <a:noFill/>
          <a:ln w="9525">
            <a:solidFill>
              <a:srgbClr val="D3D8E0"/>
            </a:solidFill>
            <a:prstDash val="solid"/>
          </a:ln>
        </p:spPr>
      </p:sp>
      <p:sp>
        <p:nvSpPr>
          <p:cNvPr id="19" name="Text 17"/>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20" name="Text 18"/>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github.com/HomenShum/NodeSlide/commit/15d2686</a:t>
            </a:r>
            <a:endParaRPr lang="en-US" sz="950" dirty="0"/>
          </a:p>
        </p:txBody>
      </p:sp>
      <p:sp>
        <p:nvSpPr>
          <p:cNvPr id="21" name="Text 19"/>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View source → GitHub → git show</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3F6"/>
        </a:solidFill>
      </p:bgPr>
    </p:bg>
    <p:spTree>
      <p:nvGrpSpPr>
        <p:cNvPr id="1" name=""/>
        <p:cNvGrpSpPr/>
        <p:nvPr/>
      </p:nvGrpSpPr>
      <p:grpSpPr>
        <a:xfrm>
          <a:off x="0" y="0"/>
          <a:ext cx="0" cy="0"/>
          <a:chOff x="0" y="0"/>
          <a:chExt cx="0" cy="0"/>
        </a:xfrm>
      </p:grpSpPr>
      <p:sp>
        <p:nvSpPr>
          <p:cNvPr id="2" name="Text 0"/>
          <p:cNvSpPr/>
          <p:nvPr/>
        </p:nvSpPr>
        <p:spPr>
          <a:xfrm>
            <a:off x="685800" y="347472"/>
            <a:ext cx="3657600" cy="274320"/>
          </a:xfrm>
          <a:prstGeom prst="rect">
            <a:avLst/>
          </a:prstGeom>
          <a:noFill/>
          <a:ln/>
        </p:spPr>
        <p:txBody>
          <a:bodyPr wrap="square" rtlCol="0" anchor="ctr"/>
          <a:lstStyle/>
          <a:p>
            <a:pPr indent="0" marL="0">
              <a:buNone/>
            </a:pPr>
            <a:r>
              <a:rPr lang="en-US" sz="1000" b="1" spc="180" kern="0" dirty="0">
                <a:solidFill>
                  <a:srgbClr val="2A4A8F"/>
                </a:solidFill>
                <a:latin typeface="Arial" pitchFamily="34" charset="0"/>
                <a:ea typeface="Arial" pitchFamily="34" charset="-122"/>
                <a:cs typeface="Arial" pitchFamily="34" charset="-120"/>
              </a:rPr>
              <a:t>WHERE TO START</a:t>
            </a:r>
            <a:endParaRPr lang="en-US" sz="1000" dirty="0"/>
          </a:p>
        </p:txBody>
      </p:sp>
      <p:sp>
        <p:nvSpPr>
          <p:cNvPr id="3" name="Shape 1"/>
          <p:cNvSpPr/>
          <p:nvPr/>
        </p:nvSpPr>
        <p:spPr>
          <a:xfrm>
            <a:off x="685800" y="676656"/>
            <a:ext cx="10820095" cy="0"/>
          </a:xfrm>
          <a:prstGeom prst="line">
            <a:avLst/>
          </a:prstGeom>
          <a:noFill/>
          <a:ln w="9525">
            <a:solidFill>
              <a:srgbClr val="D3D8E0"/>
            </a:solidFill>
            <a:prstDash val="solid"/>
          </a:ln>
        </p:spPr>
      </p:sp>
      <p:sp>
        <p:nvSpPr>
          <p:cNvPr id="4" name="Text 2"/>
          <p:cNvSpPr/>
          <p:nvPr/>
        </p:nvSpPr>
        <p:spPr>
          <a:xfrm>
            <a:off x="685800" y="786384"/>
            <a:ext cx="10820095" cy="621792"/>
          </a:xfrm>
          <a:prstGeom prst="rect">
            <a:avLst/>
          </a:prstGeom>
          <a:noFill/>
          <a:ln/>
        </p:spPr>
        <p:txBody>
          <a:bodyPr wrap="square" rtlCol="0" anchor="ctr"/>
          <a:lstStyle/>
          <a:p>
            <a:pPr indent="0" marL="0">
              <a:buNone/>
            </a:pPr>
            <a:r>
              <a:rPr lang="en-US" sz="3000" b="1" dirty="0">
                <a:solidFill>
                  <a:srgbClr val="161A21"/>
                </a:solidFill>
                <a:latin typeface="Trebuchet MS" pitchFamily="34" charset="0"/>
                <a:ea typeface="Trebuchet MS" pitchFamily="34" charset="-122"/>
                <a:cs typeface="Trebuchet MS" pitchFamily="34" charset="-120"/>
              </a:rPr>
              <a:t>Under four minutes, no account, no call</a:t>
            </a:r>
            <a:endParaRPr lang="en-US" sz="3000" dirty="0"/>
          </a:p>
        </p:txBody>
      </p:sp>
      <p:sp>
        <p:nvSpPr>
          <p:cNvPr id="5" name="Text 3"/>
          <p:cNvSpPr/>
          <p:nvPr/>
        </p:nvSpPr>
        <p:spPr>
          <a:xfrm>
            <a:off x="685800" y="1517904"/>
            <a:ext cx="10454335" cy="822960"/>
          </a:xfrm>
          <a:prstGeom prst="rect">
            <a:avLst/>
          </a:prstGeom>
          <a:noFill/>
          <a:ln/>
        </p:spPr>
        <p:txBody>
          <a:bodyPr wrap="square" rtlCol="0" anchor="t"/>
          <a:lstStyle/>
          <a:p>
            <a:pPr indent="0" marL="0">
              <a:lnSpc>
                <a:spcPct val="118000"/>
              </a:lnSpc>
              <a:buNone/>
            </a:pPr>
            <a:r>
              <a:rPr lang="en-US" sz="1650" dirty="0">
                <a:solidFill>
                  <a:srgbClr val="2A3140"/>
                </a:solidFill>
                <a:latin typeface="Arial" pitchFamily="34" charset="0"/>
                <a:ea typeface="Arial" pitchFamily="34" charset="-122"/>
                <a:cs typeface="Arial" pitchFamily="34" charset="-120"/>
              </a:rPr>
              <a:t>Everything in the nine beats is reachable from the landing page. The build SHA in the page head names the commit, so the running application can be read against the repository.</a:t>
            </a:r>
            <a:endParaRPr lang="en-US" sz="1650" dirty="0"/>
          </a:p>
        </p:txBody>
      </p:sp>
      <p:sp>
        <p:nvSpPr>
          <p:cNvPr id="6" name="Text 4"/>
          <p:cNvSpPr/>
          <p:nvPr/>
        </p:nvSpPr>
        <p:spPr>
          <a:xfrm>
            <a:off x="685800" y="2761488"/>
            <a:ext cx="3657600" cy="237744"/>
          </a:xfrm>
          <a:prstGeom prst="rect">
            <a:avLst/>
          </a:prstGeom>
          <a:noFill/>
          <a:ln/>
        </p:spPr>
        <p:txBody>
          <a:bodyPr wrap="square" rtlCol="0" anchor="ctr"/>
          <a:lstStyle/>
          <a:p>
            <a:pPr indent="0" marL="0">
              <a:buNone/>
            </a:pPr>
            <a:r>
              <a:rPr lang="en-US" sz="900" b="1" spc="180" kern="0" dirty="0">
                <a:solidFill>
                  <a:srgbClr val="545C69"/>
                </a:solidFill>
                <a:latin typeface="Arial" pitchFamily="34" charset="0"/>
                <a:ea typeface="Arial" pitchFamily="34" charset="-122"/>
                <a:cs typeface="Arial" pitchFamily="34" charset="-120"/>
              </a:rPr>
              <a:t>ON SCREEN</a:t>
            </a:r>
            <a:endParaRPr lang="en-US" sz="900" dirty="0"/>
          </a:p>
        </p:txBody>
      </p:sp>
      <p:sp>
        <p:nvSpPr>
          <p:cNvPr id="7" name="Shape 5"/>
          <p:cNvSpPr/>
          <p:nvPr/>
        </p:nvSpPr>
        <p:spPr>
          <a:xfrm>
            <a:off x="685800" y="3035808"/>
            <a:ext cx="10820095" cy="2889504"/>
          </a:xfrm>
          <a:prstGeom prst="rect">
            <a:avLst/>
          </a:prstGeom>
          <a:solidFill>
            <a:srgbClr val="FFFFFF"/>
          </a:solidFill>
          <a:ln w="9525">
            <a:solidFill>
              <a:srgbClr val="D3D8E0"/>
            </a:solidFill>
            <a:prstDash val="solid"/>
          </a:ln>
        </p:spPr>
      </p:sp>
      <p:sp>
        <p:nvSpPr>
          <p:cNvPr id="8" name="Text 6"/>
          <p:cNvSpPr/>
          <p:nvPr/>
        </p:nvSpPr>
        <p:spPr>
          <a:xfrm>
            <a:off x="923544" y="3416046"/>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Open https://nodeslide.vercel.app and click "Explore the editable sample workspace".</a:t>
            </a:r>
            <a:endParaRPr lang="en-US" sz="1300" dirty="0"/>
          </a:p>
        </p:txBody>
      </p:sp>
      <p:sp>
        <p:nvSpPr>
          <p:cNvPr id="9" name="Shape 7"/>
          <p:cNvSpPr/>
          <p:nvPr/>
        </p:nvSpPr>
        <p:spPr>
          <a:xfrm>
            <a:off x="923544" y="3752850"/>
            <a:ext cx="41148" cy="181356"/>
          </a:xfrm>
          <a:prstGeom prst="rect">
            <a:avLst/>
          </a:prstGeom>
          <a:solidFill>
            <a:srgbClr val="2A4A8F"/>
          </a:solidFill>
          <a:ln w="12700">
            <a:solidFill>
              <a:srgbClr val="2A4A8F"/>
            </a:solidFill>
            <a:prstDash val="solid"/>
          </a:ln>
        </p:spPr>
      </p:sp>
      <p:sp>
        <p:nvSpPr>
          <p:cNvPr id="10" name="Text 8"/>
          <p:cNvSpPr/>
          <p:nvPr/>
        </p:nvSpPr>
        <p:spPr>
          <a:xfrm>
            <a:off x="1110996" y="3734562"/>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Inspector tabs:  AI  Design  Comments  Versions  Evidence  JSON  Trace</a:t>
            </a:r>
            <a:endParaRPr lang="en-US" sz="1300" dirty="0"/>
          </a:p>
        </p:txBody>
      </p:sp>
      <p:sp>
        <p:nvSpPr>
          <p:cNvPr id="11" name="Text 9"/>
          <p:cNvSpPr/>
          <p:nvPr/>
        </p:nvSpPr>
        <p:spPr>
          <a:xfrm>
            <a:off x="923544" y="4053078"/>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Press Ctrl+K for the command palette.</a:t>
            </a:r>
            <a:endParaRPr lang="en-US" sz="1300" dirty="0"/>
          </a:p>
        </p:txBody>
      </p:sp>
      <p:sp>
        <p:nvSpPr>
          <p:cNvPr id="12" name="Shape 10"/>
          <p:cNvSpPr/>
          <p:nvPr/>
        </p:nvSpPr>
        <p:spPr>
          <a:xfrm>
            <a:off x="923544" y="4389882"/>
            <a:ext cx="41148" cy="181356"/>
          </a:xfrm>
          <a:prstGeom prst="rect">
            <a:avLst/>
          </a:prstGeom>
          <a:solidFill>
            <a:srgbClr val="2A4A8F"/>
          </a:solidFill>
          <a:ln w="12700">
            <a:solidFill>
              <a:srgbClr val="2A4A8F"/>
            </a:solidFill>
            <a:prstDash val="solid"/>
          </a:ln>
        </p:spPr>
      </p:sp>
      <p:sp>
        <p:nvSpPr>
          <p:cNvPr id="13" name="Text 11"/>
          <p:cNvSpPr/>
          <p:nvPr/>
        </p:nvSpPr>
        <p:spPr>
          <a:xfrm>
            <a:off x="1110996" y="4371594"/>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Open Artifact Lab</a:t>
            </a:r>
            <a:endParaRPr lang="en-US" sz="1300" dirty="0"/>
          </a:p>
        </p:txBody>
      </p:sp>
      <p:sp>
        <p:nvSpPr>
          <p:cNvPr id="14" name="Text 12"/>
          <p:cNvSpPr/>
          <p:nvPr/>
        </p:nvSpPr>
        <p:spPr>
          <a:xfrm>
            <a:off x="923544" y="4690110"/>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View source on the landing page to read the build SHA in the head.</a:t>
            </a:r>
            <a:endParaRPr lang="en-US" sz="1300" dirty="0"/>
          </a:p>
        </p:txBody>
      </p:sp>
      <p:sp>
        <p:nvSpPr>
          <p:cNvPr id="15" name="Shape 13"/>
          <p:cNvSpPr/>
          <p:nvPr/>
        </p:nvSpPr>
        <p:spPr>
          <a:xfrm>
            <a:off x="923544" y="5026914"/>
            <a:ext cx="41148" cy="181356"/>
          </a:xfrm>
          <a:prstGeom prst="rect">
            <a:avLst/>
          </a:prstGeom>
          <a:solidFill>
            <a:srgbClr val="2A4A8F"/>
          </a:solidFill>
          <a:ln w="12700">
            <a:solidFill>
              <a:srgbClr val="2A4A8F"/>
            </a:solidFill>
            <a:prstDash val="solid"/>
          </a:ln>
        </p:spPr>
      </p:sp>
      <p:sp>
        <p:nvSpPr>
          <p:cNvPr id="16" name="Text 14"/>
          <p:cNvSpPr/>
          <p:nvPr/>
        </p:nvSpPr>
        <p:spPr>
          <a:xfrm>
            <a:off x="1110996" y="5008626"/>
            <a:ext cx="10157155" cy="217932"/>
          </a:xfrm>
          <a:prstGeom prst="rect">
            <a:avLst/>
          </a:prstGeom>
          <a:noFill/>
          <a:ln/>
        </p:spPr>
        <p:txBody>
          <a:bodyPr wrap="square" lIns="0" tIns="0" rIns="0" bIns="0" rtlCol="0" anchor="t"/>
          <a:lstStyle/>
          <a:p>
            <a:pPr indent="0" marL="0">
              <a:lnSpc>
                <a:spcPct val="105000"/>
              </a:lnSpc>
              <a:buNone/>
            </a:pPr>
            <a:r>
              <a:rPr lang="en-US" sz="1300" dirty="0">
                <a:solidFill>
                  <a:srgbClr val="161A21"/>
                </a:solidFill>
                <a:latin typeface="Consolas" pitchFamily="34" charset="0"/>
                <a:ea typeface="Consolas" pitchFamily="34" charset="-122"/>
                <a:cs typeface="Consolas" pitchFamily="34" charset="-120"/>
              </a:rPr>
              <a:t>nodeslide-build-sha = a836c6a29e026bb219b959bdf3e2dc9e9f407c77</a:t>
            </a:r>
            <a:endParaRPr lang="en-US" sz="1300" dirty="0"/>
          </a:p>
        </p:txBody>
      </p:sp>
      <p:sp>
        <p:nvSpPr>
          <p:cNvPr id="17" name="Text 15"/>
          <p:cNvSpPr/>
          <p:nvPr/>
        </p:nvSpPr>
        <p:spPr>
          <a:xfrm>
            <a:off x="923544" y="5327142"/>
            <a:ext cx="10344607" cy="217932"/>
          </a:xfrm>
          <a:prstGeom prst="rect">
            <a:avLst/>
          </a:prstGeom>
          <a:noFill/>
          <a:ln/>
        </p:spPr>
        <p:txBody>
          <a:bodyPr wrap="square" lIns="0" tIns="0" rIns="0" bIns="0" rtlCol="0" anchor="t"/>
          <a:lstStyle/>
          <a:p>
            <a:pPr indent="0" marL="0">
              <a:lnSpc>
                <a:spcPct val="105000"/>
              </a:lnSpc>
              <a:buNone/>
            </a:pPr>
            <a:r>
              <a:rPr lang="en-US" sz="1300" i="1" dirty="0">
                <a:solidFill>
                  <a:srgbClr val="545C69"/>
                </a:solidFill>
                <a:latin typeface="Arial" pitchFamily="34" charset="0"/>
                <a:ea typeface="Arial" pitchFamily="34" charset="-122"/>
                <a:cs typeface="Arial" pitchFamily="34" charset="-120"/>
              </a:rPr>
              <a:t>Read the schema the deck downloads as: shared/nodeslide.ts on main.</a:t>
            </a:r>
            <a:endParaRPr lang="en-US" sz="1300" dirty="0"/>
          </a:p>
        </p:txBody>
      </p:sp>
      <p:sp>
        <p:nvSpPr>
          <p:cNvPr id="18" name="Shape 16"/>
          <p:cNvSpPr/>
          <p:nvPr/>
        </p:nvSpPr>
        <p:spPr>
          <a:xfrm>
            <a:off x="685800" y="6144768"/>
            <a:ext cx="10820095" cy="0"/>
          </a:xfrm>
          <a:prstGeom prst="line">
            <a:avLst/>
          </a:prstGeom>
          <a:noFill/>
          <a:ln w="9525">
            <a:solidFill>
              <a:srgbClr val="D3D8E0"/>
            </a:solidFill>
            <a:prstDash val="solid"/>
          </a:ln>
        </p:spPr>
      </p:sp>
      <p:sp>
        <p:nvSpPr>
          <p:cNvPr id="19" name="Text 17"/>
          <p:cNvSpPr/>
          <p:nvPr/>
        </p:nvSpPr>
        <p:spPr>
          <a:xfrm>
            <a:off x="685800" y="6236208"/>
            <a:ext cx="914400" cy="256032"/>
          </a:xfrm>
          <a:prstGeom prst="rect">
            <a:avLst/>
          </a:prstGeom>
          <a:noFill/>
          <a:ln/>
        </p:spPr>
        <p:txBody>
          <a:bodyPr wrap="square" rtlCol="0" anchor="ctr"/>
          <a:lstStyle/>
          <a:p>
            <a:pPr indent="0" marL="0">
              <a:buNone/>
            </a:pPr>
            <a:r>
              <a:rPr lang="en-US" sz="900" b="1" spc="120" kern="0" dirty="0">
                <a:solidFill>
                  <a:srgbClr val="2A4A8F"/>
                </a:solidFill>
                <a:latin typeface="Arial" pitchFamily="34" charset="0"/>
                <a:ea typeface="Arial" pitchFamily="34" charset="-122"/>
                <a:cs typeface="Arial" pitchFamily="34" charset="-120"/>
              </a:rPr>
              <a:t>PROOF</a:t>
            </a:r>
            <a:endParaRPr lang="en-US" sz="900" dirty="0"/>
          </a:p>
        </p:txBody>
      </p:sp>
      <p:sp>
        <p:nvSpPr>
          <p:cNvPr id="20" name="Text 18"/>
          <p:cNvSpPr/>
          <p:nvPr/>
        </p:nvSpPr>
        <p:spPr>
          <a:xfrm>
            <a:off x="1600200" y="6236208"/>
            <a:ext cx="6430975" cy="256032"/>
          </a:xfrm>
          <a:prstGeom prst="rect">
            <a:avLst/>
          </a:prstGeom>
          <a:noFill/>
          <a:ln/>
        </p:spPr>
        <p:txBody>
          <a:bodyPr wrap="square" rtlCol="0" anchor="ctr"/>
          <a:lstStyle/>
          <a:p>
            <a:pPr indent="0" marL="0">
              <a:buNone/>
            </a:pPr>
            <a:r>
              <a:rPr lang="en-US" sz="950" dirty="0">
                <a:solidFill>
                  <a:srgbClr val="545C69"/>
                </a:solidFill>
                <a:latin typeface="Consolas" pitchFamily="34" charset="0"/>
                <a:ea typeface="Consolas" pitchFamily="34" charset="-122"/>
                <a:cs typeface="Consolas" pitchFamily="34" charset="-120"/>
              </a:rPr>
              <a:t>github.com/HomenShum/NodeSlide</a:t>
            </a:r>
            <a:endParaRPr lang="en-US" sz="950" dirty="0"/>
          </a:p>
        </p:txBody>
      </p:sp>
      <p:sp>
        <p:nvSpPr>
          <p:cNvPr id="21" name="Text 19"/>
          <p:cNvSpPr/>
          <p:nvPr/>
        </p:nvSpPr>
        <p:spPr>
          <a:xfrm>
            <a:off x="8214055" y="6236208"/>
            <a:ext cx="3291840" cy="256032"/>
          </a:xfrm>
          <a:prstGeom prst="rect">
            <a:avLst/>
          </a:prstGeom>
          <a:noFill/>
          <a:ln/>
        </p:spPr>
        <p:txBody>
          <a:bodyPr wrap="square" rtlCol="0" anchor="ctr"/>
          <a:lstStyle/>
          <a:p>
            <a:pPr algn="r" indent="0" marL="0">
              <a:buNone/>
            </a:pPr>
            <a:r>
              <a:rPr lang="en-US" sz="850" spc="100" kern="0" dirty="0">
                <a:solidFill>
                  <a:srgbClr val="545C69"/>
                </a:solidFill>
                <a:latin typeface="Arial" pitchFamily="34" charset="0"/>
                <a:ea typeface="Arial" pitchFamily="34" charset="-122"/>
                <a:cs typeface="Arial" pitchFamily="34" charset="-120"/>
              </a:rPr>
              <a:t>REPOSITORY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NodeSlide walkthrough</dc:title>
  <dc:subject>Nine beats, each with the path that proves it</dc:subject>
  <dc:creator>NodeSlide</dc:creator>
  <cp:lastModifiedBy>NodeSlide</cp:lastModifiedBy>
  <cp:revision>1</cp:revision>
  <dcterms:created xsi:type="dcterms:W3CDTF">2026-07-26T03:09:03Z</dcterms:created>
  <dcterms:modified xsi:type="dcterms:W3CDTF">2026-07-26T03:09:03Z</dcterms:modified>
</cp:coreProperties>
</file>